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2656c9039d4010" /><Relationship Type="http://schemas.openxmlformats.org/officeDocument/2006/relationships/extended-properties" Target="/docProps/app.xml" Id="R4d50166d335148ec" /><Relationship Type="http://schemas.openxmlformats.org/officeDocument/2006/relationships/officeDocument" Target="/ppt/presentation.xml" Id="R376b45cad347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7742da8a04df1"/>
  </p:sldMasterIdLst>
  <p:notesMasterIdLst>
    <p:notesMasterId xmlns:r="http://schemas.openxmlformats.org/officeDocument/2006/relationships" r:id="R603e57682f1d4e31"/>
  </p:notesMasterIdLst>
  <p:sldIdLst>
    <p:sldId xmlns:r="http://schemas.openxmlformats.org/officeDocument/2006/relationships" id="256" r:id="R91c051f3e9a94548"/>
    <p:sldId xmlns:r="http://schemas.openxmlformats.org/officeDocument/2006/relationships" id="257" r:id="R0e1ab17095024454"/>
    <p:sldId xmlns:r="http://schemas.openxmlformats.org/officeDocument/2006/relationships" id="258" r:id="R4e770a99a87c4778"/>
    <p:sldId xmlns:r="http://schemas.openxmlformats.org/officeDocument/2006/relationships" id="259" r:id="R3af186ab7b994860"/>
    <p:sldId xmlns:r="http://schemas.openxmlformats.org/officeDocument/2006/relationships" id="260" r:id="Rca22f66d79884f71"/>
    <p:sldId xmlns:r="http://schemas.openxmlformats.org/officeDocument/2006/relationships" id="261" r:id="R4926bd2e796642f2"/>
    <p:sldId xmlns:r="http://schemas.openxmlformats.org/officeDocument/2006/relationships" id="262" r:id="Red4d68eddbdd45e0"/>
    <p:sldId xmlns:r="http://schemas.openxmlformats.org/officeDocument/2006/relationships" id="263" r:id="R797cc96137574f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ba335f4eb84369" /><Relationship Type="http://schemas.openxmlformats.org/officeDocument/2006/relationships/slideMaster" Target="/ppt/slideMasters/slideMaster1.xml" Id="Re9f7742da8a04df1" /><Relationship Type="http://schemas.openxmlformats.org/officeDocument/2006/relationships/notesMaster" Target="/ppt/notesMasters/notesMaster1.xml" Id="R603e57682f1d4e31" /><Relationship Type="http://schemas.openxmlformats.org/officeDocument/2006/relationships/presProps" Target="/ppt/presProps.xml" Id="R38a179eacee44d65" /><Relationship Type="http://schemas.openxmlformats.org/officeDocument/2006/relationships/tableStyles" Target="/ppt/tableStyles.xml" Id="Ra82ce211ebd5496d" /><Relationship Type="http://schemas.openxmlformats.org/officeDocument/2006/relationships/slide" Target="/ppt/slides/slide1.xml" Id="R91c051f3e9a94548" /><Relationship Type="http://schemas.openxmlformats.org/officeDocument/2006/relationships/slide" Target="/ppt/slides/slide2.xml" Id="R0e1ab17095024454" /><Relationship Type="http://schemas.openxmlformats.org/officeDocument/2006/relationships/slide" Target="/ppt/slides/slide3.xml" Id="R4e770a99a87c4778" /><Relationship Type="http://schemas.openxmlformats.org/officeDocument/2006/relationships/slide" Target="/ppt/slides/slide4.xml" Id="R3af186ab7b994860" /><Relationship Type="http://schemas.openxmlformats.org/officeDocument/2006/relationships/slide" Target="/ppt/slides/slide5.xml" Id="Rca22f66d79884f71" /><Relationship Type="http://schemas.openxmlformats.org/officeDocument/2006/relationships/slide" Target="/ppt/slides/slide6.xml" Id="R4926bd2e796642f2" /><Relationship Type="http://schemas.openxmlformats.org/officeDocument/2006/relationships/slide" Target="/ppt/slides/slide7.xml" Id="Red4d68eddbdd45e0" /><Relationship Type="http://schemas.openxmlformats.org/officeDocument/2006/relationships/slide" Target="/ppt/slides/slide8.xml" Id="R797cc96137574f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3d87c8c3d941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30b5cf08542a8" /><Relationship Type="http://schemas.openxmlformats.org/officeDocument/2006/relationships/notesMaster" Target="/ppt/notesMasters/notesMaster1.xml" Id="R75ee8791b7d542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7403a0960949ce" /><Relationship Type="http://schemas.openxmlformats.org/officeDocument/2006/relationships/notesMaster" Target="/ppt/notesMasters/notesMaster1.xml" Id="Rf7edd291c14f4e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8459ce6daf489e" /><Relationship Type="http://schemas.openxmlformats.org/officeDocument/2006/relationships/notesMaster" Target="/ppt/notesMasters/notesMaster1.xml" Id="R4b77762417c941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407a16058e4263" /><Relationship Type="http://schemas.openxmlformats.org/officeDocument/2006/relationships/notesMaster" Target="/ppt/notesMasters/notesMaster1.xml" Id="R1172e552830a40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c0aaaf22964646" /><Relationship Type="http://schemas.openxmlformats.org/officeDocument/2006/relationships/notesMaster" Target="/ppt/notesMasters/notesMaster1.xml" Id="Redd21ecf503e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89941f90c84815" /><Relationship Type="http://schemas.openxmlformats.org/officeDocument/2006/relationships/notesMaster" Target="/ppt/notesMasters/notesMaster1.xml" Id="Re56da1a383de44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e7edbf09354bd7" /><Relationship Type="http://schemas.openxmlformats.org/officeDocument/2006/relationships/notesMaster" Target="/ppt/notesMasters/notesMaster1.xml" Id="Rd48b1df62051484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670ec152fb45af" /><Relationship Type="http://schemas.openxmlformats.org/officeDocument/2006/relationships/notesMaster" Target="/ppt/notesMasters/notesMaster1.xml" Id="Ra7bbd073b8cb45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what is already reproducible from the structured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docs/FINDINGS.md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docs/FINDINGS.md#reading-this-brief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Always state the 776,922 denominator with the 60.9 percent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outputs/findings/closure_recording_no_action.csv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outputs/findings/two_day_bare_closures.csv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outputs/findings/discard_reason_families.csv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outputs/findings/confirmed_duplicates.csv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outputs/findings/misrouting_baseline.csv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distinguishing the demonstrated insights from capabilities still awaiting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docs/FINDINGS.md#method-and-release-controls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928f44d42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69a5a25fe74f68" /><Relationship Type="http://schemas.openxmlformats.org/officeDocument/2006/relationships/slideLayout" Target="/ppt/slideLayouts/slideLayout1.xml" Id="R5e213706be55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213706be55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8219e5176437c" /><Relationship Type="http://schemas.openxmlformats.org/officeDocument/2006/relationships/notesSlide" Target="/ppt/notesSlides/notesSlide1.xml" Id="R766d19f962d9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592ce25134c6e" /><Relationship Type="http://schemas.openxmlformats.org/officeDocument/2006/relationships/notesSlide" Target="/ppt/notesSlides/notesSlide2.xml" Id="R2267a9ee90874a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874b7f8c04f53" /><Relationship Type="http://schemas.openxmlformats.org/officeDocument/2006/relationships/notesSlide" Target="/ppt/notesSlides/notesSlide3.xml" Id="Rc3eb7e1cb86d48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a5ed83d384e79" /><Relationship Type="http://schemas.openxmlformats.org/officeDocument/2006/relationships/notesSlide" Target="/ppt/notesSlides/notesSlide4.xml" Id="Rad949400181e4e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cd6ca6f2147df" /><Relationship Type="http://schemas.openxmlformats.org/officeDocument/2006/relationships/notesSlide" Target="/ppt/notesSlides/notesSlide5.xml" Id="Rf8ab59a954d4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726654d8941fe" /><Relationship Type="http://schemas.openxmlformats.org/officeDocument/2006/relationships/notesSlide" Target="/ppt/notesSlides/notesSlide6.xml" Id="Re70415137c0941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95a6e6bab4305" /><Relationship Type="http://schemas.openxmlformats.org/officeDocument/2006/relationships/notesSlide" Target="/ppt/notesSlides/notesSlide7.xml" Id="Rcf0fa3648ee345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749b54cb24ecf" /><Relationship Type="http://schemas.openxmlformats.org/officeDocument/2006/relationships/notesSlide" Target="/ppt/notesSlides/notesSlide8.xml" Id="R7bd14d004d104a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A85BD-3A48-44DD-A075-D4582247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F8E69-C9C1-4865-9453-87517BE2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81B2B"/>
                </a:solidFill>
              </a:defRPr>
            </a:pPr>
            <a:r>
              <a:rPr sz="1125" b="1">
                <a:solidFill>
                  <a:srgbClr val="981B2B"/>
                </a:solidFill>
              </a:rPr>
              <a:t>DATA, POLICY AND INNOVATION CENTRE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F71E6-8BA0-44B4-8474-B32EE273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953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B"/>
                </a:solidFill>
              </a:defRPr>
            </a:pPr>
            <a:r>
              <a:rPr sz="1350" b="0">
                <a:solidFill>
                  <a:srgbClr val="62666B"/>
                </a:solidFill>
              </a:rPr>
              <a:t>Government of Odisha and University of Chicago Trust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F0ADE-170D-4FB6-A200-D869D8BF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8572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701321"/>
                </a:solidFill>
              </a:defRPr>
            </a:pPr>
            <a:r>
              <a:rPr sz="4200" b="1">
                <a:solidFill>
                  <a:srgbClr val="701321"/>
                </a:solidFill>
              </a:rPr>
              <a:t>What the grievance</a:t>
            </a:r>
          </a:p>
          <a:p xmlns:a="http://schemas.openxmlformats.org/drawingml/2006/main">
            <a:pPr algn="l">
              <a:defRPr sz="4200" b="1">
                <a:solidFill>
                  <a:srgbClr val="701321"/>
                </a:solidFill>
              </a:defRPr>
            </a:pPr>
            <a:r>
              <a:rPr sz="4200" b="1">
                <a:solidFill>
                  <a:srgbClr val="701321"/>
                </a:solidFill>
              </a:rPr>
              <a:t>record says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FC9FA-B2E4-42A7-BFAB-E9A0E6A9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124"/>
                </a:solidFill>
              </a:defRPr>
            </a:pPr>
            <a:r>
              <a:rPr sz="1875" b="0">
                <a:solidFill>
                  <a:srgbClr val="202124"/>
                </a:solidFill>
              </a:rPr>
              <a:t>Five reproducible findings for the 14 August demonstration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5B8B9-F81B-4DC2-AA96-A0564689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4150E-3D43-423F-9B4C-ABBD9CDF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362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E58AA-B681-4D72-9DB9-DE8DDDA7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DRAFT FOR ED CLEARANCE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5DFE8-9881-40AC-A70A-0BFE6035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B"/>
                </a:solidFill>
              </a:defRPr>
            </a:pPr>
            <a:r>
              <a:rPr sz="1575" b="0">
                <a:solidFill>
                  <a:srgbClr val="62666B"/>
                </a:solidFill>
              </a:rPr>
              <a:t>Database insights first. Capability claims remain gated on acceptance evidence.</a:t>
            </a:r>
          </a:p>
        </p:txBody>
      </p:sp>
    </p:spTree>
    <p:extLst>
      <p:ext uri="{BB962C8B-B14F-4D97-AF65-F5344CB8AC3E}">
        <p14:creationId xmlns:p14="http://schemas.microsoft.com/office/powerpoint/2010/main" val="782346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150665-1AC9-4028-82DC-6FE1BF3C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1B2B"/>
                </a:solidFill>
              </a:defRPr>
            </a:pPr>
            <a:r>
              <a:rPr sz="1050" b="1">
                <a:solidFill>
                  <a:srgbClr val="981B2B"/>
                </a:solidFill>
              </a:rPr>
              <a:t>SPRINT 3 FINDINGS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B2041-94E6-4AAC-BC2D-346CA77E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B"/>
                </a:solidFill>
              </a:defRPr>
            </a:pPr>
            <a:r>
              <a:rPr sz="975" b="0">
                <a:solidFill>
                  <a:srgbClr val="62666B"/>
                </a:solidFill>
              </a:rPr>
              <a:t>DPIC  •  7 AUGUST 2026  •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2C0A3-4486-4045-9126-F9A65242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183A1-D592-42C5-9D87-F1C604F2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1321"/>
                </a:solidFill>
              </a:defRPr>
            </a:pPr>
            <a:r>
              <a:rPr sz="2850" b="1">
                <a:solidFill>
                  <a:srgbClr val="701321"/>
                </a:solidFill>
              </a:rPr>
              <a:t>What can be said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14571-D8C3-42D1-A1DA-010E7960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Five governed insights are ready; two capability claims are deliberately withheld.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01369-929A-4CC4-82B6-7D1C43EB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8961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AF7F2"/>
          </a:solidFill>
          <a:ln xmlns:a="http://schemas.openxmlformats.org/drawingml/2006/main" w="0">
            <a:solidFill>
              <a:srgbClr val="FAF7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87B9B-9B9D-4280-B618-C8A358E4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9715A"/>
                </a:solidFill>
              </a:defRPr>
            </a:pPr>
            <a:r>
              <a:rPr sz="1200" b="1">
                <a:solidFill>
                  <a:srgbClr val="39715A"/>
                </a:solidFill>
              </a:rPr>
              <a:t>REPRODUCIBLE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0D32A-CC81-4A29-AE35-023D5714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F3044-349B-400F-A5F3-13355D16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860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Closure recording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C7644-1EAF-4BB9-AC0C-B759D78D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3FF478-0721-4B6C-8A65-C3BB78E4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813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Rapid-closure review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37FD25-3BB7-4E17-AE4B-99A1336F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4AD29-8489-4335-AB1B-3222EBBF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766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Discard reasons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BA107-5A09-427F-B03A-7EF6D75D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9D425F-E9E5-4E10-AB6F-8CB30F89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Manual duplicate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EF020-2C73-453D-91A9-3DC72A76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C9E53-BAF9-4B87-AFCD-2BEB000A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67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</a:defRPr>
            </a:pPr>
            <a:r>
              <a:rPr sz="1575" b="1">
                <a:solidFill>
                  <a:srgbClr val="202124"/>
                </a:solidFill>
              </a:rPr>
              <a:t>Routing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E2765-53CF-43FE-B961-BE5C2BFF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5814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4E8EA"/>
          </a:solidFill>
          <a:ln xmlns:a="http://schemas.openxmlformats.org/drawingml/2006/main" w="0">
            <a:solidFill>
              <a:srgbClr val="F4E8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86D0E-2AEB-4B29-8A11-B36BC796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8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81B2B"/>
                </a:solidFill>
              </a:defRPr>
            </a:pPr>
            <a:r>
              <a:rPr sz="1200" b="1">
                <a:solidFill>
                  <a:srgbClr val="981B2B"/>
                </a:solidFill>
              </a:rPr>
              <a:t>AWAITING ACCEPTANCE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F75BD-1C8C-456F-8F95-6D670119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765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Additional duplicate</a:t>
            </a:r>
          </a:p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discovery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839890-70F2-4D51-98B2-09EA0F65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576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Worked surge</a:t>
            </a:r>
          </a:p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decomposition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6095B-2EC6-48E3-B646-312FA77C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No placeholder numbers. No claim before its denominator and checks are fixed.</a:t>
            </a:r>
          </a:p>
        </p:txBody>
      </p:sp>
    </p:spTree>
    <p:extLst>
      <p:ext uri="{BB962C8B-B14F-4D97-AF65-F5344CB8AC3E}">
        <p14:creationId xmlns:p14="http://schemas.microsoft.com/office/powerpoint/2010/main" val="628397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BD171-BC41-487A-AF7E-8B1B2349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1B2B"/>
                </a:solidFill>
              </a:defRPr>
            </a:pPr>
            <a:r>
              <a:rPr sz="1050" b="1">
                <a:solidFill>
                  <a:srgbClr val="981B2B"/>
                </a:solidFill>
              </a:rPr>
              <a:t>INSIGHT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1F259-A8EF-4115-BC7D-9F52BCE4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B"/>
                </a:solidFill>
              </a:defRPr>
            </a:pPr>
            <a:r>
              <a:rPr sz="975" b="0">
                <a:solidFill>
                  <a:srgbClr val="62666B"/>
                </a:solidFill>
              </a:rPr>
              <a:t>DPIC  •  7 AUGUST 2026  •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329CD-26BF-4CBD-8139-6F075808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78966-304D-49FA-84F9-AE7AA7A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1321"/>
                </a:solidFill>
              </a:defRPr>
            </a:pPr>
            <a:r>
              <a:rPr sz="2850" b="1">
                <a:solidFill>
                  <a:srgbClr val="701321"/>
                </a:solidFill>
              </a:rPr>
              <a:t>Closure language defines a review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DD9E4-8D49-4CCB-979E-3BF17ADB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It does not establish whether a decision was correct.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EA2CF-24EA-4209-842C-1E46BF55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9530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35370-D758-462F-AA2A-B224D1E9E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419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60.9%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E5B37-391C-40A0-AD92-3BD47151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472,782 of 776,922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templated closures record no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CF08E-E104-4C75-97F8-A8FAD0B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C9CF"/>
                </a:solidFill>
              </a:defRPr>
            </a:pPr>
            <a:r>
              <a:rPr sz="1125" b="1">
                <a:solidFill>
                  <a:srgbClr val="F1C9CF"/>
                </a:solidFill>
              </a:rPr>
              <a:t>PRIMARY DENOMINATOR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65B48-1FB2-4E8A-81F7-411EF165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01321"/>
                </a:solidFill>
              </a:defRPr>
            </a:pPr>
            <a:r>
              <a:rPr sz="3900" b="1">
                <a:solidFill>
                  <a:srgbClr val="701321"/>
                </a:solidFill>
              </a:rPr>
              <a:t>39.1%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8A7C0-3645-4A71-BF3F-CDCD9855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of all 1,209,144</a:t>
            </a:r>
          </a:p>
          <a:p xmlns:a="http://schemas.openxmlformats.org/drawingml/2006/main">
            <a:pPr algn="l"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resolved complaints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40954-E5EE-4A00-8477-8907BFB3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FCA90-B714-4C85-B405-D70BE629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81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81B2B"/>
                </a:solidFill>
              </a:defRPr>
            </a:pPr>
            <a:r>
              <a:rPr sz="1275" b="1">
                <a:solidFill>
                  <a:srgbClr val="981B2B"/>
                </a:solidFill>
              </a:rPr>
              <a:t>Caveat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A4DE02-EF7C-4004-BC60-490C0547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457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Descriptive, not a failure rate. A correct and a premature closure can look identical in this record.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191A9-0C77-4C0B-9980-CFA70D0C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Implication  •  Use it to define a governed sample for qualitative review—not an office league table.</a:t>
            </a:r>
          </a:p>
        </p:txBody>
      </p:sp>
    </p:spTree>
    <p:extLst>
      <p:ext uri="{BB962C8B-B14F-4D97-AF65-F5344CB8AC3E}">
        <p14:creationId xmlns:p14="http://schemas.microsoft.com/office/powerpoint/2010/main" val="819047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39D80-052D-4C02-A2E4-A2577B8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1B2B"/>
                </a:solidFill>
              </a:defRPr>
            </a:pPr>
            <a:r>
              <a:rPr sz="1050" b="1">
                <a:solidFill>
                  <a:srgbClr val="981B2B"/>
                </a:solidFill>
              </a:rPr>
              <a:t>INSIGHT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B7A9D-176E-4A9F-8155-5F21DC63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B"/>
                </a:solidFill>
              </a:defRPr>
            </a:pPr>
            <a:r>
              <a:rPr sz="975" b="0">
                <a:solidFill>
                  <a:srgbClr val="62666B"/>
                </a:solidFill>
              </a:rPr>
              <a:t>DPIC  •  7 AUGUST 2026  •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2CFC27-9426-47B1-86DD-5EEF13D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D979C-9EFC-4C8A-AC42-F6048401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1321"/>
                </a:solidFill>
              </a:defRPr>
            </a:pPr>
            <a:r>
              <a:rPr sz="2850" b="1">
                <a:solidFill>
                  <a:srgbClr val="701321"/>
                </a:solidFill>
              </a:rPr>
              <a:t>A precise rapid-closure review 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018DC-2226-42B1-B11C-DA937A73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Speed narrows review; it does not prove error.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8C198-5252-4A04-BA72-A83D5342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701321"/>
                </a:solidFill>
              </a:defRPr>
            </a:pPr>
            <a:r>
              <a:rPr sz="5700" b="1">
                <a:solidFill>
                  <a:srgbClr val="701321"/>
                </a:solidFill>
              </a:rPr>
              <a:t>8,974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77E67-A392-4370-A487-B850F577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531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complaints created and closed within two days on the bare-disposal rung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465AD-C157-470E-BBB0-88D0E086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14550"/>
            <a:ext cx="48768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66BB5-FE0B-46D1-A243-3EC8719C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715A"/>
                </a:solidFill>
              </a:defRPr>
            </a:pPr>
            <a:r>
              <a:rPr sz="3600" b="1">
                <a:solidFill>
                  <a:srgbClr val="39715A"/>
                </a:solidFill>
              </a:rPr>
              <a:t>1.9%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50610-EE49-4EF9-8F57-1BBCDB3E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B"/>
                </a:solidFill>
              </a:defRPr>
            </a:pPr>
            <a:r>
              <a:rPr sz="1575" b="0">
                <a:solidFill>
                  <a:srgbClr val="62666B"/>
                </a:solidFill>
              </a:rPr>
              <a:t>of bare disposals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DAC02F-657C-4339-B1C2-BB0EAC3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19450"/>
            <a:ext cx="417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D5D01-5E35-4BD6-9DD2-790B9422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409950"/>
            <a:ext cx="180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9715A"/>
                </a:solidFill>
              </a:defRPr>
            </a:pPr>
            <a:r>
              <a:rPr sz="3600" b="1">
                <a:solidFill>
                  <a:srgbClr val="39715A"/>
                </a:solidFill>
              </a:rPr>
              <a:t>0.7%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FC1ED-2B68-48C9-BE5E-2C311911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814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666B"/>
                </a:solidFill>
              </a:defRPr>
            </a:pPr>
            <a:r>
              <a:rPr sz="1575" b="0">
                <a:solidFill>
                  <a:srgbClr val="62666B"/>
                </a:solidFill>
              </a:rPr>
              <a:t>of all resolved complaints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E7888C-FBA8-42C7-8D6B-9A45D1FD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E8EA"/>
          </a:solidFill>
          <a:ln xmlns:a="http://schemas.openxmlformats.org/drawingml/2006/main" w="0">
            <a:solidFill>
              <a:srgbClr val="F4E8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59F7C-80AE-4D49-9939-9E136A3E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48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01321"/>
                </a:solidFill>
              </a:defRPr>
            </a:pPr>
            <a:r>
              <a:rPr sz="1725" b="1">
                <a:solidFill>
                  <a:srgbClr val="701321"/>
                </a:solidFill>
              </a:rPr>
              <a:t>1,020 followed the shortest recorded trajectory that reaches a disposal.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47FBE-D347-4E4B-AD5C-0A0066C3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673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B"/>
                </a:solidFill>
              </a:defRPr>
            </a:pPr>
            <a:r>
              <a:rPr sz="1425" b="0">
                <a:solidFill>
                  <a:srgbClr val="62666B"/>
                </a:solidFill>
              </a:rPr>
              <a:t>Review implication: sample the set; do not equate two days with poor handling.</a:t>
            </a:r>
          </a:p>
        </p:txBody>
      </p:sp>
    </p:spTree>
    <p:extLst>
      <p:ext uri="{BB962C8B-B14F-4D97-AF65-F5344CB8AC3E}">
        <p14:creationId xmlns:p14="http://schemas.microsoft.com/office/powerpoint/2010/main" val="17323704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148467-D53E-40B2-8035-4B6424C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1B2B"/>
                </a:solidFill>
              </a:defRPr>
            </a:pPr>
            <a:r>
              <a:rPr sz="1050" b="1">
                <a:solidFill>
                  <a:srgbClr val="981B2B"/>
                </a:solidFill>
              </a:rPr>
              <a:t>INSIGHT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ACFD2-7640-4616-B46A-963A1EE7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B"/>
                </a:solidFill>
              </a:defRPr>
            </a:pPr>
            <a:r>
              <a:rPr sz="975" b="0">
                <a:solidFill>
                  <a:srgbClr val="62666B"/>
                </a:solidFill>
              </a:rPr>
              <a:t>DPIC  •  7 AUGUST 2026  •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98C37-215C-448D-8771-319172C1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972FC-E5C1-4894-BAE6-1EDA5A8C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1321"/>
                </a:solidFill>
              </a:defRPr>
            </a:pPr>
            <a:r>
              <a:rPr sz="2850" b="1">
                <a:solidFill>
                  <a:srgbClr val="701321"/>
                </a:solidFill>
              </a:rPr>
              <a:t>Discard labels reveal different operational problems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D8F6C-4E7C-47C8-9F82-EA512F1B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Eight exact officer-template families; action rows, not unique complaints.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05551-CA8C-415B-9375-31A6CCE8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Details inadequate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F114E-BEFD-4B7A-8F63-A899E7D7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38FF2-2422-4F35-B475-83762640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764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6963D-8295-47BD-A2B1-4C069FF5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38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39,964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BC00F-4AF0-4FE4-AECA-39EB3AAA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Documents not attached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342B8-751A-4630-A5FA-DF52ACC2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5215C-8BF3-4B06-A322-C2451185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4303467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2DFFC-4658-416B-9A29-C75FE416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29,029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B0E43E-B1DC-4D38-B028-1877172B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Case already taken 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1019F-29AA-441D-8F5B-91F4D992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3F35B-D01E-47A6-A58B-4B2F623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3130536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838A2-0390-4C97-BCA2-49B0095C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21,117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445E3C-6D29-4F87-8B16-E62F4511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No specific grievance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456ADF-C919-4AF5-9AD5-3EB59A7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07FC8E-28D0-4632-885E-BDF329BA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48050"/>
            <a:ext cx="2427547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8BBFB1-B1C8-431E-8C5F-08FBE447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16,375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2EA55-1758-44BA-B802-CB892433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Duplicate copy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7A046D-55F9-4F5E-92F0-1C0979E1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31CC2-B208-442C-94F3-BFB2CDBC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05250"/>
            <a:ext cx="2398936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129D5-98FC-4652-A4B1-C6BB403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67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16,182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DC9220-48B2-42C6-9073-5E389CE8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Needs policy 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359F1-B1AF-46D7-AC39-A28C60C4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624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3BF3B3-8FEF-4A5D-B161-B542C5D5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62450"/>
            <a:ext cx="135275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10D5D4-E249-4E68-93B8-11B5B2E2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24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9,125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D15F07-2A73-4BAD-98EF-F9E2072D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Outside purview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3EA27E-5E82-4A9C-B88A-66B0F821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196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43AB7-6EEB-4BE8-8C3B-2E8A8C6A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19650"/>
            <a:ext cx="12559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B787A-5D9C-4968-9D7E-67916951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781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8,472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0AF765-9856-42A3-A987-C94F5A9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Address not given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B024EB-4CFB-4F71-B429-905C9E1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5924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9E4DE"/>
          </a:solidFill>
          <a:ln xmlns:a="http://schemas.openxmlformats.org/drawingml/2006/main" w="0">
            <a:solidFill>
              <a:srgbClr val="E9E4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BF6DEA-B9BA-41B8-BBA1-06D79CD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276850"/>
            <a:ext cx="609889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6E8BC4-675F-4403-B10C-A2F0F0B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38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4,114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B86E52-E5F9-4726-95A1-5C074C7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1321"/>
                </a:solidFill>
              </a:defRPr>
            </a:pPr>
            <a:r>
              <a:rPr sz="1425" b="1">
                <a:solidFill>
                  <a:srgbClr val="701321"/>
                </a:solidFill>
              </a:rPr>
              <a:t>Caveat  •  Administrative labels are not ground truth about citizens or grievance merit.</a:t>
            </a:r>
          </a:p>
        </p:txBody>
      </p:sp>
    </p:spTree>
    <p:extLst>
      <p:ext uri="{BB962C8B-B14F-4D97-AF65-F5344CB8AC3E}">
        <p14:creationId xmlns:p14="http://schemas.microsoft.com/office/powerpoint/2010/main" val="1368747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1F287-B19F-4676-9237-28D2D55E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1B2B"/>
                </a:solidFill>
              </a:defRPr>
            </a:pPr>
            <a:r>
              <a:rPr sz="1050" b="1">
                <a:solidFill>
                  <a:srgbClr val="981B2B"/>
                </a:solidFill>
              </a:rPr>
              <a:t>INSIGHT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E7814-BD9A-46F7-9DDD-1CF51486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B"/>
                </a:solidFill>
              </a:defRPr>
            </a:pPr>
            <a:r>
              <a:rPr sz="975" b="0">
                <a:solidFill>
                  <a:srgbClr val="62666B"/>
                </a:solidFill>
              </a:rPr>
              <a:t>DPIC  •  7 AUGUST 2026  •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67E49-F2E1-4187-96B0-4BBFDB6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00CEB-D0D5-4F08-990C-7E7DA2AC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1321"/>
                </a:solidFill>
              </a:defRPr>
            </a:pPr>
            <a:r>
              <a:rPr sz="2850" b="1">
                <a:solidFill>
                  <a:srgbClr val="701321"/>
                </a:solidFill>
              </a:rPr>
              <a:t>The manual process already catches duplicates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415C1-FC82-46F7-9382-82AF0F07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Automation must be measured on the additional reviewable increment.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4F9F0-CF5E-4759-B3B2-0726ECDC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8102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981B2B"/>
          </a:solidFill>
          <a:ln xmlns:a="http://schemas.openxmlformats.org/drawingml/2006/main" w="0">
            <a:solidFill>
              <a:srgbClr val="981B2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4A1FC-08C3-41B5-9F35-743626BD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19350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FFFFFF"/>
                </a:solidFill>
              </a:defRPr>
            </a:pPr>
            <a:r>
              <a:rPr sz="5550" b="1">
                <a:solidFill>
                  <a:srgbClr val="FFFFFF"/>
                </a:solidFill>
              </a:rPr>
              <a:t>37,299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C7BAD-8390-4CD7-B6E1-8DA5238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officer-confirmed duplicate action 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4AC01-3F72-4A6F-A0FE-AED39673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3333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8CF4E-1BF8-4B20-8318-97982668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+2,628 SINCE EARLIER REFERENCE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BC2A4-245F-4E22-8B90-33C06880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8125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15A"/>
                </a:solidFill>
              </a:defRPr>
            </a:pPr>
            <a:r>
              <a:rPr sz="1350" b="1">
                <a:solidFill>
                  <a:srgbClr val="39715A"/>
                </a:solidFill>
              </a:rPr>
              <a:t>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70FE3-B60B-4982-83BB-64356D01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What officers have already marked through two exact duplicate families.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5892FE-51B1-4FB0-847D-A25F0113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81B2B"/>
                </a:solidFill>
              </a:defRPr>
            </a:pPr>
            <a:r>
              <a:rPr sz="1350" b="1">
                <a:solidFill>
                  <a:srgbClr val="981B2B"/>
                </a:solidFill>
              </a:rPr>
              <a:t>Capability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8DDEB-B8AC-4F11-9A37-2FA3684B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4815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The additional MinHash matches that pass review. Acceptance is still pending.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B3D68-6C3B-4BEB-A1D7-1E48A63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B"/>
                </a:solidFill>
              </a:defRPr>
            </a:pPr>
            <a:r>
              <a:rPr sz="1425" b="0">
                <a:solidFill>
                  <a:srgbClr val="62666B"/>
                </a:solidFill>
              </a:rPr>
              <a:t>Caveat  •  Officer labels are useful validation evidence, not comprehensive ground truth.</a:t>
            </a:r>
          </a:p>
        </p:txBody>
      </p:sp>
    </p:spTree>
    <p:extLst>
      <p:ext uri="{BB962C8B-B14F-4D97-AF65-F5344CB8AC3E}">
        <p14:creationId xmlns:p14="http://schemas.microsoft.com/office/powerpoint/2010/main" val="528734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59EBA-0CE4-4CDA-8BC2-21C7BABC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81B2B"/>
                </a:solidFill>
              </a:defRPr>
            </a:pPr>
            <a:r>
              <a:rPr sz="1050" b="1">
                <a:solidFill>
                  <a:srgbClr val="981B2B"/>
                </a:solidFill>
              </a:rPr>
              <a:t>INSIGHT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A2453-D153-4FD2-A516-F9EC6DE1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B"/>
                </a:solidFill>
              </a:defRPr>
            </a:pPr>
            <a:r>
              <a:rPr sz="975" b="0">
                <a:solidFill>
                  <a:srgbClr val="62666B"/>
                </a:solidFill>
              </a:rPr>
              <a:t>DPIC  •  7 AUGUST 2026  •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B9186-C2D2-4626-A9B5-DBDE7ECB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00DD1-177E-42B9-B6B8-CEE248EA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01321"/>
                </a:solidFill>
              </a:defRPr>
            </a:pPr>
            <a:r>
              <a:rPr sz="2850" b="1">
                <a:solidFill>
                  <a:srgbClr val="701321"/>
                </a:solidFill>
              </a:rPr>
              <a:t>Routing evidence says where a case did not belong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A0682-7A9D-48FD-BA16-1981D7C5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66B"/>
                </a:solidFill>
              </a:defRPr>
            </a:pPr>
            <a:r>
              <a:rPr sz="1500" b="0">
                <a:solidFill>
                  <a:srgbClr val="62666B"/>
                </a:solidFill>
              </a:rPr>
              <a:t>It does not yet say which destination resolves it well.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9AEB2-6347-4365-9F9D-3DFA1E4A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701321"/>
                </a:solidFill>
              </a:defRPr>
            </a:pPr>
            <a:r>
              <a:rPr sz="5850" b="1">
                <a:solidFill>
                  <a:srgbClr val="701321"/>
                </a:solidFill>
              </a:rPr>
              <a:t>8,472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D0243-8EAD-4E0E-ABC4-F5726B09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out-of-purview action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D5866-BAE7-426A-B169-42211243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2857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9715A"/>
          </a:solidFill>
          <a:ln xmlns:a="http://schemas.openxmlformats.org/drawingml/2006/main" w="0">
            <a:solidFill>
              <a:srgbClr val="3971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F35CA-BAE1-409F-891C-4CB0BEB5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+17 SINCE EARLIER 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D3F9A-5A37-4415-B9A8-B9553D7D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52650"/>
            <a:ext cx="58674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AF7F2"/>
          </a:solidFill>
          <a:ln xmlns:a="http://schemas.openxmlformats.org/drawingml/2006/main" w="0">
            <a:solidFill>
              <a:srgbClr val="FAF7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F6DA06-0C78-4AA8-BCD9-99C00A03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812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15A"/>
                </a:solidFill>
              </a:defRPr>
            </a:pPr>
            <a:r>
              <a:rPr sz="1350" b="1">
                <a:solidFill>
                  <a:srgbClr val="39715A"/>
                </a:solidFill>
              </a:rPr>
              <a:t>What it supports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727841-4657-46E4-868F-63819FA3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813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124"/>
                </a:solidFill>
              </a:defRPr>
            </a:pPr>
            <a:r>
              <a:rPr sz="1800" b="1">
                <a:solidFill>
                  <a:srgbClr val="202124"/>
                </a:solidFill>
              </a:rPr>
              <a:t>A routing crosswalk that learns where complaints are sent.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A92D0-98E9-4D42-ADBD-1BDDC72F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14750"/>
            <a:ext cx="497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A"/>
          </a:solidFill>
          <a:ln xmlns:a="http://schemas.openxmlformats.org/drawingml/2006/main" w="0">
            <a:solidFill>
              <a:srgbClr val="D8D1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1A286-A0E5-4AF1-B49A-295F07EE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43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81B2B"/>
                </a:solidFill>
              </a:defRPr>
            </a:pPr>
            <a:r>
              <a:rPr sz="1350" b="1">
                <a:solidFill>
                  <a:srgbClr val="981B2B"/>
                </a:solidFill>
              </a:rPr>
              <a:t>What it does not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CD0A3-1A04-402B-B60E-6121EBFC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3243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</a:defRPr>
            </a:pPr>
            <a:r>
              <a:rPr sz="1650" b="1">
                <a:solidFill>
                  <a:srgbClr val="202124"/>
                </a:solidFill>
              </a:rPr>
              <a:t>A claim about grievance merit or downstream outcomes.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30118-C52B-4825-981F-99907CBE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</a:defRPr>
            </a:pPr>
            <a:r>
              <a:rPr sz="1500" b="1">
                <a:solidFill>
                  <a:srgbClr val="202124"/>
                </a:solidFill>
              </a:rPr>
              <a:t>Next evidence  •  Track transfers and outcomes separately before recommending destinations.</a:t>
            </a:r>
          </a:p>
        </p:txBody>
      </p:sp>
    </p:spTree>
    <p:extLst>
      <p:ext uri="{BB962C8B-B14F-4D97-AF65-F5344CB8AC3E}">
        <p14:creationId xmlns:p14="http://schemas.microsoft.com/office/powerpoint/2010/main" val="1983192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70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AC134-4B0E-49BA-A9AD-384F469D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NEXT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3D554-9F73-4259-8E18-7B91835F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"/>
            <a:ext cx="3028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E8C8CD"/>
                </a:solidFill>
              </a:defRPr>
            </a:pPr>
            <a:r>
              <a:rPr sz="975" b="0">
                <a:solidFill>
                  <a:srgbClr val="E8C8CD"/>
                </a:solidFill>
              </a:rPr>
              <a:t>DPIC  •  7 AUGUST 2026  •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D9B58-797A-41B2-9E4D-653D2914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8D"/>
          </a:solidFill>
          <a:ln xmlns:a="http://schemas.openxmlformats.org/drawingml/2006/main" w="0">
            <a:solidFill>
              <a:srgbClr val="C9828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96A63-3250-4ABA-B09E-7FB5BC48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Three gates before broader claims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2BE0-457B-485D-A3D2-632EC362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1AC362-B9C8-4981-8759-16E95BB0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81B2B"/>
                </a:solidFill>
              </a:defRPr>
            </a:pPr>
            <a:r>
              <a:rPr sz="2850" b="1">
                <a:solidFill>
                  <a:srgbClr val="981B2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B9AE0-3509-4DB1-9CB6-F0568F55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Qualitative closure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5F7EC-6F48-46DE-85DE-704A9005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B"/>
                </a:solidFill>
              </a:defRPr>
            </a:pPr>
            <a:r>
              <a:rPr sz="1425" b="0">
                <a:solidFill>
                  <a:srgbClr val="62666B"/>
                </a:solidFill>
              </a:rPr>
              <a:t>Adjudicate 300–500 cases before interpreting closure quality.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B1FA2-DBA6-40CD-A40A-94AFAD5DD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2385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EE2FC-A6B9-4DDC-8354-61A4D27F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90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81B2B"/>
                </a:solidFill>
              </a:defRPr>
            </a:pPr>
            <a:r>
              <a:rPr sz="2850" b="1">
                <a:solidFill>
                  <a:srgbClr val="981B2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2AA9A-8B5D-4FAE-9FFF-28B2D76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Dedup acceptance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A688EB-7C84-4A2B-B359-CB285985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B"/>
                </a:solidFill>
              </a:defRPr>
            </a:pPr>
            <a:r>
              <a:rPr sz="1425" b="0">
                <a:solidFill>
                  <a:srgbClr val="62666B"/>
                </a:solidFill>
              </a:rPr>
              <a:t>Report only reviewed incremental matches beyond the manual baseline.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A76EC-4C41-4CF3-A3CB-F5BAFF7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2385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16C4B6-6F1D-4D31-B789-769BD458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981B2B"/>
                </a:solidFill>
              </a:defRPr>
            </a:pPr>
            <a:r>
              <a:rPr sz="2850" b="1">
                <a:solidFill>
                  <a:srgbClr val="981B2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EF288C-E6E5-42E4-8F3E-ADD51C15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1321"/>
                </a:solidFill>
              </a:defRPr>
            </a:pPr>
            <a:r>
              <a:rPr sz="1800" b="1">
                <a:solidFill>
                  <a:srgbClr val="701321"/>
                </a:solidFill>
              </a:rPr>
              <a:t>Worked surge decomposition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28559-AD56-4307-BC73-CD238B9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66B"/>
                </a:solidFill>
              </a:defRPr>
            </a:pPr>
            <a:r>
              <a:rPr sz="1425" b="0">
                <a:solidFill>
                  <a:srgbClr val="62666B"/>
                </a:solidFill>
              </a:rPr>
              <a:t>Fix the period, denominators, and checks before publishing a case study.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95AED-D511-4214-AFC8-0406D93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Release control  •  Aggregate outputs only  •  Complaint narratives excluded  •  Draft for ED clearance</a:t>
            </a:r>
          </a:p>
        </p:txBody>
      </p:sp>
    </p:spTree>
    <p:extLst>
      <p:ext uri="{BB962C8B-B14F-4D97-AF65-F5344CB8AC3E}">
        <p14:creationId xmlns:p14="http://schemas.microsoft.com/office/powerpoint/2010/main" val="211743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2026-08-07T10:12:24.4190000Z</dcterms:created>
  <dcterms:modified xsi:type="dcterms:W3CDTF">2026-08-07T10:12:24.4190000Z</dcterms:modified>
</coreProperties>
</file>