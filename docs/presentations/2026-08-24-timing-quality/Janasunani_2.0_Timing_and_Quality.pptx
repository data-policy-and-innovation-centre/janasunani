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 id="278" r:id="rId28"/>
    <p:sldId id="279"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they must match after any migration change: 1,371,288 complaints and 6,556,171 action-history rows.</a:t>
            </a:r>
          </a:p>
          <a:p/>
          <a:p>
            <a:r>
              <a:t>Caveat: the Parquet lake reads 6,548,820 action rows against the canonical 6,556,171, a 0.11% shortfall tracked as issue #241. Use the canonical figure.</a:t>
            </a:r>
          </a:p>
          <a:p/>
          <a:p>
            <a:r>
              <a:t>The grievance text has a median of 19 words and 61% of it is unique. The action notes are populated on 99.87% of rows with 1,395,867 distinct normalised values. Both are opaque strings to the reporting layer.</a:t>
            </a:r>
          </a:p>
          <a:p/>
          <a:p>
            <a:r>
              <a:t>Two structural facts drive the whole deck. The portal has never read what the citizen wrote. And there is no citizen key, so every row is an island, which is why deduplication on the next slide needs the whole corpus at once.</a:t>
            </a:r>
          </a:p>
          <a:p/>
          <a:p>
            <a:r>
              <a:t>This slide used to carry a closure breakdown. That data now sits on slide 6, where it belongs, because it is the reason the routing model needed a correctness constraint.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Below the crosswalk sit the ORTPSA master tables and a generic fallback. They are off this slide because they rarely answer: intCategoryGrp is NULL on all 62 categories, so no category-to-department link exists and MappingRouter can only bridge by exact name. That absence is why the crosswalk had to be learned from history rather than read off a table. Mention it only if someone asks what happens when the crosswalk has no key.</a:t>
            </a:r>
          </a:p>
          <a:p/>
          <a:p>
            <a:r>
              <a:t>ROW 3, THE OUTCOME MODEL. Design of record is docs/experiments/routing-outcome-model.tex, 42 pages. It asks a different question from the rows above: not where a grievance was sent, but whether sending it elsewhere would have closed it faster without losing whether action was taken.</a:t>
            </a:r>
          </a:p>
          <a:p>
            <a:r>
              <a:t>  Treatment is the department and the complete role chain chosen together at assignment, the intention to route. Outcome is days to closure capped at 365, with inverse-probability censoring weights so cases still open at the snapshot do not silently drop out. Two estimators are reported separately: a direct outcome model and an augmented, doubly-robust one.</a:t>
            </a:r>
          </a:p>
          <a:p>
            <a:r>
              <a:t>  Result: validation 2024 gave +26.77 days (SE 4.04). The untouched 2025 test year gave -2.35 (SE 3.50). No routing gain is established and no recommendation is published.</a:t>
            </a:r>
          </a:p>
          <a:p>
            <a:r>
              <a:t>  Why it failed, if pushed. Positivity breaks: on the test year only 15.6% of cases have the recommended route anywhere in observed support, and effective sample size falls to 7% of n, so the direct estimator is extrapolating into empty cells. The design document also states plainly that its no-interference assumption 'in a queueing system is false' — route everyone to the fast office and it stops being fast. Unconfoundedness is invoked on an information set smaller than the officer's, missing congestion and trailing destination performance. And the test year is a seven-month window being asked about a 365-day outcome, so replication and truncation cannot be separated.</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And any routing time saving: an estimated 11 to 23 day gain held on validation 2024 and failed on the untouched 2025 test year at -2.35 days against a standard error of 3.50. Withdrawn 23 August, commits 879c24c and 365e3b4.</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slide exists to set up the next one. It is also the strongest finding in the record.</a:t>
            </a:r>
          </a:p>
          <a:p/>
          <a:p>
            <a:r>
              <a:t>NUMBERS. outputs/findings/closure_finding.md. Of 776,922 complaints closed on one of six governed disposal templates, 472,782 used the rung that records no action. That is 60.9% of ladder closures and 39.1% of all 1,209,144 resolved complaints. State the denominator, because it moves the number by half. The ladder covers 64.25% of resolved cases; the rest carry non-standard text.</a:t>
            </a:r>
          </a:p>
          <a:p/>
          <a:p>
            <a:r>
              <a:t>WHY IT MATTERS FOR ROUTING. From the design document, section 2: 'The first instinct is to minimise time to closure. This fails, instructively. Closure is an action the officer controls directly, and the optimal behaviour under that objective is to close every case immediately without doing anything. This is not hypothetical: the most common closing remark in the system records disposal with no action claimed.' That is why the model minimises duration SUBJECT TO a correctness constraint rather than minimising duration.</a:t>
            </a:r>
          </a:p>
          <a:p/>
          <a:p>
            <a:r>
              <a:t>It is also the weak point. The constraint is derived from the closing remark after the fact, so the population is conditioned on resolution and does not identify intake-time actionability. That is one reason the estimate on the next slide did not hold.</a:t>
            </a:r>
          </a:p>
          <a:p/>
          <a:p>
            <a:r>
              <a:t>THE CAVEAT THAT MUST TRAVEL. This is descriptive and is not a failure rate. A correct closure and a premature one look identical in this record. Do not present it as an office league table; report it at state level. The bare share RISES with work done, 58.4% at three to five action steps and 64.8% at six or more, so whatever drives the choice of phrase, it is not that nothing happened.</a:t>
            </a:r>
          </a:p>
          <a:p/>
          <a:p>
            <a:r>
              <a:t>The benefit flag runs backwards to the ladder: 9.2% of no-action closures carry it against 6.2% of action-taken closures. Never report it as satisfaction.</a:t>
            </a:r>
          </a:p>
          <a:p/>
          <a:p>
            <a:r>
              <a:t>If asked for a bounded review set: 8,974 complaints were created and closed within two days on a bare disposal, 1.9% of bare disposals.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Ninety seconds. The table is the argument; do not narrate every row.</a:t>
            </a:r>
          </a:p>
          <a:p/>
          <a:p>
            <a:r>
              <a:t>Say: on 2024 the two estimators land 2.3 days apart. On 2025 they land 33 apart. Same code, same pipeline, one year later. When a direct and a doubly-robust estimator diverge like that, the divergence measures missing overlap. It is not a choice between two answers.</a:t>
            </a:r>
          </a:p>
          <a:p/>
          <a:p>
            <a:r>
              <a:t>SOURCES, live 19 August refit. ope_val_ridge.json (n=450,567) and ope_test_ridge.json (n=113,535), both under outputs/experiments/routing_outcome/. Row 1 is delta_direct, 24.50 and 30.53. Row 2 is delta_dr, 26.77 (SE 4.04) and -2.35 (SE 3.50). Row 3 is the historical arm, where v_dr is the observed IPCW mean and v_direct is the model's prediction of it: 97.84 against 93.22 on validation, 108.69 against 49.74 on test. Row 4 is overlap.match_rate, 0.380 and 0.156. Row 5 is censoring_rate_of_split, 0.092 and 0.344.</a:t>
            </a:r>
          </a:p>
          <a:p/>
          <a:p>
            <a:r>
              <a:t>DO NOT USE routing-outcome-ope-val-ridge-2026-08-13.json. Its validation match rate of 0.536 and its +20.1 belong to the withdrawn run and it sits in docs/experiments/superseded/. Quoting it to dramatise the collapse re-cites the thing we retracted.</a:t>
            </a:r>
          </a:p>
          <a:p/>
          <a:p>
            <a:r>
              <a:t>'So which estimator do you believe?' Neither, on the test year. The direct one extrapolates into cells where the recommended route was never taken, and row 3 shows it is 118% wrong on the one arm we can check. The doubly-robust one down-weights those cells, leaving an effective sample of 7% of n. The honest statement is that the test year cannot answer the question.</a:t>
            </a:r>
          </a:p>
          <a:p/>
          <a:p>
            <a:r>
              <a:t>'Is this replication failure or truncation?' They cannot be separated in this design. The snapshot is 2025-07-30, so the cohort has at most seven months against a 365-day outcome and censoring runs 3.1%, 9.2%, 34.4%. Answering it needs a later snapshot, not a better estimator.</a:t>
            </a:r>
          </a:p>
          <a:p/>
          <a:p>
            <a:r>
              <a:t>'What about a different outcome model?' Boosting instead of ridge gives 12.40 on validation against ridge's 26.77, and 0.15 on test against -2.35. The two families disagree by a factor of two on the year that looked positive and agree on zero for the year that did not. The validation gain was never stable either.</a:t>
            </a:r>
          </a:p>
          <a:p/>
          <a:p>
            <a:r>
              <a:t>Only if pushed further:</a:t>
            </a:r>
          </a:p>
          <a:p>
            <a:r>
              <a:t>- No interference is assumed, and the design document says that assumption 'in a queueing system is false'. Route everyone to the fast office and it stops being fast. That bounds any future version of this exercise.</a:t>
            </a:r>
          </a:p>
          <a:p>
            <a:r>
              <a:t>- Unconfoundedness is invoked on less information than the assigning officer had. Congestion and trailing destination performance are absent from the covariates.</a:t>
            </a:r>
          </a:p>
          <a:p>
            <a:r>
              <a:t>- Treatment provenance is unresolved. dept_id and vchAllEscUser may record final state rather than the initial assignment.</a:t>
            </a:r>
          </a:p>
          <a:p/>
          <a:p>
            <a:r>
              <a:t>WITHDRAWN, do not use: any routing time saving, including the 11 to 23 day band. Do not present it as conservative, provisional or pending. There is no estimate.</a:t>
            </a:r>
          </a:p>
          <a:p/>
          <a:p>
            <a:r>
              <a:t>What we are NOT saying: that routing gains do not exist. We are saying this design on this data cannot detect one.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accuracy result for the outside option on slide 6.</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FOUR EXTRACT FIELDS, which is the 'does more' claim: grievance_category, summary, district, grievance_text. That is our OCR, categoriser and summariser in one call. janasunani/evaluation/sarvam_grievance_schema.py, schema v1, pinned so a later edit cannot silently move a headline number. docs/DELIVERY.md:163: 'our pipeline has no equivalent'.</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ACTUALLY RAN. Two runs, docs/evidence/sarvam_cached_benchmark.json. A 5-page validation (₹7.50) and a 300-page run that died at 65 pages on credit exhaustion, 3 HTTP 402s, 7 job failures. 61 pages paired and scored in total.</a:t>
            </a:r>
          </a:p>
          <a:p/>
          <a:p>
            <a:r>
              <a:t>WHAT WE FOUND, AND WHAT IT COVERS. Normalised exact-text divergence 1.000 on both runs: the two systems differed on every page. Sarvam returns more characters, ratio 1.2433 then 1.3345. That figure is TRANSCRIPTION ONLY. It compares OCR text and says nothing about the category or summary fields. Divergence says they disagree, never who is right.</a:t>
            </a:r>
          </a:p>
          <a:p/>
          <a:p>
            <a:r>
              <a:t>THE EXTRACT FIELDS WERE NEVER GRADED. Sarvam did return them: 61 extract jobs completed in the 300-page run. Nothing was compared against them.</a:t>
            </a:r>
          </a:p>
          <a:p/>
          <a:p>
            <a:r>
              <a:t>  Category was the DECLARED PRIMARY OUTCOME and came back null. Reason, verbatim from outputs/sarvam_validation/sarvam_scorecard.md: 'Not measured — no gold labels (gold_category) in sample; run with --join-metadata from the lake slice.' This is the cheap gap. The recorded category already sits in our own database; the sample was simply not joined to it. Unlike OCR, no new ground truth has to be created.</a:t>
            </a:r>
          </a:p>
          <a:p/>
          <a:p>
            <a:r>
              <a:t>  Summary was only ever scoped as divergence against BART with no gold referee, and summary_divergence is the same function as divergence_rate under another name (sarvam_scorecard.py:234). Even fully run it could only have said the two summaries differ, never which was better. It was not run: no paired sarvam_summary / pipeline_summary in the sample.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category accuracy, summary quality, latency (stated in four places), actual billed cost (every rupee figure is list price), observed language split, handwritten versus printed split.</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the full corpus is roughly ten days of continuous calling. It is a measurement instrument, not a backfill path. Do not quote ₹700; that was priced on the withdrawn 30B model.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Reading, sorting and routing 1.37 million grievances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record has never been read</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1.37 million grievances</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Filed between 2021 and 2025, across 30 districts and 427 blocks.</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6.5 million action notes</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Every step an officer took on a case, written as free text.</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Counts only</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The portal reports how many cases are open and how many are closed. It has never opened either body of text.</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5742432"/>
            <a:ext cx="10881360" cy="384048"/>
          </a:xfrm>
          <a:prstGeom prst="rect">
            <a:avLst/>
          </a:prstGeom>
          <a:noFill/>
        </p:spPr>
        <p:txBody>
          <a:bodyPr wrap="square" lIns="0" rIns="0" tIns="0" bIns="0">
            <a:spAutoFit/>
          </a:bodyPr>
          <a:lstStyle/>
          <a:p>
            <a:pPr algn="l"/>
            <a:r>
              <a:rPr sz="1700" b="1" i="0">
                <a:solidFill>
                  <a:srgbClr val="7A1F2B"/>
                </a:solidFill>
                <a:latin typeface="Calibri"/>
              </a:rPr>
              <a:t>Everything after this slide is about reading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HOW IT WORKS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Deduplication needs every record at once</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Six stages, timed and scored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847088"/>
          <a:ext cx="10881360" cy="2889504"/>
        </p:xfrm>
        <a:graphic>
          <a:graphicData uri="http://schemas.openxmlformats.org/drawingml/2006/table">
            <a:tbl>
              <a:tblPr/>
              <a:tblGrid>
                <a:gridCol w="3657600"/>
                <a:gridCol w="2286000"/>
                <a:gridCol w="493776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How fast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How good, and on how many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Read the page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never measured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Hide personal details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found 78% of the items we marked, on 480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Flag for officer review</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under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caught all 13 needing review, out of 57 cases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Sort into a category</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right one in its top three, 91% of 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Draft a summary</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 drafts read, 8 usable without an edit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Suggest a department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under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right one in its top three, 80% of 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5138928"/>
            <a:ext cx="10881360" cy="310896"/>
          </a:xfrm>
          <a:prstGeom prst="rect">
            <a:avLst/>
          </a:prstGeom>
          <a:noFill/>
        </p:spPr>
        <p:txBody>
          <a:bodyPr wrap="square" lIns="0" rIns="0" tIns="0" bIns="0">
            <a:spAutoFit/>
          </a:bodyPr>
          <a:lstStyle/>
          <a:p>
            <a:pPr algn="l"/>
            <a:r>
              <a:rPr sz="1500" b="0" i="0">
                <a:solidFill>
                  <a:srgbClr val="1E1F24"/>
                </a:solidFill>
                <a:latin typeface="Calibri"/>
              </a:rPr>
              <a:t>0.13 s typed end to end     ·     13.7 s scanned end to end     ·     0 of 55,544 records kept a phone number, Aadhaar or PAN</a:t>
            </a:r>
          </a:p>
        </p:txBody>
      </p:sp>
      <p:sp>
        <p:nvSpPr>
          <p:cNvPr id="17" name="TextBox 16"/>
          <p:cNvSpPr txBox="1"/>
          <p:nvPr/>
        </p:nvSpPr>
        <p:spPr>
          <a:xfrm>
            <a:off x="640080" y="5650992"/>
            <a:ext cx="10881360" cy="384048"/>
          </a:xfrm>
          <a:prstGeom prst="rect">
            <a:avLst/>
          </a:prstGeom>
          <a:noFill/>
        </p:spPr>
        <p:txBody>
          <a:bodyPr wrap="square" lIns="0" rIns="0" tIns="0" bIns="0">
            <a:spAutoFit/>
          </a:bodyPr>
          <a:lstStyle/>
          <a:p>
            <a:pPr algn="l"/>
            <a:r>
              <a:rPr sz="1700" b="1" i="0">
                <a:solidFill>
                  <a:srgbClr val="7A1F2B"/>
                </a:solidFill>
                <a:latin typeface="Calibri"/>
              </a:rPr>
              <a:t>Reading the page and drafting the summary are 94% of the time. Everything else is close to free.</a:t>
            </a:r>
          </a:p>
        </p:txBody>
      </p:sp>
      <p:sp>
        <p:nvSpPr>
          <p:cNvPr id="18" name="TextBox 17"/>
          <p:cNvSpPr txBox="1"/>
          <p:nvPr/>
        </p:nvSpPr>
        <p:spPr>
          <a:xfrm>
            <a:off x="640080" y="6089904"/>
            <a:ext cx="10881360" cy="292608"/>
          </a:xfrm>
          <a:prstGeom prst="rect">
            <a:avLst/>
          </a:prstGeom>
          <a:noFill/>
        </p:spPr>
        <p:txBody>
          <a:bodyPr wrap="square" lIns="0" rIns="0" tIns="0" bIns="0">
            <a:spAutoFit/>
          </a:bodyPr>
          <a:lstStyle/>
          <a:p>
            <a:pPr algn="l"/>
            <a:r>
              <a:rPr sz="1200" b="0" i="1">
                <a:solidFill>
                  <a:srgbClr val="6C6E76"/>
                </a:solidFill>
                <a:latin typeface="Calibri"/>
              </a:rPr>
              <a:t>Speeds are means on one scanned document, n=20. Categories are lopsided: always guessing the three biggest scores 84%, so the model adds 7 points.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department suggestion is learned from history</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Where it falls back</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No master table links a category to a department, so the keys had to be learned. When no key matches it drops to matching on name.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4617720"/>
            <a:ext cx="10881360" cy="384048"/>
          </a:xfrm>
          <a:prstGeom prst="rect">
            <a:avLst/>
          </a:prstGeom>
          <a:noFill/>
        </p:spPr>
        <p:txBody>
          <a:bodyPr wrap="square" lIns="0" rIns="0" tIns="0" bIns="0">
            <a:spAutoFit/>
          </a:bodyPr>
          <a:lstStyle/>
          <a:p>
            <a:pPr algn="l"/>
            <a:r>
              <a:rPr sz="1700" b="1" i="0">
                <a:solidFill>
                  <a:srgbClr val="7A1F2B"/>
                </a:solidFill>
                <a:latin typeface="Calibri"/>
              </a:rPr>
              <a:t>All of it learns where grievances were sent. None of it knows where one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WHAT CLOSURE RECORDS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Closing a case costs nothing</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How 776,922 closures were recorded, on the six standard remarks.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no action claimed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472,782</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with action taken</a:t>
            </a:r>
            <a:endParaRPr lang="en-US" sz="1450" dirty="0"/>
          </a:p>
        </p:txBody>
      </p:sp>
      <p:sp>
        <p:nvSpPr>
          <p:cNvPr id="9" name="Shape 7"/>
          <p:cNvSpPr/>
          <p:nvPr/>
        </p:nvSpPr>
        <p:spPr>
          <a:xfrm>
            <a:off x="3017520" y="3383280"/>
            <a:ext cx="4346071" cy="621792"/>
          </a:xfrm>
          <a:prstGeom prst="rect">
            <a:avLst/>
          </a:prstGeom>
          <a:solidFill>
            <a:srgbClr val="9A9CA3"/>
          </a:solidFill>
          <a:ln/>
        </p:spPr>
        <p:txBody>
          <a:bodyPr/>
          <a:lstStyle/>
          <a:p>
            <a:endParaRPr lang="en-IN"/>
          </a:p>
        </p:txBody>
      </p:sp>
      <p:sp>
        <p:nvSpPr>
          <p:cNvPr id="10" name="Text 8"/>
          <p:cNvSpPr/>
          <p:nvPr/>
        </p:nvSpPr>
        <p:spPr>
          <a:xfrm>
            <a:off x="3154680" y="3383280"/>
            <a:ext cx="4071751"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280,887</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Beneficiary benefited</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96012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23,253</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fastest way to close a case is to do nothing. Speed alone cannot be the target.</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Median days to close: 46 claiming no action, 54 claiming action taken</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WOULD ANOTHER ROUTE BE FASTER?</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estimate did not survive the second year</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1847088"/>
            <a:ext cx="10881360" cy="329184"/>
          </a:xfrm>
          <a:prstGeom prst="rect">
            <a:avLst/>
          </a:prstGeom>
          <a:noFill/>
        </p:spPr>
        <p:txBody>
          <a:bodyPr wrap="square" lIns="0" rIns="0" tIns="0" bIns="0">
            <a:spAutoFit/>
          </a:bodyPr>
          <a:lstStyle/>
          <a:p>
            <a:pPr algn="l"/>
            <a:r>
              <a:rPr sz="1700" b="0" i="0">
                <a:solidFill>
                  <a:srgbClr val="44464D"/>
                </a:solidFill>
                <a:latin typeface="Calibri"/>
              </a:rPr>
              <a:t>So we tested for speed without losing whether action was taken.</a:t>
            </a:r>
          </a:p>
        </p:txBody>
      </p:sp>
      <p:graphicFrame>
        <p:nvGraphicFramePr>
          <p:cNvPr id="16" name="Table 15"/>
          <p:cNvGraphicFramePr>
            <a:graphicFrameLocks noGrp="1"/>
          </p:cNvGraphicFramePr>
          <p:nvPr/>
        </p:nvGraphicFramePr>
        <p:xfrm>
          <a:off x="640080" y="2331720"/>
          <a:ext cx="10881360" cy="2468880"/>
        </p:xfrm>
        <a:graphic>
          <a:graphicData uri="http://schemas.openxmlformats.org/drawingml/2006/table">
            <a:tbl>
              <a:tblPr/>
              <a:tblGrid>
                <a:gridCol w="5486400"/>
                <a:gridCol w="2697480"/>
                <a:gridCol w="2697480"/>
              </a:tblGrid>
              <a:tr h="365760">
                <a:tc>
                  <a:txBody>
                    <a:bodyPr wrap="square"/>
                    <a:lstStyle/>
                    <a:p>
                      <a:r>
                        <a:rPr sz="1300" b="1">
                          <a:solidFill>
                            <a:srgbClr val="FFFFFF"/>
                          </a:solidFill>
                          <a:latin typeface="Calibri"/>
                        </a:rPr>
                        <a:t>What we measured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2024, held out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2025, untouched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Outcome model alone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+24.5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+30.5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Doubly robust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+26.8 days (SE 4.0)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−2.3 days (SE 3.5)</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Error predicting the routes actually used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118%</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Suggested route has precedent in that category and district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38%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16%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Still open when the data was cut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9%</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34%</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7" name="TextBox 16"/>
          <p:cNvSpPr txBox="1"/>
          <p:nvPr/>
        </p:nvSpPr>
        <p:spPr>
          <a:xfrm>
            <a:off x="640080" y="4956048"/>
            <a:ext cx="10881360" cy="310896"/>
          </a:xfrm>
          <a:prstGeom prst="rect">
            <a:avLst/>
          </a:prstGeom>
          <a:noFill/>
        </p:spPr>
        <p:txBody>
          <a:bodyPr wrap="square" lIns="0" rIns="0" tIns="0" bIns="0">
            <a:spAutoFit/>
          </a:bodyPr>
          <a:lstStyle/>
          <a:p>
            <a:pPr algn="l"/>
            <a:r>
              <a:rPr sz="1500" b="0" i="0">
                <a:solidFill>
                  <a:srgbClr val="1E1F24"/>
                </a:solidFill>
                <a:latin typeface="Calibri"/>
              </a:rPr>
              <a:t>We withdrew the estimate. No routing gain is established.</a:t>
            </a:r>
          </a:p>
        </p:txBody>
      </p:sp>
      <p:sp>
        <p:nvSpPr>
          <p:cNvPr id="18" name="TextBox 17"/>
          <p:cNvSpPr txBox="1"/>
          <p:nvPr/>
        </p:nvSpPr>
        <p:spPr>
          <a:xfrm>
            <a:off x="640080" y="5413248"/>
            <a:ext cx="10881360" cy="237744"/>
          </a:xfrm>
          <a:prstGeom prst="rect">
            <a:avLst/>
          </a:prstGeom>
          <a:noFill/>
        </p:spPr>
        <p:txBody>
          <a:bodyPr wrap="square" lIns="0" rIns="0" tIns="0" bIns="0">
            <a:spAutoFit/>
          </a:bodyPr>
          <a:lstStyle/>
          <a:p>
            <a:pPr algn="l"/>
            <a:r>
              <a:rPr sz="1200" b="0" i="1">
                <a:solidFill>
                  <a:srgbClr val="6C6E76"/>
                </a:solidFill>
                <a:latin typeface="Calibri"/>
              </a:rPr>
              <a:t>Positive means the suggested route closed faster. The direct estimator reports no standard error.</a:t>
            </a:r>
          </a:p>
        </p:txBody>
      </p:sp>
      <p:sp>
        <p:nvSpPr>
          <p:cNvPr id="19" name="TextBox 18"/>
          <p:cNvSpPr txBox="1"/>
          <p:nvPr/>
        </p:nvSpPr>
        <p:spPr>
          <a:xfrm>
            <a:off x="640080" y="5614416"/>
            <a:ext cx="10881360" cy="237744"/>
          </a:xfrm>
          <a:prstGeom prst="rect">
            <a:avLst/>
          </a:prstGeom>
          <a:noFill/>
        </p:spPr>
        <p:txBody>
          <a:bodyPr wrap="square" lIns="0" rIns="0" tIns="0" bIns="0">
            <a:spAutoFit/>
          </a:bodyPr>
          <a:lstStyle/>
          <a:p>
            <a:pPr algn="l"/>
            <a:r>
              <a:rPr sz="1200" b="0" i="1">
                <a:solidFill>
                  <a:srgbClr val="6C6E76"/>
                </a:solidFill>
                <a:latin typeface="Calibri"/>
              </a:rPr>
              <a:t>The 2025 data stops seven months in. The outcome is measured at 365 days.</a:t>
            </a:r>
          </a:p>
        </p:txBody>
      </p:sp>
      <p:sp>
        <p:nvSpPr>
          <p:cNvPr id="20" name="TextBox 19"/>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Two estimators on the same data disagreed by 33 days. The disagreement is the finding.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It does more. We have not shown it does better</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One call at ₹1.50 a page returns the text, a category, a one-line summary and the district.</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established</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Using it also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 all 61 pages we compared, the two systems produced different text.</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category and summary it returned were never graded against anything.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