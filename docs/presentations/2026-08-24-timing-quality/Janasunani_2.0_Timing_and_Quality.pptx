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 id="280"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THIS SLIDE IS THE MAP. Two bodies of free text, and the deck reads them in that order. Slides 3 to 5 read the citizen's text: the stages, their speed and quality, and the department suggestion. Slides 6 and 7 read the officer's notes: how closures are recorded, and whether a different route would have closed cases faster. Say the two halves out loud here, so slide 6 lands as the turn rather than a new topic.</a:t>
            </a:r>
          </a:p>
          <a:p/>
          <a:p>
            <a:r>
              <a:t>The third row is the reason the project exists. The portal has never opened either body of text. There is also no citizen key, so every row is an island, which is why deduplication on the next slide needs the whole corpus at once.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9.</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THE OUTCOME MODEL IS NOT THIS SLIDE. Everything here predicts where a grievance was sent. Whether sending it elsewhere would have resolved it better is slides 7 and 8, it is research-only, and no serving provider reads it. Keep the two apart when answering.</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Any routing time saving is withdrawn too; slide 8 carries that warning.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TURN slide 2 announced. Everything up to here read the citizen's text. From here the source is the officer's action notes, the second of the two bodies. Say so; it is one sentence and it stops this slide reading as a new topic.</a:t>
            </a:r>
          </a:p>
          <a:p/>
          <a:p>
            <a:r>
              <a:t>It sets up the next slide and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It is on the unresolved list at slide 8, and one reason the estimate there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slide is the design. The next one is why it is not live. Do not merge them.</a:t>
            </a:r>
          </a:p>
          <a:p/>
          <a:p>
            <a:r>
              <a:t>TREATMENT is the department and the complete role chain chosen jointly at assignment, the intention to route rather than the final state. ESTIMAND is capped RMST at 365 days.</a:t>
            </a:r>
          </a:p>
          <a:p/>
          <a:p>
            <a:r>
              <a:t>THE CONSTRAINT IS THE POINT, and it is what slide 6 was for. The objective minimises expected capped duration SUBJECT TO the action rate holding at its historical level. It is never conditional on the realised outcome, which would condition on a post-treatment variable. Unconstrained duration minimisation selects for closing cases untouched, because closure is an action the officer controls directly. Design document, section 2: 'The first instinct is to minimise time to closure. This fails, instructively.'</a:t>
            </a:r>
          </a:p>
          <a:p/>
          <a:p>
            <a:r>
              <a:t>THE THREE STAGES. Ridge and gradient boosting are carried separately rather than ensembled, so model-family disagreement stays visible. It later mattered. The action classifier is isotonic-calibrated, test ECE 0.0615 and AUC 0.7425. The threshold is the smallest floor meeting the constraint. Verification puts the direct outcome regression against the augmented estimator on the arm where history happened to match the proposed route, which is the only place a model prediction can be checked against an observed outcome.</a:t>
            </a:r>
          </a:p>
          <a:p/>
          <a:p>
            <a:r>
              <a:t>THE FIREWALL, if asked what is running today. Historical-route prediction is live and is slide 5. This work has no serving provider, no egress route, and no deployment recommendation. The two answer different questions: where similar grievances were sent, against where they would have resolved better.</a:t>
            </a:r>
          </a:p>
          <a:p/>
          <a:p>
            <a:r>
              <a:t>SOURCES. Design of record is docs/experiments/routing-outcome-model.tex, 42 pages. Appendices A to F carry the efficient influence function, Neyman orthogonality, the censoring argument and a marginal sensitivity model. He may ask whether they exist. They do. Plain-prose companion is janasunani/experiments/routing_outcome/README.md. Live path is janasunani/routing/provider.py.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THE HEADLINE. The two estimators diverge by 33 days on 2025, 30.53 against -2.35, against 2.3 days on 2024. Under correct specification they estimate the same functional. Divergence of that size is a positivity diagnostic, not a menu to choose from.</a:t>
            </a:r>
          </a:p>
          <a:p/>
          <a:p>
            <a:r>
              <a:t>ROW 3 IS THE ONE TO DWELL ON. It is the falsification that localises the failure. On the historical arm, the one arm where truth is observed, the direct estimator predicts 108.69 against an observed IPCW mean of 49.74. It is 118% wrong where it can be checked, and it was 5% wrong on 2024. AIPW down-weights the cells driving that error and lands at an effective sample of 8,291 on n=113,535.</a:t>
            </a:r>
          </a:p>
          <a:p/>
          <a:p>
            <a:r>
              <a:t>SOURCES, live 19 August refit, both under outputs/experiments/routing_outcome/. ope_val_ridge.json (n=450,567) and ope_test_ridge.json (n=113,535). Row 1 delta_direct, 24.50 and 30.53. Row 2 delta_dr, 26.77 (SE 4.04) and -2.35 (SE 3.50). Row 3 v_direct against v_dr on the historical arm, 97.84 against 93.22 then 108.69 against 49.74. Row 4 overlap.match_rate, 0.380 and 0.156. Row 5 ess over n, 87,569 and 8,291 against the respective sample sizes. Censoring is censoring_rate_of_split, 0.092 and 0.344. Governed aggregate is docs/experiments/routing-outcome-evidence-2026-08-19.json, model commit 05f50da, a DVC dependency of the benchmark bundle. Status line in docs/QUALITY_BENCHMARKS.md, section 'Routing, outcome not destination': no routing gain established.</a:t>
            </a:r>
          </a:p>
          <a:p/>
          <a:p>
            <a:r>
              <a:t>'Which estimator do you believe?' Neither, on the test year. Row 3 disqualifies the direct one. The augmented one is honest about how little support remains and cannot resolve anything at that effective sample. The test year cannot answer the question.</a:t>
            </a:r>
          </a:p>
          <a:p/>
          <a:p>
            <a:r>
              <a:t>'Is this non-replication or immature follow-up?' Not separable in this design. The snapshot is 2025-07-30, so the cohort has at most seven months against a 365-day outcome and censoring runs 3.1%, 9.2%, 34.4%. It needs a later snapshot, not a better estimator.</a:t>
            </a:r>
          </a:p>
          <a:p/>
          <a:p>
            <a:r>
              <a:t>'A different outcome model?' Boosting gives 12.40 on validation against ridge's 26.77, and 0.15 on test against -2.35. The families disagree by a factor of two on the year that looked positive and agree on zero for the year that did not. The 2024 gain was never stable.</a:t>
            </a:r>
          </a:p>
          <a:p/>
          <a:p>
            <a:r>
              <a:t>ON THE UNRESOLVED LINE. Unconfoundedness is invoked on an information set smaller than the assigning officer's; congestion and trailing destination performance are absent from the covariates. Treatment provenance is open, since dept_id and vchAllEscUser may record final state rather than initial assignment. No interference is assumed, and the design document says that assumption 'in a queueing system is false'. Route everyone to the fast office and it stops being fast. That bounds any future version of this exercise.</a:t>
            </a:r>
          </a:p>
          <a:p/>
          <a:p>
            <a:r>
              <a:t>THE CORRECTNESS FRONTIER was withdrawn separately, issue #284, pending corrected regeneration. Its augmented score was normalised over all evaluation rows before being restricted to rows carrying an observed correctness label, while the direct value used the full population. tau_star is null.</a:t>
            </a:r>
          </a:p>
          <a:p/>
          <a:p>
            <a:r>
              <a:t>WITHDRAWN, do not use: any routing time saving, including the 11 to 23 day band. Do not present it as conservative, provisional or pending. There is no estimate.</a:t>
            </a:r>
          </a:p>
          <a:p/>
          <a:p>
            <a:r>
              <a:t>DO NOT USE routing-outcome-ope-val-ridge-2026-08-13.json. Its validation match rate of 0.536 and its +20.1 belong to the withdrawn run and it sits in docs/experiments/superseded/. Quoting it to dramatise the collapse re-cites the thing we retracted.</a:t>
            </a:r>
          </a:p>
          <a:p/>
          <a:p>
            <a:r>
              <a:t>What we are NOT saying: that routing gains do not exist. Say no routing gain established. Never say routing does not work. This design on this data cannot detect one.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10.</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record has never been read</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citizen asked for, 2021 to 2025 across 30 districts. Median 19 words, mostly unique.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officer did about it. Free text on 99.87% of rows, 1.4 million distinct values.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portal counts rows</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It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number in this deck comes from reading one of those two.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CITIZEN'S TEXT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Deduplication needs every record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742432"/>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961888"/>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is learned from history</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OFFICER'S NOTES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Closing a case costs nothing</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WORK BETTER?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We built the test before we built the feature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Estimate time to disposal on every route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Ridge and gradient boosting, cross-fitted, capped at 365 days, under each historically supported department and role chain.</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Safeguard the action rate</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A calibrated classifier for whether substantive action is taken. A faster route is admissible only where that rate holds.</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Verify against outcomes we observed</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Direct outcome regression against augmented IPCW, Hajek-normalised, with censoring weights and a district-by-year cluster bootstrap.</a:t>
            </a:r>
            <a:endParaRPr lang="en-US" sz="1450"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1" name="TextBox 20"/>
          <p:cNvSpPr txBox="1"/>
          <p:nvPr/>
        </p:nvSpPr>
        <p:spPr>
          <a:xfrm>
            <a:off x="640080" y="5394960"/>
            <a:ext cx="10881360" cy="237744"/>
          </a:xfrm>
          <a:prstGeom prst="rect">
            <a:avLst/>
          </a:prstGeom>
          <a:noFill/>
        </p:spPr>
        <p:txBody>
          <a:bodyPr wrap="square" lIns="0" rIns="0" tIns="0" bIns="0">
            <a:spAutoFit/>
          </a:bodyPr>
          <a:lstStyle/>
          <a:p>
            <a:pPr algn="l"/>
            <a:r>
              <a:rPr sz="1300" b="0" i="0">
                <a:solidFill>
                  <a:srgbClr val="6C6E76"/>
                </a:solidFill>
                <a:latin typeface="Calibri"/>
              </a:rPr>
              <a:t>LIVE: predicts where similar grievances were historically sent.</a:t>
            </a:r>
          </a:p>
        </p:txBody>
      </p:sp>
      <p:sp>
        <p:nvSpPr>
          <p:cNvPr id="22" name="TextBox 21"/>
          <p:cNvSpPr txBox="1"/>
          <p:nvPr/>
        </p:nvSpPr>
        <p:spPr>
          <a:xfrm>
            <a:off x="640080" y="5632704"/>
            <a:ext cx="10881360" cy="237744"/>
          </a:xfrm>
          <a:prstGeom prst="rect">
            <a:avLst/>
          </a:prstGeom>
          <a:noFill/>
        </p:spPr>
        <p:txBody>
          <a:bodyPr wrap="square" lIns="0" rIns="0" tIns="0" bIns="0">
            <a:spAutoFit/>
          </a:bodyPr>
          <a:lstStyle/>
          <a:p>
            <a:pPr algn="l"/>
            <a:r>
              <a:rPr sz="1300" b="0" i="0">
                <a:solidFill>
                  <a:srgbClr val="6C6E76"/>
                </a:solidFill>
                <a:latin typeface="Calibri"/>
              </a:rPr>
              <a:t>RESEARCH ONLY: asks where they would have resolved better.</a:t>
            </a:r>
          </a:p>
        </p:txBody>
      </p:sp>
      <p:sp>
        <p:nvSpPr>
          <p:cNvPr id="23" name="TextBox 22"/>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A complete offline evaluation. It was never connected to live routing.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WHY IT IS NOT LIVE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Positivity failed before the second year did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The same pipeline, refit and rerun on a year it had never seen.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Direct estimate, outcome regression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Cross-fitted AIPW</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Falsification: predicting the arm actually observed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Proposed route in observed support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Effective sample as a share of 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0.19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DECISION   Withdraw the saving estimate, the correctness threshold and the routing recommendation. Keep the research offline.</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Censoring at the cut runs 9% then 34%. The 2025 cohort has seven months against a 365-day outcome, so non-replication and immaturity are not separable here.</a:t>
            </a:r>
          </a:p>
        </p:txBody>
      </p:sp>
      <p:sp>
        <p:nvSpPr>
          <p:cNvPr id="19" name="TextBox 18"/>
          <p:cNvSpPr txBox="1"/>
          <p:nvPr/>
        </p:nvSpPr>
        <p:spPr>
          <a:xfrm>
            <a:off x="640080" y="5632704"/>
            <a:ext cx="10881360" cy="237744"/>
          </a:xfrm>
          <a:prstGeom prst="rect">
            <a:avLst/>
          </a:prstGeom>
          <a:noFill/>
        </p:spPr>
        <p:txBody>
          <a:bodyPr wrap="square" lIns="0" rIns="0" tIns="0" bIns="0">
            <a:spAutoFit/>
          </a:bodyPr>
          <a:lstStyle/>
          <a:p>
            <a:pPr algn="l"/>
            <a:r>
              <a:rPr sz="1200" b="0" i="0">
                <a:solidFill>
                  <a:srgbClr val="6C6E76"/>
                </a:solidFill>
                <a:latin typeface="Calibri"/>
              </a:rPr>
              <a:t>Unresolved: assignment-field provenance, intake-time actionability, interference since routing changes the queue, mature follow-up, a governed pilot.</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We withdrew the estimate, not the research question.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