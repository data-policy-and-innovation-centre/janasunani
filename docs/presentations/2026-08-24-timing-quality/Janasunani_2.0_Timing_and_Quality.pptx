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architecture.svg" ContentType="image/svg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633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docs/ARCHITECTURE.md, docs/ROADMAP.md. Canonical counts verified on both local SQLite and cloud Postgres and must match after any migration change.</a:t>
            </a:r>
          </a:p>
          <a:p/>
          <a:p>
            <a:r>
              <a:t>Caveat: the Parquet lake reads 6,548,820 action rows against the canonical 6,556,171, a 0.11% shortfall tracked as issue #241. Use the canonical figure.</a:t>
            </a:r>
          </a:p>
          <a:p/>
          <a:p>
            <a:r>
              <a:t>DERIVED FIGURE: 162,144 is arithmetic, 1,371,288 minus the 1,209,144 that carry a closing remark. It is not separately measured. Those cases are either still open or were closed without a remark, and the record cannot distinguish the two. If pressed, say that.</a:t>
            </a:r>
          </a:p>
          <a:p/>
          <a:p>
            <a:r>
              <a:t>Two structural facts behind everything that follows: the portal has never read the grievance text (median 19 words, 61% unique), and there is no citizen key, so every row is an island.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asymmetry is the whole slide. The live path processes one grievance and can never know it duplicates another. Only the batch path compares records against each other.</a:t>
            </a:r>
          </a:p>
          <a:p/>
          <a:p>
            <a:r>
              <a:t>Duplicate matching is genuinely unavailable live, not merely unbuilt. DuplicateReview defaults to `not_indexed` with the reason 'the live submission path is not connected to a completed index'; serving/triage.py states 'duplicate matching remains slice-scoped and unavailable live'; docs/ARCHITECTURE.md records 'per-request live matching is not wired'. Do not imply a per-request duplicate check exists.</a:t>
            </a:r>
          </a:p>
          <a:p/>
          <a:p>
            <a:r>
              <a:t>Dedup figures, docs/PERFORMANCE.md section 4, Sambalpur 2024: 55,544 filings, 10,963 distinct problems, 8,560 distinct signatories, ~57 min on 2 vCPU, 16,138,623 comparison pairs. The decomposition is the argument for the index: group GOV2024999640 is 26,203 filings from ONE signatory, while DM2024854026 is 1,291 filings from 1,155. On filing counts alone those two are indistinguishable.</a:t>
            </a:r>
          </a:p>
          <a:p/>
          <a:p>
            <a:r>
              <a:t>Materialisation ~26 s at full scale, via olap/materialize.py using DuckDB.</a:t>
            </a:r>
          </a:p>
          <a:p/>
          <a:p>
            <a:r>
              <a:t>The freshness gap is by design: GET /grievance/{id} reads the transactional store and is instant; GET /history and /supervisor read the Parquet lake and lag until the next re-materialisation. Analytics never touch the transactional store.</a:t>
            </a:r>
          </a:p>
          <a:p/>
          <a:p>
            <a:r>
              <a:t>The diagram is architecture.svg in this directory, embedded as vector with a PNG fallback. Edit the SVG, re-run rsvg-convert, re-run this script.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SPEEDS. outputs/benchmark/latency.json, run 2026-08-10T23:14:58Z at git sha 24ab193, is_fake_timing false. Document path, n=20 over 10 clusters. Means: OCR 5.833, summarise 6.550, categorise 0.778, redact 0.055, detect PII 0.021, route 0.00048, triage 0.00026. Summarise plus OCR is 12.383 s of the 13.244 s mean run, 93.5%. End to end: typed p50 0.133 s (n=40), PDF p50 13.661 s (n=20). Live API warm POST median 4.44 s (n=8), cold start 19.4 s. Measured on an arm64 laptop, not the deployment box.</a:t>
            </a:r>
          </a:p>
          <a:p/>
          <a:p>
            <a:r>
              <a:t>Four stages (format classifier, page type, pii, spam) were never separately instrumented and carry n=0. They are omitted rather than shown as zero.</a:t>
            </a:r>
          </a:p>
          <a:p/>
          <a:p>
            <a:r>
              <a:t>QUALITY, with intervals.</a:t>
            </a:r>
          </a:p>
          <a:p>
            <a:r>
              <a:t>Redaction: overlap recall 0.779, coverage 0.783, exact 0.550 on 480 hand-marked gold spans across 89 pages and 50 documents. Per entity: Aadhaar 0.857 (n=7), phone 0.828 (n=29), name 0.777 (n=404), email 0.750 (n=40). Corpus scan: 0 of 55,544.</a:t>
            </a:r>
          </a:p>
          <a:p>
            <a:r>
              <a:t>Triage: n=57 held-out, accuracy 94.74% (85.63-98.19), review recall 13/13 = 100% (77.19-100), false-flag rate 3/44 = 6.82% (2.35-18.23). TF-IDF word+char beat a frozen MuRIL probe 13/13 against 9/13.</a:t>
            </a:r>
          </a:p>
          <a:p>
            <a:r>
              <a:t>Category: top-3 90.89%, top-1 46.55%, n=3,160, chronological 2024 split, exact-text-group-disjoint, macro-F1 36.5%, ECE 26.4%.</a:t>
            </a:r>
          </a:p>
          <a:p>
            <a:r>
              <a:t>Summary: critical-fact recall 65.48% over 84 facts, 8 of 26 usable unedited, residual PII in output 4/26 = 15.38%. One judge, not an officer. All four coherent Odia cases were skipped by an English-only gate.</a:t>
            </a:r>
          </a:p>
          <a:p>
            <a:r>
              <a:t>Department: top-3 79.68% / top-1 54.96% on informative categories (n=142,181); 69.04% / 45.14% across all eligible (n=208,267). Untouched 2025 test year. This measures agreement with where cases were historically sent, not jurisdictional correctness.</a:t>
            </a:r>
          </a:p>
          <a:p/>
          <a:p>
            <a:r>
              <a:t>WITHDRAWN, do not use: the in-sample crosswalk figures 60.9 / 67.5 / 72.8; PII coverage 49.6% and name 0.44; MuRIL 71.04% as a current number.</a:t>
            </a:r>
          </a:p>
          <a:p/>
          <a:p>
            <a:r>
              <a:t>If asked about routing time savings: an estimated 11 to 23 day gain held on validation 2024 and failed on the untouched 2025 test year at -2.35 days against a standard error of 3.50. It was withdrawn on 23 August, commits 879c24c and 365e3b4, and four artifacts are archived as do-not-cite. The direct and doubly-robust estimators disagree by 33 days on the test year, which is the diagnosis: no overlap to estimate 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cut this slide for time. It is the one that makes the rest credible.</a:t>
            </a:r>
          </a:p>
          <a:p/>
          <a:p>
            <a:r>
              <a:t>1. OCR ground truth was never commissioned and has no owner, issue #53. It cannot be produced by an agent, because it is the answer key an agent would be scored against.</a:t>
            </a:r>
          </a:p>
          <a:p/>
          <a:p>
            <a:r>
              <a:t>2. 824 predicted spans against 480 marked. The recogniser over-fires, and the gold set cannot separate a missed label from an over-redaction. Filed as open.</a:t>
            </a:r>
          </a:p>
          <a:p/>
          <a:p>
            <a:r>
              <a:t>3. The officer-hours figure that circulates, 201,000 to 302,000 across 1,209,144 resolved cases, is a denominator and not a saving. It is the size of the prize, not anything realised.</a:t>
            </a:r>
          </a:p>
          <a:p/>
          <a:p>
            <a:r>
              <a:t>Two more we do not claim, if asked: no gain from duplicate detection beyond the 37,299 repeats officers already confirmed, and no accuracy result for the outside option on slide 6.</a:t>
            </a:r>
          </a:p>
          <a:p/>
          <a:p>
            <a:r>
              <a:t>If someone asks why so little is claimed: because the alternative is claiming things we cannot defend, and this deck has to survive the room checking it.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provider is Sarvam. Two endpoints, billed separately: digitise at ₹0.50 a page returns text and layout; extract at ₹1.00 a page returns schema-driven fields. Both is ₹1.50. Source: janasunani/evaluation/pricing.py, checked against the Sarvam dashboard 2026-08-07. Our local pipeline is ₹0.00 a page.</a:t>
            </a:r>
          </a:p>
          <a:p/>
          <a:p>
            <a:r>
              <a:t>THE FOUR EXTRACT FIELDS, which is the 'does more' claim: grievance_category, summary, district, grievance_text. That is our OCR, categoriser and summariser in one call. janasunani/evaluation/sarvam_grievance_schema.py, schema v1, pinned so a later edit cannot silently move a headline number. docs/DELIVERY.md:163: 'our pipeline has no equivalent'.</a:t>
            </a:r>
          </a:p>
          <a:p/>
          <a:p>
            <a:r>
              <a:t>LANGUAGE. Sarvam Vision lists all 22 scheduled languages plus English, Odia among them. There is also a separate transliteration API for romanized Odia (od-IN), which we do not solve at all today. Our own summariser skipped all four coherent Odia cases through an English-only gate, and non-English text is downgraded to Uncategorized.</a:t>
            </a:r>
          </a:p>
          <a:p/>
          <a:p>
            <a:r>
              <a:t>WHAT WE ACTUALLY RAN. Two runs, docs/evidence/sarvam_cached_benchmark.json. A 5-page validation (₹7.50) and a 300-page run that died at 65 pages on credit exhaustion, 3 HTTP 402s, 7 job failures. 61 pages paired and scored in total.</a:t>
            </a:r>
          </a:p>
          <a:p/>
          <a:p>
            <a:r>
              <a:t>WHAT WE FOUND. Normalised exact-text divergence 1.000 on both runs: the two systems differed on every single page. Sarvam returns more characters, ratio 1.2433 then 1.3345. Neither fact is an accuracy result. Divergence says they disagree, never who is right.</a:t>
            </a:r>
          </a:p>
          <a:p/>
          <a:p>
            <a:r>
              <a:t>WHY THERE IS NO ACCURACY NUMBER. Category accuracy was the declared primary outcome and came back null: the sample carried no gold labels. Separately, a schema bug returned HTTP 400 on every extract submission until 2026-08-09, so the one arm holding real ground truth produced nothing. Every test mocked the transport, so no test could see the 400.</a:t>
            </a:r>
          </a:p>
          <a:p/>
          <a:p>
            <a:r>
              <a:t>NOT MEASURED, do not claim: OCR accuracy, category accuracy, summary quality, latency (stated in four places), actual billed cost (every rupee figure is list price), observed language split, handwritten versus printed split.</a:t>
            </a:r>
          </a:p>
          <a:p/>
          <a:p>
            <a:r>
              <a:t>GOVERNANCE. Trust tier authorized-external. Authorisation is a GoO-Sarvam MoU with sign-off from the Additional Chief Secretary, Electronics &amp; IT, accepted 2026-08-07, on the basis that no state statute currently governs the transfer. All three provider controls remain UNVERIFIED: retention terms, encryption in transit, encryption at rest. Authorisation and verification are recorded separately on purpose. One module may make the call, janasunani/egress/, every attempt is audit-logged, and a kill switch falls back to local pytesseract.</a:t>
            </a:r>
          </a:p>
          <a:p/>
          <a:p>
            <a:r>
              <a:t>COST AT SCALE, projected list price: ₹48,000 to digitise the 96,469-page English corpus, ₹145,000 for both endpoints, ₹8,050 to push 1.37M subjects through the 105B text model. At 10 requests a minute, which does not rise with the plan tier, the full corpus is roughly ten days of continuous calling. It is a measurement instrument, not a backfill path. Do not quote ₹700; that was priced on the withdrawn 30B model.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the limits, not a summary.</a:t>
            </a:r>
          </a:p>
          <a:p/>
          <a:p>
            <a:r>
              <a:t>What we are not claiming: no officer minutes saved, no faster resolution, no satisfaction improvement, no accuracy figure confirmed by an officer, no redaction precision, no deduplication increment, no routing gain.</a:t>
            </a:r>
          </a:p>
          <a:p/>
          <a:p>
            <a:r>
              <a:t>Nearly every effect worth proving is blocked on a log line or a timer, not on a model.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architectur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2148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BRIEFING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E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Janasunani 2.0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444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works, how fast it runs, and how good it is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2926080" cy="0"/>
          </a:xfrm>
          <a:prstGeom prst="line">
            <a:avLst/>
          </a:prstGeom>
          <a:noFill/>
          <a:ln w="12700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44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August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1.37 million grievances, one question asked of them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i="1" dirty="0">
                <a:solidFill>
                  <a:srgbClr val="444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dated, geocoded record of what is going wrong across thirty districts.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50" b="1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filed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017520" y="2377440"/>
            <a:ext cx="7315200" cy="621792"/>
          </a:xfrm>
          <a:prstGeom prst="rect">
            <a:avLst/>
          </a:prstGeom>
          <a:solidFill>
            <a:srgbClr val="7A1F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154680" y="237744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1,371,288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50" b="1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with a remark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3017520" y="3383280"/>
            <a:ext cx="6450235" cy="621792"/>
          </a:xfrm>
          <a:prstGeom prst="rect">
            <a:avLst/>
          </a:prstGeom>
          <a:solidFill>
            <a:srgbClr val="9A9CA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154680" y="3383280"/>
            <a:ext cx="61759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1,209,144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50" b="1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closing remark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017520" y="4389120"/>
            <a:ext cx="1234440" cy="621792"/>
          </a:xfrm>
          <a:prstGeom prst="rect">
            <a:avLst/>
          </a:prstGeom>
          <a:solidFill>
            <a:srgbClr val="1E1F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154680" y="438912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162,144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583387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reports how many cases are open and how many are closed. It has never read what the citizen wrote.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C3A3CA48-F2C9-4CDD-B1FA-FA1C5C78F24A}"/>
              </a:ext>
            </a:extLst>
          </p:cNvPr>
          <p:cNvSpPr/>
          <p:nvPr/>
        </p:nvSpPr>
        <p:spPr>
          <a:xfrm>
            <a:off x="1594579" y="517261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6,556,171 action events · 30 districts · 427 blocks · 2021 to 2025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grievance, or all of them at once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  <p:pic>
        <p:nvPicPr>
          <p:cNvPr id="15" name="Picture 14" descr="architectur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1901952"/>
            <a:ext cx="10881360" cy="382547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5870448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7A1F2B"/>
                </a:solidFill>
                <a:latin typeface="Calibri"/>
              </a:rPr>
              <a:t>The live path sees one grievance. Only the batch path knows that 55,544 filings are 10,963 distinct problems.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fast, and how good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1847088"/>
          <a:ext cx="10881360" cy="2889504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49377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 marL="128016" marR="91440" marT="36576" marB="36576">
                    <a:solidFill>
                      <a:srgbClr val="7A1F2B"/>
                    </a:solidFill>
                    <a:lnL w="6350" cap="flat" cmpd="sng" algn="ctr">
                      <a:solidFill>
                        <a:srgbClr val="7A1F2B"/>
                      </a:solidFill>
                    </a:lnL>
                    <a:lnR w="6350" cap="flat" cmpd="sng" algn="ctr">
                      <a:solidFill>
                        <a:srgbClr val="7A1F2B"/>
                      </a:solidFill>
                    </a:lnR>
                    <a:lnT w="6350" cap="flat" cmpd="sng" algn="ctr">
                      <a:solidFill>
                        <a:srgbClr val="7A1F2B"/>
                      </a:solidFill>
                    </a:lnT>
                    <a:lnB w="6350" cap="flat" cmpd="sng" algn="ctr">
                      <a:solidFill>
                        <a:srgbClr val="7A1F2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fast</a:t>
                      </a:r>
                    </a:p>
                  </a:txBody>
                  <a:tcPr anchor="ctr" marL="128016" marR="91440" marT="36576" marB="36576">
                    <a:solidFill>
                      <a:srgbClr val="7A1F2B"/>
                    </a:solidFill>
                    <a:lnL w="6350" cap="flat" cmpd="sng" algn="ctr">
                      <a:solidFill>
                        <a:srgbClr val="7A1F2B"/>
                      </a:solidFill>
                    </a:lnL>
                    <a:lnR w="6350" cap="flat" cmpd="sng" algn="ctr">
                      <a:solidFill>
                        <a:srgbClr val="7A1F2B"/>
                      </a:solidFill>
                    </a:lnR>
                    <a:lnT w="6350" cap="flat" cmpd="sng" algn="ctr">
                      <a:solidFill>
                        <a:srgbClr val="7A1F2B"/>
                      </a:solidFill>
                    </a:lnT>
                    <a:lnB w="6350" cap="flat" cmpd="sng" algn="ctr">
                      <a:solidFill>
                        <a:srgbClr val="7A1F2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good</a:t>
                      </a:r>
                    </a:p>
                  </a:txBody>
                  <a:tcPr anchor="ctr" marL="128016" marR="91440" marT="36576" marB="36576">
                    <a:solidFill>
                      <a:srgbClr val="7A1F2B"/>
                    </a:solidFill>
                    <a:lnL w="6350" cap="flat" cmpd="sng" algn="ctr">
                      <a:solidFill>
                        <a:srgbClr val="7A1F2B"/>
                      </a:solidFill>
                    </a:lnL>
                    <a:lnR w="6350" cap="flat" cmpd="sng" algn="ctr">
                      <a:solidFill>
                        <a:srgbClr val="7A1F2B"/>
                      </a:solidFill>
                    </a:lnR>
                    <a:lnT w="6350" cap="flat" cmpd="sng" algn="ctr">
                      <a:solidFill>
                        <a:srgbClr val="7A1F2B"/>
                      </a:solidFill>
                    </a:lnT>
                    <a:lnB w="6350" cap="flat" cmpd="sng" algn="ctr">
                      <a:solidFill>
                        <a:srgbClr val="7A1F2B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E1F24"/>
                          </a:solidFill>
                          <a:latin typeface="Calibri"/>
                        </a:rPr>
                        <a:t>Read the page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5.8 s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not measured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E1F24"/>
                          </a:solidFill>
                          <a:latin typeface="Calibri"/>
                        </a:rPr>
                        <a:t>Hide personal details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0.06 s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78% of marked items found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E1F24"/>
                          </a:solidFill>
                          <a:latin typeface="Calibri"/>
                        </a:rPr>
                        <a:t>Flag for officer review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under 0.01 s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caught 13 of 13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E1F24"/>
                          </a:solidFill>
                          <a:latin typeface="Calibri"/>
                        </a:rPr>
                        <a:t>Sort into a category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0.8 s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right one in the top three, 91%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E1F24"/>
                          </a:solidFill>
                          <a:latin typeface="Calibri"/>
                        </a:rPr>
                        <a:t>Draft a summary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6.6 s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8 of 26 usable as they stand</a:t>
                      </a:r>
                    </a:p>
                  </a:txBody>
                  <a:tcPr anchor="ctr" marL="128016" marR="91440" marT="36576" marB="36576">
                    <a:solidFill>
                      <a:srgbClr val="FFFFFF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E1F24"/>
                          </a:solidFill>
                          <a:latin typeface="Calibri"/>
                        </a:rPr>
                        <a:t>Suggest a department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under 0.01 s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64D"/>
                          </a:solidFill>
                          <a:latin typeface="Calibri"/>
                        </a:rPr>
                        <a:t>right one in the top three, 80%</a:t>
                      </a:r>
                    </a:p>
                  </a:txBody>
                  <a:tcPr anchor="ctr" marL="128016" marR="91440" marT="36576" marB="36576">
                    <a:solidFill>
                      <a:srgbClr val="F2F2F2"/>
                    </a:solidFill>
                    <a:lnL w="6350" cap="flat" cmpd="sng" algn="ctr">
                      <a:solidFill>
                        <a:srgbClr val="DDDDDD"/>
                      </a:solidFill>
                    </a:lnL>
                    <a:lnR w="6350" cap="flat" cmpd="sng" algn="ctr">
                      <a:solidFill>
                        <a:srgbClr val="DDDDDD"/>
                      </a:solidFill>
                    </a:lnR>
                    <a:lnT w="6350" cap="flat" cmpd="sng" algn="ctr">
                      <a:solidFill>
                        <a:srgbClr val="DDDDDD"/>
                      </a:solidFill>
                    </a:lnT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0080" y="513892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1F24"/>
                </a:solidFill>
                <a:latin typeface="Calibri"/>
              </a:rPr>
              <a:t>0.13 s typed end to end     ·     13.7 s scanned end to end     ·     0 of 55,544 records kept a phone number, Aadhaar or 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50992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7A1F2B"/>
                </a:solidFill>
                <a:latin typeface="Calibri"/>
              </a:rPr>
              <a:t>Reading the page and drafting the summary are 94% of the time. Everything else is close to free.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9904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C6E76"/>
                </a:solidFill>
                <a:latin typeface="Calibri"/>
              </a:rPr>
              <a:t>Speeds are means on a scanned document, n=20. Quality figures come from held-out test sets. Sample sizes vary by stage and are in the notes.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cannot measure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280160" y="21945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5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say how accurately it reads a page.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7406640" y="2212848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 w="12700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571232" y="22128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hand-typed a set of pages to check against. No system can be scored, ours or anyone else's.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881360" cy="0"/>
          </a:xfrm>
          <a:prstGeom prst="line">
            <a:avLst/>
          </a:prstGeom>
          <a:noFill/>
          <a:ln w="9525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280160" y="3291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5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say how often redaction hides too much.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7406640" y="3310128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 w="12700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571232" y="331012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marked what should be hidden. We never marked what should not, so a miss and an over-redaction look the same.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10881360" cy="0"/>
          </a:xfrm>
          <a:prstGeom prst="line">
            <a:avLst/>
          </a:prstGeom>
          <a:noFill/>
          <a:ln w="9525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280160" y="43891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5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say it saves officer time.</a:t>
            </a:r>
            <a:endParaRPr lang="en-US" sz="1850" dirty="0"/>
          </a:p>
        </p:txBody>
      </p:sp>
      <p:sp>
        <p:nvSpPr>
          <p:cNvPr id="16" name="Shape 14"/>
          <p:cNvSpPr/>
          <p:nvPr/>
        </p:nvSpPr>
        <p:spPr>
          <a:xfrm>
            <a:off x="7406640" y="4407408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 w="12700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 b="1"/>
          </a:p>
        </p:txBody>
      </p:sp>
      <p:sp>
        <p:nvSpPr>
          <p:cNvPr id="17" name="Text 15"/>
          <p:cNvSpPr/>
          <p:nvPr/>
        </p:nvSpPr>
        <p:spPr>
          <a:xfrm>
            <a:off x="7571232" y="44074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 to 15 minute baseline is self-reported and was never timed. No trial has been run.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i="1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was produced by us, on our own data. None of it has been checked by an officer.</a:t>
            </a:r>
            <a:endParaRPr lang="en-US" sz="1650" b="1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OUTSIDE OPTION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more. We have not shown it does better.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179321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kern="0" spc="15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663953"/>
            <a:ext cx="91440" cy="91440"/>
          </a:xfrm>
          <a:prstGeom prst="rect">
            <a:avLst/>
          </a:prstGeom>
          <a:solidFill>
            <a:srgbClr val="7A1F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32688" y="2545081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at ₹1.50 a page returns the text, a category, a one-line summary and the district.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166873"/>
            <a:ext cx="91440" cy="91440"/>
          </a:xfrm>
          <a:prstGeom prst="rect">
            <a:avLst/>
          </a:prstGeom>
          <a:solidFill>
            <a:srgbClr val="7A1F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932688" y="3048001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22 Indian languages including Odia. Ours reads English.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972025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kern="0" spc="15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established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5532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it sends citizen documents outside our control.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8EA7243F-3A2E-791F-90D8-11B33EB858C8}"/>
              </a:ext>
            </a:extLst>
          </p:cNvPr>
          <p:cNvSpPr/>
          <p:nvPr/>
        </p:nvSpPr>
        <p:spPr>
          <a:xfrm>
            <a:off x="632059" y="3571929"/>
            <a:ext cx="91440" cy="91440"/>
          </a:xfrm>
          <a:prstGeom prst="rect">
            <a:avLst/>
          </a:prstGeom>
          <a:solidFill>
            <a:srgbClr val="7A1F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9F020A29-8C39-EAFD-C8B8-DBAB2A5F634C}"/>
              </a:ext>
            </a:extLst>
          </p:cNvPr>
          <p:cNvSpPr/>
          <p:nvPr/>
        </p:nvSpPr>
        <p:spPr>
          <a:xfrm>
            <a:off x="924667" y="3453057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handwriting. Ours does not.</a:t>
            </a:r>
            <a:endParaRPr lang="en-US" sz="1800" dirty="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25210A73-5BE3-463C-04D8-421B6ACD8FD7}"/>
              </a:ext>
            </a:extLst>
          </p:cNvPr>
          <p:cNvSpPr/>
          <p:nvPr/>
        </p:nvSpPr>
        <p:spPr>
          <a:xfrm>
            <a:off x="632059" y="4458260"/>
            <a:ext cx="91440" cy="91440"/>
          </a:xfrm>
          <a:prstGeom prst="rect">
            <a:avLst/>
          </a:prstGeom>
          <a:solidFill>
            <a:srgbClr val="7A1F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A6157D09-2797-0B89-7747-CE5934045003}"/>
              </a:ext>
            </a:extLst>
          </p:cNvPr>
          <p:cNvSpPr/>
          <p:nvPr/>
        </p:nvSpPr>
        <p:spPr>
          <a:xfrm>
            <a:off x="924667" y="433938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 61 pages we compared, the two systems produced different text.</a:t>
            </a:r>
            <a:endParaRPr lang="en-US" sz="180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16BEB2B2-75AE-B017-BEB6-8D7DF2D87DD6}"/>
              </a:ext>
            </a:extLst>
          </p:cNvPr>
          <p:cNvSpPr/>
          <p:nvPr/>
        </p:nvSpPr>
        <p:spPr>
          <a:xfrm>
            <a:off x="632059" y="4961180"/>
            <a:ext cx="91440" cy="91440"/>
          </a:xfrm>
          <a:prstGeom prst="rect">
            <a:avLst/>
          </a:prstGeom>
          <a:solidFill>
            <a:srgbClr val="7A1F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E4B7C2E5-1571-8403-3E23-54FAD9D0D9A0}"/>
              </a:ext>
            </a:extLst>
          </p:cNvPr>
          <p:cNvSpPr/>
          <p:nvPr/>
        </p:nvSpPr>
        <p:spPr>
          <a:xfrm>
            <a:off x="924667" y="484230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 accuracy result. Nobody made a hand-typed answer 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640080" y="3794760"/>
            <a:ext cx="2926080" cy="0"/>
          </a:xfrm>
          <a:prstGeom prst="line">
            <a:avLst/>
          </a:prstGeom>
          <a:noFill/>
          <a:ln w="12700">
            <a:solidFill>
              <a:srgbClr val="D6D8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2793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44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datapolicyinnovationcentre.org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Policy and Innovation Centre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0350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Odisha  ×  University of Chicago Trust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876</Words>
  <Application>Microsoft Office PowerPoint</Application>
  <PresentationFormat>Widescreen</PresentationFormat>
  <Paragraphs>133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Janasunani 2.0 — technical briefing</dc:title>
  <dc:subject>PptxGenJS Presentation</dc:subject>
  <dc:creator>Data, Policy and Innovation Centre</dc:creator>
  <cp:lastModifiedBy>Urmila Chatterjee</cp:lastModifiedBy>
  <cp:revision>27</cp:revision>
  <dcterms:created xsi:type="dcterms:W3CDTF">2026-08-18T10:00:33Z</dcterms:created>
  <dcterms:modified xsi:type="dcterms:W3CDTF">2026-08-18T10:55:31Z</dcterms:modified>
</cp:coreProperties>
</file>