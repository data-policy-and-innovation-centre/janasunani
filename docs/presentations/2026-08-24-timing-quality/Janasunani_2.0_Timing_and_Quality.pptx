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must match after any migration change.</a:t>
            </a:r>
          </a:p>
          <a:p/>
          <a:p>
            <a:r>
              <a:t>Caveat: the Parquet lake reads 6,548,820 action rows against the canonical 6,556,171, a 0.11% shortfall tracked as issue #241. Use the canonical figure.</a:t>
            </a:r>
          </a:p>
          <a:p/>
          <a:p>
            <a:r>
              <a:t>DERIVED FIGURE: 162,144 is arithmetic, 1,371,288 minus the 1,209,144 that carry a closing remark. It is not separately measured. Those cases are either still open or were closed without a remark, and the record cannot distinguish the two. If pressed, say that.</a:t>
            </a:r>
          </a:p>
          <a:p/>
          <a:p>
            <a:r>
              <a:t>Two structural facts behind everything that follows: the portal has never read the grievance text (median 19 words, 61% unique), and there is no citizen key, so every row is an island.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ROW 3, THE OUTCOME MODEL. Design of record is docs/experiments/routing-outcome-model.tex, 42 pages. It asks a different question from the rows above: not where a grievance was sent, but whether sending it elsewhere would have closed it faster without losing whether action was taken.</a:t>
            </a:r>
          </a:p>
          <a:p>
            <a:r>
              <a:t>  Treatment is the department and the complete role chain chosen together at assignment, the intention to route. Outcome is days to closure capped at 365, with inverse-probability censoring weights so cases still open at the snapshot do not silently drop out. Two estimators are reported separately: a direct outcome model and an augmented, doubly-robust one.</a:t>
            </a:r>
          </a:p>
          <a:p>
            <a:r>
              <a:t>  Result: validation 2024 gave +26.77 days (SE 4.04). The untouched 2025 test year gave -2.35 (SE 3.50). No routing gain is established and no recommendation is published.</a:t>
            </a:r>
          </a:p>
          <a:p>
            <a:r>
              <a:t>  Why it failed, if pushed. Positivity breaks: on the test year only 15.6% of cases have the recommended route anywhere in observed support, and effective sample size falls to 7% of n, so the direct estimator is extrapolating into empty cells. The design document also states plainly that its no-interference assumption 'in a queueing system is false' — route everyone to the fast office and it stops being fast. Unconfoundedness is invoked on an information set smaller than the officer's, missing congestion and trailing destination performance. And the test year is a seven-month window being asked about a 365-day outcome, so replication and truncation cannot be separated.</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And any routing time saving: an estimated 11 to 23 day gain held on validation 2024 and failed on the untouched 2025 test year at -2.35 days against a standard error of 3.50. Withdrawn 23 August, commits 879c24c and 365e3b4.</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6.</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How it works, how fast it runs, and how good it is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1.37 million grievances, one question asked of them</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A dated, geocoded record of what is going wrong across thirty districts.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Complaints filed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1,371,288</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Closed with a remark</a:t>
            </a:r>
            <a:endParaRPr lang="en-US" sz="1450" dirty="0"/>
          </a:p>
        </p:txBody>
      </p:sp>
      <p:sp>
        <p:nvSpPr>
          <p:cNvPr id="9" name="Shape 7"/>
          <p:cNvSpPr/>
          <p:nvPr/>
        </p:nvSpPr>
        <p:spPr>
          <a:xfrm>
            <a:off x="3017520" y="3383280"/>
            <a:ext cx="6450235" cy="621792"/>
          </a:xfrm>
          <a:prstGeom prst="rect">
            <a:avLst/>
          </a:prstGeom>
          <a:solidFill>
            <a:srgbClr val="9A9CA3"/>
          </a:solidFill>
          <a:ln/>
        </p:spPr>
        <p:txBody>
          <a:bodyPr/>
          <a:lstStyle/>
          <a:p>
            <a:endParaRPr lang="en-IN"/>
          </a:p>
        </p:txBody>
      </p:sp>
      <p:sp>
        <p:nvSpPr>
          <p:cNvPr id="10" name="Text 8"/>
          <p:cNvSpPr/>
          <p:nvPr/>
        </p:nvSpPr>
        <p:spPr>
          <a:xfrm>
            <a:off x="3154680" y="3383280"/>
            <a:ext cx="6175915"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1,209,144</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No closing remark</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68580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162,144</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portal reports how many cases are open and how many are closed. It has never read what the citizen wrote.</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6,556,171 action events · 30 districts · 427 blocks · 2021 to 2025</a:t>
            </a:r>
            <a:endParaRPr lang="en-US" sz="12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HOW IT WORKS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One grievance, or all of them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How fast, and how good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847088"/>
          <a:ext cx="10881360" cy="2889504"/>
        </p:xfrm>
        <a:graphic>
          <a:graphicData uri="http://schemas.openxmlformats.org/drawingml/2006/table">
            <a:tbl>
              <a:tblPr/>
              <a:tblGrid>
                <a:gridCol w="3657600"/>
                <a:gridCol w="2286000"/>
                <a:gridCol w="493776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fast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good, and on how many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Read the page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never measured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Hide personal details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found 78% of the items we marked, on 480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Flag for officer review</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caught all 13 needing review, out of 57 cases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Sort into a category</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its top three, 91% of 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Draft a summary</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 drafts read, 8 usable without an edit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 a department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its top three, 80% of 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5138928"/>
            <a:ext cx="10881360" cy="310896"/>
          </a:xfrm>
          <a:prstGeom prst="rect">
            <a:avLst/>
          </a:prstGeom>
          <a:noFill/>
        </p:spPr>
        <p:txBody>
          <a:bodyPr wrap="square" lIns="0" rIns="0" tIns="0" bIns="0">
            <a:spAutoFit/>
          </a:bodyPr>
          <a:lstStyle/>
          <a:p>
            <a:pPr algn="l"/>
            <a:r>
              <a:rPr sz="1500" b="0" i="0">
                <a:solidFill>
                  <a:srgbClr val="1E1F24"/>
                </a:solidFill>
                <a:latin typeface="Calibri"/>
              </a:rPr>
              <a:t>0.13 s typed end to end     ·     13.7 s scanned end to end     ·     0 of 55,544 records kept a phone number, Aadhaar or PAN</a:t>
            </a:r>
          </a:p>
        </p:txBody>
      </p:sp>
      <p:sp>
        <p:nvSpPr>
          <p:cNvPr id="17" name="TextBox 16"/>
          <p:cNvSpPr txBox="1"/>
          <p:nvPr/>
        </p:nvSpPr>
        <p:spPr>
          <a:xfrm>
            <a:off x="640080" y="5650992"/>
            <a:ext cx="10881360" cy="384048"/>
          </a:xfrm>
          <a:prstGeom prst="rect">
            <a:avLst/>
          </a:prstGeom>
          <a:noFill/>
        </p:spPr>
        <p:txBody>
          <a:bodyPr wrap="square" lIns="0" rIns="0" tIns="0" bIns="0">
            <a:spAutoFit/>
          </a:bodyPr>
          <a:lstStyle/>
          <a:p>
            <a:pPr algn="l"/>
            <a:r>
              <a:rPr sz="1700" b="1" i="0">
                <a:solidFill>
                  <a:srgbClr val="7A1F2B"/>
                </a:solidFill>
                <a:latin typeface="Calibri"/>
              </a:rPr>
              <a:t>Reading the page and drafting the summary are 94% of the time. Everything else is close to free.</a:t>
            </a:r>
          </a:p>
        </p:txBody>
      </p:sp>
      <p:sp>
        <p:nvSpPr>
          <p:cNvPr id="18" name="TextBox 17"/>
          <p:cNvSpPr txBox="1"/>
          <p:nvPr/>
        </p:nvSpPr>
        <p:spPr>
          <a:xfrm>
            <a:off x="640080" y="6089904"/>
            <a:ext cx="10881360" cy="292608"/>
          </a:xfrm>
          <a:prstGeom prst="rect">
            <a:avLst/>
          </a:prstGeom>
          <a:noFill/>
        </p:spPr>
        <p:txBody>
          <a:bodyPr wrap="square" lIns="0" rIns="0" tIns="0" bIns="0">
            <a:spAutoFit/>
          </a:bodyPr>
          <a:lstStyle/>
          <a:p>
            <a:pPr algn="l"/>
            <a:r>
              <a:rPr sz="1200" b="0" i="1">
                <a:solidFill>
                  <a:srgbClr val="6C6E76"/>
                </a:solidFill>
                <a:latin typeface="Calibri"/>
              </a:rPr>
              <a:t>Speeds are means on one scanned document, n=20. Categories are lopsided: always guessing the three biggest scores 84%, so the model adds 7 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ship, and what we could not show</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A trained model</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Off by default. When it cannot answer it falls back to the learned keys rather than guessing.</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Would another route be faster?</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We built a full causal model to test it. It showed a gain on one year and nothing on the next, so we withdrew the estimate.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