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must match after any migration change.</a:t>
            </a:r>
          </a:p>
          <a:p/>
          <a:p>
            <a:r>
              <a:t>Caveat: the Parquet lake reads 6,548,820 action rows against the canonical 6,556,171, a 0.11% shortfall tracked as issue #241. Use the canonical figure.</a:t>
            </a:r>
          </a:p>
          <a:p/>
          <a:p>
            <a:r>
              <a:t>DERIVED FIGURE: 162,144 is arithmetic, 1,371,288 minus the 1,209,144 that carry a closing remark. It is not separately measured. Those cases are either still open or were closed without a remark, and the record cannot distinguish the two. If pressed, say that.</a:t>
            </a:r>
          </a:p>
          <a:p/>
          <a:p>
            <a:r>
              <a:t>Two structural facts behind everything that follows: the portal has never read the grievance text (median 19 words, 61% unique), and there is no citizen key, so every row is an island.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How it works, how fast it runs, and how good it is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one question asked of them</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A dated, geocoded record of what is going wrong across thirty districts.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Complaints filed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1,371,288</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Closed with a remark</a:t>
            </a:r>
            <a:endParaRPr lang="en-US" sz="1450" dirty="0"/>
          </a:p>
        </p:txBody>
      </p:sp>
      <p:sp>
        <p:nvSpPr>
          <p:cNvPr id="9" name="Shape 7"/>
          <p:cNvSpPr/>
          <p:nvPr/>
        </p:nvSpPr>
        <p:spPr>
          <a:xfrm>
            <a:off x="3017520" y="3383280"/>
            <a:ext cx="6450235" cy="621792"/>
          </a:xfrm>
          <a:prstGeom prst="rect">
            <a:avLst/>
          </a:prstGeom>
          <a:solidFill>
            <a:srgbClr val="9A9CA3"/>
          </a:solidFill>
          <a:ln/>
        </p:spPr>
        <p:txBody>
          <a:bodyPr/>
          <a:lstStyle/>
          <a:p>
            <a:endParaRPr lang="en-IN"/>
          </a:p>
        </p:txBody>
      </p:sp>
      <p:sp>
        <p:nvSpPr>
          <p:cNvPr id="10" name="Text 8"/>
          <p:cNvSpPr/>
          <p:nvPr/>
        </p:nvSpPr>
        <p:spPr>
          <a:xfrm>
            <a:off x="3154680" y="3383280"/>
            <a:ext cx="617591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1,209,144</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No closing remark</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580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162,144</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portal reports how many cases are open and how many are closed. It has never read what the citizen wrote.</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6,556,171 action events · 30 districts · 427 blocks · 2021 to 2025</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One grievance, or all of them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fast, and how good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847088"/>
          <a:ext cx="10881360" cy="2889504"/>
        </p:xfrm>
        <a:graphic>
          <a:graphicData uri="http://schemas.openxmlformats.org/drawingml/2006/table">
            <a:tbl>
              <a:tblPr/>
              <a:tblGrid>
                <a:gridCol w="3657600"/>
                <a:gridCol w="2286000"/>
                <a:gridCol w="493776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fast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good, and on how many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Read the page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never measured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Hide personal details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found 78% of the items we marked, on 480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Flag for officer review</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caught all 13 needing review, out of 57 cases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Sort into a category</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91% of 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Draft a summary</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 drafts read, 8 usable without an edit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 a department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80% of 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5138928"/>
            <a:ext cx="10881360" cy="310896"/>
          </a:xfrm>
          <a:prstGeom prst="rect">
            <a:avLst/>
          </a:prstGeom>
          <a:noFill/>
        </p:spPr>
        <p:txBody>
          <a:bodyPr wrap="square" lIns="0" rIns="0" tIns="0" bIns="0">
            <a:spAutoFit/>
          </a:bodyPr>
          <a:lstStyle/>
          <a:p>
            <a:pPr algn="l"/>
            <a:r>
              <a:rPr sz="1500" b="0" i="0">
                <a:solidFill>
                  <a:srgbClr val="1E1F24"/>
                </a:solidFill>
                <a:latin typeface="Calibri"/>
              </a:rPr>
              <a:t>0.13 s typed end to end     ·     13.7 s scanned end to end     ·     0 of 55,544 records kept a phone number, Aadhaar or PAN</a:t>
            </a:r>
          </a:p>
        </p:txBody>
      </p:sp>
      <p:sp>
        <p:nvSpPr>
          <p:cNvPr id="17" name="TextBox 16"/>
          <p:cNvSpPr txBox="1"/>
          <p:nvPr/>
        </p:nvSpPr>
        <p:spPr>
          <a:xfrm>
            <a:off x="640080" y="5650992"/>
            <a:ext cx="10881360" cy="384048"/>
          </a:xfrm>
          <a:prstGeom prst="rect">
            <a:avLst/>
          </a:prstGeom>
          <a:noFill/>
        </p:spPr>
        <p:txBody>
          <a:bodyPr wrap="square" lIns="0" rIns="0" tIns="0" bIns="0">
            <a:spAutoFit/>
          </a:bodyPr>
          <a:lstStyle/>
          <a:p>
            <a:pPr algn="l"/>
            <a:r>
              <a:rPr sz="1700" b="1" i="0">
                <a:solidFill>
                  <a:srgbClr val="7A1F2B"/>
                </a:solidFill>
                <a:latin typeface="Calibri"/>
              </a:rPr>
              <a:t>Reading the page and drafting the summary are 94% of the time. Everything else is close to free.</a:t>
            </a:r>
          </a:p>
        </p:txBody>
      </p:sp>
      <p:sp>
        <p:nvSpPr>
          <p:cNvPr id="18" name="TextBox 17"/>
          <p:cNvSpPr txBox="1"/>
          <p:nvPr/>
        </p:nvSpPr>
        <p:spPr>
          <a:xfrm>
            <a:off x="640080" y="6089904"/>
            <a:ext cx="10881360" cy="292608"/>
          </a:xfrm>
          <a:prstGeom prst="rect">
            <a:avLst/>
          </a:prstGeom>
          <a:noFill/>
        </p:spPr>
        <p:txBody>
          <a:bodyPr wrap="square" lIns="0" rIns="0" tIns="0" bIns="0">
            <a:spAutoFit/>
          </a:bodyPr>
          <a:lstStyle/>
          <a:p>
            <a:pPr algn="l"/>
            <a:r>
              <a:rPr sz="1200" b="0" i="1">
                <a:solidFill>
                  <a:srgbClr val="6C6E76"/>
                </a:solidFill>
                <a:latin typeface="Calibri"/>
              </a:rPr>
              <a:t>Speeds are means on one scanned document, n=20. Categories are lopsided: always guessing the three biggest scores 84%, so the model adds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ship, and what we could not show</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We tested whether a different department would have closed the case faster.</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