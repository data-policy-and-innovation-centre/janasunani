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to 8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11.</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THE OUTCOME MODEL IS NOT THIS SLIDE. Everything here predicts where a grievance was sent. Whether sending it elsewhere would have resolved it better is slides 7 and 8, it is research-only, and no serving provider reads it. Keep the two apart when answering.</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Any routing time saving is withdrawn too; slide 8 carries that warning.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It is on the unresolved list at slide 8, and one reason the estimate there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is the design. The next one is why it is not live. Do not merge them.</a:t>
            </a:r>
          </a:p>
          <a:p/>
          <a:p>
            <a:r>
              <a:t>TREATMENT is the department and the complete role chain chosen jointly at assignment, the intention to route rather than the final state. ESTIMAND is capped RMST at 365 days.</a:t>
            </a:r>
          </a:p>
          <a:p/>
          <a:p>
            <a:r>
              <a:t>THE CONSTRAINT IS THE POINT, and it is what slide 6 was for. The objective minimises expected capped duration SUBJECT TO the action rate holding at its historical level. It is never conditional on the realised outcome, which would condition on a post-treatment variable. Unconstrained duration minimisation selects for closing cases untouched, because closure is an action the officer controls directly. Design document, section 2: 'The first instinct is to minimise time to closure. This fails, instructively.'</a:t>
            </a:r>
          </a:p>
          <a:p/>
          <a:p>
            <a:r>
              <a:t>THE THREE STAGES. Ridge and gradient boosting are carried separately rather than ensembled, so model-family disagreement stays visible. It later mattered. The action classifier is isotonic-calibrated, test ECE 0.0615 and AUC 0.7425. The threshold is the smallest floor meeting the constraint. Verification puts the direct outcome regression against the augmented estimator on the arm where history happened to match the proposed route, which is the only place a model prediction can be checked against an observed outcome.</a:t>
            </a:r>
          </a:p>
          <a:p/>
          <a:p>
            <a:r>
              <a:t>THE FIREWALL, if asked what is running today. Historical-route prediction is live and is slide 5. This work has no serving provider, no egress route, and no deployment recommendation. The two answer different questions: where similar grievances were sent, against where they would have resolved better.</a:t>
            </a:r>
          </a:p>
          <a:p/>
          <a:p>
            <a:r>
              <a:t>SOURCES. Design of record is docs/experiments/routing-outcome-model.tex, 42 pages. Appendices A to F carry the efficient influence function, Neyman orthogonality, the censoring argument and a marginal sensitivity model. He may ask whether they exist. They do. Plain-prose companion is janasunani/experiments/routing_outcome/README.md. Live path is janasunani/routing/provider.py.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THE HEADLINE. The two estimators diverge by 33 days on 2025, 30.53 against -2.35, against 2.3 days on 2024. Under correct specification they estimate the same functional. Divergence of that size disqualifies the pair, it does not offer a menu to choose from.</a:t>
            </a:r>
          </a:p>
          <a:p/>
          <a:p>
            <a:r>
              <a:t>DO NOT ATTRIBUTE THE FAILURE TO POSITIVITY ALONE, and do not let the title be heard that way. Weak overlap is real: support falls to 16% and effective sample to 7% of n. But row 3 is measured on the arm each case actually received, so it extrapolates nowhere, and a 118% error there is an outcome-model or cohort-drift problem rather than an overlap one. Several threats fail at once and this design cannot separate them. The honest claim is that every check refused the result, not that one of them explains it.</a:t>
            </a:r>
          </a:p>
          <a:p/>
          <a:p>
            <a:r>
              <a:t>ROW 3 IS THE ONE TO DWELL ON. It is the falsification that localises the failure. On the historical arm, the one arm where truth is observed, the direct estimator predicts 108.69 against an observed IPCW mean of 49.74. It is 118% wrong where it can be checked, and it was 5% wrong on 2024. AIPW down-weights the cells driving that error and lands at an effective sample of 8,291 on n=113,535.</a:t>
            </a:r>
          </a:p>
          <a:p/>
          <a:p>
            <a:r>
              <a:t>SOURCES, live 19 August refit, both under outputs/experiments/routing_outcome/. ope_val_ridge.json (n=450,567) and ope_test_ridge.json (n=113,535). Row 1 delta_direct, 24.50 and 30.53. Row 2 delta_dr, 26.77 (SE 4.04) and -2.35 (SE 3.50). Row 3 v_direct against v_dr on the historical arm, 97.84 against 93.22 then 108.69 against 49.74. Row 4 overlap.match_rate, 0.380 and 0.156. Row 5 ess over n, 87,569 and 8,291 against the respective sample sizes. Censoring is censoring_rate_of_split, 0.092 and 0.344. Governed aggregate is docs/experiments/routing-outcome-evidence-2026-08-19.json, model commit 05f50da, a DVC dependency of the benchmark bundle. Status line in docs/QUALITY_BENCHMARKS.md, section 'Routing, outcome not destination': no routing gain established.</a:t>
            </a:r>
          </a:p>
          <a:p/>
          <a:p>
            <a:r>
              <a:t>'Which estimator do you believe?' Neither, on the test year. Row 3 disqualifies the direct one. The augmented one is honest about how little support remains and cannot resolve anything at that effective sample. The test year cannot answer the question.</a:t>
            </a:r>
          </a:p>
          <a:p/>
          <a:p>
            <a:r>
              <a:t>'Is this non-replication or immature follow-up?' Not separable in this design. The snapshot is 2025-07-30, so the cohort has at most seven months against a 365-day outcome and censoring runs 3.1%, 9.2%, 34.4%. It needs a later snapshot, not a better estimator.</a:t>
            </a:r>
          </a:p>
          <a:p/>
          <a:p>
            <a:r>
              <a:t>'A different outcome model?' Boosting gives 12.40 on validation against ridge's 26.77, and 0.15 on test against -2.35. The families disagree by a factor of two on the year that looked positive and agree on zero for the year that did not. The 2024 gain was never stable.</a:t>
            </a:r>
          </a:p>
          <a:p/>
          <a:p>
            <a:r>
              <a:t>ON THE UNRESOLVED LINE. Unconfoundedness is invoked on an information set smaller than the assigning officer's; congestion and trailing destination performance are absent from the covariates. Treatment provenance is open, since dept_id and vchAllEscUser may record final state rather than initial assignment. No interference is assumed, and the design document says that assumption 'in a queueing system is false'. Route everyone to the fast office and it stops being fast. That bounds any future version of this exercise.</a:t>
            </a:r>
          </a:p>
          <a:p/>
          <a:p>
            <a:r>
              <a:t>THE CORRECTNESS FRONTIER was withdrawn separately, issue #284, pending corrected regeneration. Its augmented score was normalised over all evaluation rows before being restricted to rows carrying an observed correctness label, while the direct value used the full population. tau_star is null.</a:t>
            </a:r>
          </a:p>
          <a:p/>
          <a:p>
            <a:r>
              <a:t>WITHDRAWN, do not use: any routing time saving, including the 11 to 23 day band. Do not present it as conservative, provisional or pending. There is no estimate.</a:t>
            </a:r>
          </a:p>
          <a:p/>
          <a:p>
            <a:r>
              <a:t>DO NOT USE routing-outcome-ope-val-ridge-2026-08-13.json. Its validation match rate of 0.536 and its +20.1 belong to the withdrawn run and it sits in docs/experiments/superseded/. Quoting it to dramatise the collapse re-cites the thing we retracted.</a:t>
            </a:r>
          </a:p>
          <a:p/>
          <a:p>
            <a:r>
              <a:t>What we are NOT saying: that routing gains do not exist. Say no routing gain established. Never say routing does not work. This design on this data cannot detect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OCR accuracy result for the outside option on slide 11. Its latency is measured and its category was graded; it is transcription accuracy specifically that has no referee, because divergence never says which system is right and no hand-transcribed answer key exists (#53).</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EXTRACT FIELDS, which is the 'does more' claim: grievance_category, summary and grievance_text. That is our OCR, categoriser and summariser in one call. janasunani/evaluation/sarvam_grievance_schema.py, schema v2, pinned so a later edit cannot silently move a headline number. docs/DELIVERY.md:163: 'our pipeline has no equivalent'. The 2026-08-25 run below was made against v1, which had a fourth field, district, and no enum on the category — both of which is why it graded the way it did. v2 is what a corrected run would use.</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RAN, 2026-08-25. A 200-page stratified draw from Sambalpur/2024, both arms, ₹300 at list price, 87 grievances across 30 categories. 200 pages processed, 198 scored, 2 SarvamError failures. outputs/sarvam_run_2026-08-25/. Two earlier runs are superseded: a 5-page validation and a 300-page run that died at 65 pages on credit exhaustion.</a:t>
            </a:r>
          </a:p>
          <a:p/>
          <a:p>
            <a:r>
              <a:t>LATENCY, and this is the number the deck lacked until now. Derived from submission to result in the egress audit log, outputs/sarvam_run_2026-08-25/sarvam_audit.sqlite, excluding the later recovery re-reads. Digitise: median 6 s a page, mean 9 s, p90 16 s, n=200. Extract: median 11 s, mean 13 s, p90 19 s, n=198. Polling is 5 s quantised, so treat these as 5 s resolution. DO NOT COMPARE THIS TO OUR 5.8 s. That figure is from an n=20 synthetic-fixture run, not from documents, so the two are not the same class of input and a per-page comparison between them means nothing. A real-document local measurement is #318; until it lands there is no like-for-like latency comparison to make. THROUGHPUT is the real constraint, and note it is two calls a page, not one: --arm both submits digitise and extract separately (sarvam_evaluate.py:596 and :604), billed ₹0.50 and ₹1.00. So the 10-requests-a-minute cap, which does not rise with the plan tier, is a ceiling of 5 pages a minute for both arms. The run averaged 1.2 pages a minute end to end, about a quarter of that ceiling. The 96,469-page English corpus is 192,938 requests on both arms, roughly thirteen days of continuous calling; digitise alone would be about seven.</a:t>
            </a:r>
          </a:p>
          <a:p/>
          <a:p>
            <a:r>
              <a:t>THE CATEGORY GRADE, and say plainly that it measures our schema and not the provider. Sarvam returned a category on 11 of 87 grievances and matched the officer's label on 0 of those 11. What came back was a subject line rather than a taxonomy label: the specific relief the petitioner asked for, or the name of an administrative wing. The v1 schema described the field as the complaints taxonomy and then never listed it, so the model had nothing to choose from. Schema v2 adds the 35-label enum and is now the default. A corrected run is extract-only, about ₹200.</a:t>
            </a:r>
          </a:p>
          <a:p/>
          <a:p>
            <a:r>
              <a:t>WHY DISTRICT IS GONE FROM v2, if asked. It was the best-populated field in the run, 100 of 198 pages, because it sits on the letterhead. It is also a structured column on complaints, recorded at intake and known for every grievance, so the extraction budget went to the one field we already had while the field we needed came back on 11. Reinstate it only as an explicit intake-accuracy cross-check.</a:t>
            </a:r>
          </a:p>
          <a:p/>
          <a:p>
            <a:r>
              <a:t>TRANSCRIPTION. Normalised exact-text divergence 0.995, 95% CI [0.985, 1.005], n=198 pages clustered on 87 tickets: the two systems differed on 197 of 198. Sarvam returns 295,117 normalised characters against pytesseract's 189,497, a ratio of 1.56. Divergence says they disagree, never who is right, and no hand-transcribed answer key exists (#53).</a:t>
            </a:r>
          </a:p>
          <a:p/>
          <a:p>
            <a:r>
              <a:t>SUMMARY WAS NOT GRADED, and could not have been. It was only ever scoped as divergence against BART with no gold referee, and summary_divergence is the same function as divergence_rate under another name (sarvam_scorecard.py:234). Even fully run it could only have said the two summaries differ, never which was better.</a:t>
            </a:r>
          </a:p>
          <a:p/>
          <a:p>
            <a:r>
              <a:t>  The superseded 300-page run returned 61 extract jobs that were compared against nothing, because that sample was never joined to the recorded category. The join is what --join-metadata does, and the 2026-08-25 run used it — which is why there is a category grade to report at all this time.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summary quality, actual billed cost (every rupee figure is list price), observed language split, handwritten versus printed split. Latency and category accuracy ARE now measured — see above, and carry the caveat with the category number rather than quoting it bare.</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and two calls a page on both endpoints, the full corpus is roughly thirteen days of continuous calling; digitise alone is about seven. It is a measurement instrument, not a backfill path. Do not quote ₹700; that was priced on the withdrawn 30B model.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6.5 million action notes</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live path and the batch path</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669280"/>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879592"/>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089904"/>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an empirical crosswalk</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Closures on the six-template disposal ladder</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WORK BETTER?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the routing evaluation was built</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Estimate time to disposal on every route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Ridge and gradient boosting, cross-fitted, capped at 365 days, under each historically supported department and role chain.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Safeguard the action rate</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A calibrated classifier for whether substantive action is taken. A faster route is admissible only where that rate holds.</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Verify against outcomes we observed</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Direct outcome regression against augmented IPCW, Hajek-normalised, with censoring weights and a district-by-year cluster bootstrap.</a:t>
            </a:r>
            <a:endParaRPr lang="en-US" sz="1450"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1" name="TextBox 20"/>
          <p:cNvSpPr txBox="1"/>
          <p:nvPr/>
        </p:nvSpPr>
        <p:spPr>
          <a:xfrm>
            <a:off x="640080" y="5394960"/>
            <a:ext cx="10881360" cy="237744"/>
          </a:xfrm>
          <a:prstGeom prst="rect">
            <a:avLst/>
          </a:prstGeom>
          <a:noFill/>
        </p:spPr>
        <p:txBody>
          <a:bodyPr wrap="square" lIns="0" rIns="0" tIns="0" bIns="0">
            <a:spAutoFit/>
          </a:bodyPr>
          <a:lstStyle/>
          <a:p>
            <a:pPr algn="l"/>
            <a:r>
              <a:rPr sz="1300" b="0" i="0">
                <a:solidFill>
                  <a:srgbClr val="6C6E76"/>
                </a:solidFill>
                <a:latin typeface="Calibri"/>
              </a:rPr>
              <a:t>LIVE: predicts where similar grievances were historically sent.</a:t>
            </a:r>
          </a:p>
        </p:txBody>
      </p:sp>
      <p:sp>
        <p:nvSpPr>
          <p:cNvPr id="22" name="TextBox 21"/>
          <p:cNvSpPr txBox="1"/>
          <p:nvPr/>
        </p:nvSpPr>
        <p:spPr>
          <a:xfrm>
            <a:off x="640080" y="5632704"/>
            <a:ext cx="10881360" cy="237744"/>
          </a:xfrm>
          <a:prstGeom prst="rect">
            <a:avLst/>
          </a:prstGeom>
          <a:noFill/>
        </p:spPr>
        <p:txBody>
          <a:bodyPr wrap="square" lIns="0" rIns="0" tIns="0" bIns="0">
            <a:spAutoFit/>
          </a:bodyPr>
          <a:lstStyle/>
          <a:p>
            <a:pPr algn="l"/>
            <a:r>
              <a:rPr sz="1300" b="0" i="0">
                <a:solidFill>
                  <a:srgbClr val="6C6E76"/>
                </a:solidFill>
                <a:latin typeface="Calibri"/>
              </a:rPr>
              <a:t>RESEARCH ONLY: asks where they would have resolved better.</a:t>
            </a:r>
          </a:p>
        </p:txBody>
      </p:sp>
      <p:sp>
        <p:nvSpPr>
          <p:cNvPr id="23" name="TextBox 22"/>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A complete offline evaluation. It was never connected to live routing.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WHY IT IS NOT LIVE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Validation and untouched-year diagnostics</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The same pipeline, refit and rerun on a year it had never seen.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Direct estimate, outcome regression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Cross-fitted AIPW</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Falsification: predicting the arm actually observed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Proposed route in observed support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Effective sample as a share of 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0.19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DECISION   Withdraw the saving estimate, the correctness threshold and the routing recommendation. Keep the research offline.</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Censoring at the cut runs 9% then 34%. The 2025 cohort has seven months against a 365-day outcome, so non-replication and immaturity are not separable here.</a:t>
            </a:r>
          </a:p>
        </p:txBody>
      </p:sp>
      <p:sp>
        <p:nvSpPr>
          <p:cNvPr id="19" name="TextBox 18"/>
          <p:cNvSpPr txBox="1"/>
          <p:nvPr/>
        </p:nvSpPr>
        <p:spPr>
          <a:xfrm>
            <a:off x="640080" y="5632704"/>
            <a:ext cx="10881360" cy="237744"/>
          </a:xfrm>
          <a:prstGeom prst="rect">
            <a:avLst/>
          </a:prstGeom>
          <a:noFill/>
        </p:spPr>
        <p:txBody>
          <a:bodyPr wrap="square" lIns="0" rIns="0" tIns="0" bIns="0">
            <a:spAutoFit/>
          </a:bodyPr>
          <a:lstStyle/>
          <a:p>
            <a:pPr algn="l"/>
            <a:r>
              <a:rPr sz="1200" b="0" i="0">
                <a:solidFill>
                  <a:srgbClr val="6C6E76"/>
                </a:solidFill>
                <a:latin typeface="Calibri"/>
              </a:rPr>
              <a:t>Unresolved: assignment-field provenance, intake-time actionability, interference since routing changes the queue, mature follow-up, a governed pilot.</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We withdrew the estimate, not the research question.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Duplicate-adjusted workload, spikes and themes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A campaign and two hundred separate problems count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not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Sarvam: fields returned, latency and divergence</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Two calls a page, ₹0.50 to read it and ₹1.00 to pull fields out: text, category, summary.</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measured, on 200 pages of Sambalpur 2024</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and using it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6 s to read a page, 11 s to extract the fields, at ten requests a minute.</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two systems differed on 197 of 198 pages. Sarvam returns 1.6 times the characters.</a:t>
            </a:r>
          </a:p>
        </p:txBody>
      </p:sp>
      <p:sp>
        <p:nvSpPr>
          <p:cNvPr id="38" name="TextBox 37"/>
          <p:cNvSpPr txBox="1"/>
          <p:nvPr/>
        </p:nvSpPr>
        <p:spPr>
          <a:xfrm>
            <a:off x="640080" y="6053328"/>
            <a:ext cx="10881360" cy="329184"/>
          </a:xfrm>
          <a:prstGeom prst="rect">
            <a:avLst/>
          </a:prstGeom>
          <a:noFill/>
        </p:spPr>
        <p:txBody>
          <a:bodyPr wrap="square" lIns="0" rIns="0" tIns="0" bIns="0">
            <a:spAutoFit/>
          </a:bodyPr>
          <a:lstStyle/>
          <a:p>
            <a:pPr algn="l"/>
            <a:r>
              <a:rPr sz="1100" b="0" i="1">
                <a:solidFill>
                  <a:srgbClr val="6C6E76"/>
                </a:solidFill>
                <a:latin typeface="Calibri"/>
              </a:rPr>
              <a:t>Capped at ten requests a minute, and two calls a page: this run took 166 minutes and the English corpus would take about thirteen days. It returned a category on 11 of 87 grievances and matched none, because our v1 schema never listed the categories.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