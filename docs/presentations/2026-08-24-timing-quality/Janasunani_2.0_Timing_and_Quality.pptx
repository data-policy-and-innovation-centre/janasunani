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architecture.svg" ContentType="image/svg+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7633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Sources: docs/ARCHITECTURE.md, docs/ROADMAP.md. Canonical counts, verified on both local SQLite and cloud Postgres, and they must match after any migration change: 1,371,288 complaints and 6,556,171 action-history rows.</a:t>
            </a:r>
          </a:p>
          <a:p/>
          <a:p>
            <a:r>
              <a:t>Caveat: the Parquet lake reads 6,548,820 action rows against the canonical 6,556,171, a 0.11% shortfall tracked as issue #241. Use the canonical figure.</a:t>
            </a:r>
          </a:p>
          <a:p/>
          <a:p>
            <a:r>
              <a:t>The grievance text has a median of 19 words and 61% of it is unique. The action notes are populated on 99.87% of rows with 1,395,867 distinct normalised values. Both are opaque strings to the reporting layer.</a:t>
            </a:r>
          </a:p>
          <a:p/>
          <a:p>
            <a:r>
              <a:t>THIS SLIDE IS THE MAP. Two bodies of free text, and the deck reads them in that order. Slides 3 to 5 read the citizen's text: the stages, their speed and quality, and the department suggestion. Slides 6 to 8 read the officer's notes: how closures are recorded, and whether a different route would have closed cases faster. Say the two halves out loud here, so slide 6 lands as the turn rather than a new topic.</a:t>
            </a:r>
          </a:p>
          <a:p/>
          <a:p>
            <a:r>
              <a:t>The third row is the reason the project exists. The portal has never opened either body of text. There is also no citizen key, so every row is an island, which is why deduplication on the next slide needs the whole corpus at once.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asymmetry is the whole slide. The live path processes one grievance and can never know it duplicates another. Only the batch path compares records against each other.</a:t>
            </a:r>
          </a:p>
          <a:p/>
          <a:p>
            <a:r>
              <a:t>Duplicate matching is genuinely unavailable live, not merely unbuilt. DuplicateReview defaults to `not_indexed` with the reason 'the live submission path is not connected to a completed index'; serving/triage.py states 'duplicate matching remains slice-scoped and unavailable live'; docs/ARCHITECTURE.md records 'per-request live matching is not wired'. Do not imply a per-request duplicate check exists.</a:t>
            </a:r>
          </a:p>
          <a:p/>
          <a:p>
            <a:r>
              <a:t>Dedup figures, docs/PERFORMANCE.md section 4, Sambalpur 2024: 55,544 filings, 10,963 distinct problems, 8,560 distinct signatories, ~57 min on 2 vCPU, 16,138,623 comparison pairs. The decomposition is the argument for the index: group GOV2024999640 is 26,203 filings from ONE signatory, while DM2024854026 is 1,291 filings from 1,155. On filing counts alone those two are indistinguishable.</a:t>
            </a:r>
          </a:p>
          <a:p/>
          <a:p>
            <a:r>
              <a:t>Materialisation ~26 s at full scale, via olap/materialize.py using DuckDB.</a:t>
            </a:r>
          </a:p>
          <a:p/>
          <a:p>
            <a:r>
              <a:t>The freshness gap is by design: GET /grievance/{id} reads the transactional store and is instant; GET /history and /supervisor read the Parquet lake and lag until the next re-materialisation. Analytics never touch the transactional store.</a:t>
            </a:r>
          </a:p>
          <a:p/>
          <a:p>
            <a:r>
              <a:t>The diagram is architecture.svg in this directory, embedded as vector with a PNG fallback. Edit the SVG, re-run rsvg-convert, re-run this script.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MODEL OPTIONS AT EACH STAGE, if asked what else was tried.</a:t>
            </a:r>
          </a:p>
          <a:p>
            <a:r>
              <a:t>  OCR: pytesseract ships because it handles Odia script. DeepSeek-OCR exists in the repo but is English-only in practice and GPU-bound. Sarvam Vision is the third option and is slide 11.</a:t>
            </a:r>
          </a:p>
          <a:p>
            <a:r>
              <a:t>  Actionability: a frozen MuRIL probe was the alternative and lost, 9 of 13 review cases against TF-IDF's 13 of 13, at 86.0% accuracy against 94.7%. The cheap model won, and that is the procurement point.</a:t>
            </a:r>
          </a:p>
          <a:p>
            <a:r>
              <a:t>  Categorisation: a hashing word and character SGD ships. The DSI legacy MuRIL figure of 71.04% is NOT a comparison; it was measured on typed subject lines with a different split and issue #127 warns against putting the two side by side.</a:t>
            </a:r>
          </a:p>
          <a:p>
            <a:r>
              <a:t>  Routing: the empirical crosswalk ships. An opt-in empirical-Bayes incidence provider exists behind JANASUNANI_ROUTER=incidence and falls back safely when it cannot answer.</a:t>
            </a:r>
          </a:p>
          <a:p>
            <a:r>
              <a:t>  Summarisation: local BART, bart-large-cnn rev 37f520fa. No alternative has been benchmarked.</a:t>
            </a:r>
          </a:p>
          <a:p/>
          <a:p>
            <a:r>
              <a:t>SPEEDS. outputs/benchmark/latency.json, run 2026-08-10T23:14:58Z at git sha 24ab193, is_fake_timing false. Document path, n=20 over 10 clusters. Means: OCR 5.833, summarise 6.550, categorise 0.778, redact 0.055, detect PII 0.021, route 0.00048, triage 0.00026. Summarise plus OCR is 12.383 s of the 13.244 s mean run, 93.5%. End to end: typed p50 0.133 s (n=40), PDF p50 13.661 s (n=20). Live API warm POST median 4.44 s (n=8), cold start 19.4 s. Measured on an arm64 laptop, not the deployment box.</a:t>
            </a:r>
          </a:p>
          <a:p/>
          <a:p>
            <a:r>
              <a:t>Four stages (format classifier, page type, pii, spam) were never separately instrumented and carry n=0. They are omitted rather than shown as zero.</a:t>
            </a:r>
          </a:p>
          <a:p/>
          <a:p>
            <a:r>
              <a:t>PROVENANCE, not yet reflected in the numbers above. A 224-document real-document sample (451 pages, 30 categories, nesting the earlier 92-ticket Sarvam sample by ticket id) is staged for Sambalpur 2024, the slice the duplicate index was built on. Re-running the latency harness (feat/benchmark-real-documents, load_staged_documents) against it was deliberately deferred to avoid CPU contention with a concurrent Sarvam evaluation; the n=20 synthetic-fixture numbers above are unchanged pending that run.</a:t>
            </a:r>
          </a:p>
          <a:p/>
          <a:p>
            <a:r>
              <a:t>QUALITY, with intervals.</a:t>
            </a:r>
          </a:p>
          <a:p>
            <a:r>
              <a:t>Redaction: overlap recall 0.779, coverage 0.783, exact 0.550 on 480 hand-marked gold spans across 89 pages and 50 documents. Per entity: Aadhaar 0.857 (n=7), phone 0.828 (n=29), name 0.777 (n=404), email 0.750 (n=40). Corpus scan: 0 of 55,544.</a:t>
            </a:r>
          </a:p>
          <a:p>
            <a:r>
              <a:t>Triage: n=57 held-out, accuracy 94.74% (85.63-98.19), review recall 13/13 = 100% (77.19-100), false-flag rate 3/44 = 6.82% (2.35-18.23). TF-IDF word+char beat a frozen MuRIL probe 13/13 against 9/13.</a:t>
            </a:r>
          </a:p>
          <a:p>
            <a:r>
              <a:t>Category: top-3 90.89%, top-1 46.55%, n=3,160, chronological 2024 split, exact-text-group-disjoint, macro-F1 36.5%, ECE 26.4%.</a:t>
            </a:r>
          </a:p>
          <a:p>
            <a:r>
              <a:t>  AGAINST A TRIVIAL BASELINE, computed from the per-class supports in outputs/evaluation/categorization_historical_v1.json. The test set is lopsided: Social Welfare 1,179, Housing 743, Miscellaneous 724, together 2,646 of 3,160. Always guessing the single biggest scores 37.3% against the model's 46.6%, a lift of 9.2 points. Always guessing the biggest three scores 83.7% against the model's 90.9%, a lift of 7.2 points. Say this if anyone treats 91% as the headline.</a:t>
            </a:r>
          </a:p>
          <a:p>
            <a:r>
              <a:t>  Per class the spread is wide. Best: Land Matters F1 62.4%, Energy 62.3%, Social Welfare 62.1%. Worst: General 4.6%, Public Utility 11.1%, Financial Assistance 12.1%. Miscellaneous has 724 cases and 11.7% recall, because a catch-all class has no signature to learn. No class sits at F1 zero.</a:t>
            </a:r>
          </a:p>
          <a:p>
            <a:r>
              <a:t>  The DSI reference of 71.04% for MuRIL is NOT a comparison. It was measured on typed subject lines with a different split and issue #127 warns against putting the two side by side. We have not re-run that model on this split, so no head-to-head exists.</a:t>
            </a:r>
          </a:p>
          <a:p>
            <a:r>
              <a:t>Summary: critical-fact recall 65.48% over 84 facts, 8 of 26 usable unedited, residual PII in output 4/26 = 15.38%. One judge, not an officer. All four coherent Odia cases were skipped by an English-only gate.</a:t>
            </a:r>
          </a:p>
          <a:p>
            <a:r>
              <a:t>Department: top-3 79.68% / top-1 54.96% on informative categories (n=142,181); 69.04% / 45.14% across all eligible (n=208,267). Untouched 2025 test year. This measures agreement with where cases were historically sent, not jurisdictional correctness.</a:t>
            </a:r>
          </a:p>
          <a:p/>
          <a:p>
            <a:r>
              <a:t>WITHDRAWN, do not use: the in-sample crosswalk figures 60.9 / 67.5 / 72.8; PII coverage 49.6% and name 0.44; MuRIL 71.04% as a current number.</a:t>
            </a:r>
          </a:p>
          <a:p/>
          <a:p>
            <a:r>
              <a:t>If asked about routing time savings: an estimated 11 to 23 day gain held on validation 2024 and failed on the untouched 2025 test year at -2.35 days against a standard error of 3.50. It was withdrawn on 23 August, commits 879c24c and 365e3b4, and four artifacts are archived as do-not-cite. The direct and doubly-robust estimators disagree by 33 days on the test year, which is the diagnosis: no overlap to estimate 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ladder is janasunani/routing/provider.py. Three modes: ROUTER_DEFAULT 'crosswalk' is the shipped path and runs crosswalk, then mapping tables, then generic fallback; 'rules' skips the crosswalk and reproduces pre-#33 behaviour, useful to isolate the crosswalk in a comparison; ROUTER_INCIDENCE 'incidence' serves a checksummed empirical-Bayes artifact with the same ladder underneath it.</a:t>
            </a:r>
          </a:p>
          <a:p/>
          <a:p>
            <a:r>
              <a:t>RUNG 1, the crosswalk. Artifact janasunani/routing/reference/routing_crosswalk.json: 34 by-category keys, 257 by-subcategory, 971 by-category-district, 5,084 on the full key. Held-out performance, outputs/evaluation/routing_historical_{informative,all}.json: top-3 79.68% and top-1 54.96% on informative categories (n=142,181); 69.04% and 45.14% across all eligible (n=208,267). Train 2021-23, validate 2024, final refit on train plus validation, test on an untouched 2025. Selected alpha=100 with a one-year history window.</a:t>
            </a:r>
          </a:p>
          <a:p/>
          <a:p>
            <a:r>
              <a:t>Below the crosswalk sit the ORTPSA master tables and a generic fallback. They are off this slide because they rarely answer: intCategoryGrp is NULL on all 62 categories, so no category-to-department link exists and MappingRouter can only bridge by exact name. That absence is why the crosswalk had to be learned from history rather than read off a table. Mention it only if someone asks what happens when the crosswalk has no key.</a:t>
            </a:r>
          </a:p>
          <a:p/>
          <a:p>
            <a:r>
              <a:t>THE OUTCOME MODEL IS NOT THIS SLIDE. Everything here predicts where a grievance was sent. Whether sending it elsewhere would have resolved it better is slides 7 and 8, it is research-only, and no serving provider reads it. Keep the two apart when answering.</a:t>
            </a:r>
          </a:p>
          <a:p/>
          <a:p>
            <a:r>
              <a:t>RUNG 3, the trained model. Opt-in via JANASUNANI_ROUTER=incidence, artifact checksummed, and IncidenceRoutingProvider falls through to the crosswalk and rules when a lookup fails, logging rather than failing silently.</a:t>
            </a:r>
          </a:p>
          <a:p/>
          <a:p>
            <a:r>
              <a:t>THE CAVEAT THAT MATTERS, and it applies to all three rungs. Every one of them measures agreement with the historical destination, not jurisdictional correctness. A correct-authority adjudication does not exist. Roughly 300 closed cases read by hand would settle it.</a:t>
            </a:r>
          </a:p>
          <a:p/>
          <a:p>
            <a:r>
              <a:t>Macro-F1 is weak, 25.2% informative and 19.8% all eligible, and about a dozen departments sit at F1 zero. The top-three framing is doing real work here.</a:t>
            </a:r>
          </a:p>
          <a:p/>
          <a:p>
            <a:r>
              <a:t>WITHDRAWN, do not use: the in-sample crosswalk figures 60.9 / 67.5 / 72.8, which are resubstitution. Any routing time saving is withdrawn too; slide 8 carries that warning.</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TURN slide 2 announced. Everything up to here read the citizen's text. From here the source is the officer's action notes, the second of the two bodies. Say so; it is one sentence and it stops this slide reading as a new topic.</a:t>
            </a:r>
          </a:p>
          <a:p/>
          <a:p>
            <a:r>
              <a:t>It sets up the next slide and it is also the strongest finding in the record.</a:t>
            </a:r>
          </a:p>
          <a:p/>
          <a:p>
            <a:r>
              <a:t>NUMBERS. outputs/findings/closure_finding.md. Of 776,922 complaints closed on one of six governed disposal templates, 472,782 used the rung that records no action. That is 60.9% of ladder closures and 39.1% of all 1,209,144 resolved complaints. State the denominator, because it moves the number by half. The ladder covers 64.25% of resolved cases; the rest carry non-standard text.</a:t>
            </a:r>
          </a:p>
          <a:p/>
          <a:p>
            <a:r>
              <a:t>WHY IT MATTERS FOR ROUTING. From the design document, section 2: 'The first instinct is to minimise time to closure. This fails, instructively. Closure is an action the officer controls directly, and the optimal behaviour under that objective is to close every case immediately without doing anything. This is not hypothetical: the most common closing remark in the system records disposal with no action claimed.' That is why the model minimises duration SUBJECT TO a correctness constraint rather than minimising duration.</a:t>
            </a:r>
          </a:p>
          <a:p/>
          <a:p>
            <a:r>
              <a:t>It is also the weak point. The constraint is derived from the closing remark after the fact, so the population is conditioned on resolution and does not identify intake-time actionability. It is on the unresolved list at slide 8, and one reason the estimate there did not hold.</a:t>
            </a:r>
          </a:p>
          <a:p/>
          <a:p>
            <a:r>
              <a:t>THE CAVEAT THAT MUST TRAVEL. This is descriptive and is not a failure rate. A correct closure and a premature one look identical in this record. Do not present it as an office league table; report it at state level. The bare share RISES with work done, 58.4% at three to five action steps and 64.8% at six or more, so whatever drives the choice of phrase, it is not that nothing happened.</a:t>
            </a:r>
          </a:p>
          <a:p/>
          <a:p>
            <a:r>
              <a:t>The benefit flag runs backwards to the ladder: 9.2% of no-action closures carry it against 6.2% of action-taken closures. Never report it as satisfaction.</a:t>
            </a:r>
          </a:p>
          <a:p/>
          <a:p>
            <a:r>
              <a:t>If asked for a bounded review set: 8,974 complaints were created and closed within two days on a bare disposal, 1.9% of bare disposals.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slide is the design. The next one is why it is not live. Do not merge them.</a:t>
            </a:r>
          </a:p>
          <a:p/>
          <a:p>
            <a:r>
              <a:t>TREATMENT is the department and the complete role chain chosen jointly at assignment, the intention to route rather than the final state. ESTIMAND is capped RMST at 365 days.</a:t>
            </a:r>
          </a:p>
          <a:p/>
          <a:p>
            <a:r>
              <a:t>THE CONSTRAINT IS THE POINT, and it is what slide 6 was for. The objective minimises expected capped duration SUBJECT TO the action rate holding at its historical level. It is never conditional on the realised outcome, which would condition on a post-treatment variable. Unconstrained duration minimisation selects for closing cases untouched, because closure is an action the officer controls directly. Design document, section 2: 'The first instinct is to minimise time to closure. This fails, instructively.'</a:t>
            </a:r>
          </a:p>
          <a:p/>
          <a:p>
            <a:r>
              <a:t>THE THREE STAGES. Ridge and gradient boosting are carried separately rather than ensembled, so model-family disagreement stays visible. It later mattered. The action classifier is isotonic-calibrated, test ECE 0.0615 and AUC 0.7425. The threshold is the smallest floor meeting the constraint. Verification puts the direct outcome regression against the augmented estimator on the arm where history happened to match the proposed route, which is the only place a model prediction can be checked against an observed outcome.</a:t>
            </a:r>
          </a:p>
          <a:p/>
          <a:p>
            <a:r>
              <a:t>THE FIREWALL, if asked what is running today. Historical-route prediction is live and is slide 5. This work has no serving provider, no egress route, and no deployment recommendation. The two answer different questions: where similar grievances were sent, against where they would have resolved better.</a:t>
            </a:r>
          </a:p>
          <a:p/>
          <a:p>
            <a:r>
              <a:t>SOURCES. Design of record is docs/experiments/routing-outcome-model.tex, 42 pages. Appendices A to F carry the efficient influence function, Neyman orthogonality, the censoring argument and a marginal sensitivity model. He may ask whether they exist. They do. Plain-prose companion is janasunani/experiments/routing_outcome/README.md. Live path is janasunani/routing/provider.py.</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Ninety seconds. The table is the argument; do not narrate every row.</a:t>
            </a:r>
          </a:p>
          <a:p/>
          <a:p>
            <a:r>
              <a:t>THE HEADLINE. The two estimators diverge by 33 days on 2025, 30.53 against -2.35, against 2.3 days on 2024. Under correct specification they estimate the same functional. Divergence of that size disqualifies the pair, it does not offer a menu to choose from.</a:t>
            </a:r>
          </a:p>
          <a:p/>
          <a:p>
            <a:r>
              <a:t>DO NOT ATTRIBUTE THE FAILURE TO POSITIVITY ALONE, and do not let the title be heard that way. Weak overlap is real: support falls to 16% and effective sample to 7% of n. But row 3 is measured on the arm each case actually received, so it extrapolates nowhere, and a 118% error there is an outcome-model or cohort-drift problem rather than an overlap one. Several threats fail at once and this design cannot separate them. The honest claim is that every check refused the result, not that one of them explains it.</a:t>
            </a:r>
          </a:p>
          <a:p/>
          <a:p>
            <a:r>
              <a:t>ROW 3 IS THE ONE TO DWELL ON. It is the falsification that localises the failure. On the historical arm, the one arm where truth is observed, the direct estimator predicts 108.69 against an observed IPCW mean of 49.74. It is 118% wrong where it can be checked, and it was 5% wrong on 2024. AIPW down-weights the cells driving that error and lands at an effective sample of 8,291 on n=113,535.</a:t>
            </a:r>
          </a:p>
          <a:p/>
          <a:p>
            <a:r>
              <a:t>SOURCES, live 19 August refit, both under outputs/experiments/routing_outcome/. ope_val_ridge.json (n=450,567) and ope_test_ridge.json (n=113,535). Row 1 delta_direct, 24.50 and 30.53. Row 2 delta_dr, 26.77 (SE 4.04) and -2.35 (SE 3.50). Row 3 v_direct against v_dr on the historical arm, 97.84 against 93.22 then 108.69 against 49.74. Row 4 overlap.match_rate, 0.380 and 0.156. Row 5 ess over n, 87,569 and 8,291 against the respective sample sizes. Censoring is censoring_rate_of_split, 0.092 and 0.344. Governed aggregate is docs/experiments/routing-outcome-evidence-2026-08-19.json, model commit 05f50da, a DVC dependency of the benchmark bundle. Status line in docs/QUALITY_BENCHMARKS.md, section 'Routing, outcome not destination': no routing gain established.</a:t>
            </a:r>
          </a:p>
          <a:p/>
          <a:p>
            <a:r>
              <a:t>'Which estimator do you believe?' Neither, on the test year. Row 3 disqualifies the direct one. The augmented one is honest about how little support remains and cannot resolve anything at that effective sample. The test year cannot answer the question.</a:t>
            </a:r>
          </a:p>
          <a:p/>
          <a:p>
            <a:r>
              <a:t>'Is this non-replication or immature follow-up?' Not separable in this design. The snapshot is 2025-07-30, so the cohort has at most seven months against a 365-day outcome and censoring runs 3.1%, 9.2%, 34.4%. It needs a later snapshot, not a better estimator.</a:t>
            </a:r>
          </a:p>
          <a:p/>
          <a:p>
            <a:r>
              <a:t>'A different outcome model?' Boosting gives 12.40 on validation against ridge's 26.77, and 0.15 on test against -2.35. The families disagree by a factor of two on the year that looked positive and agree on zero for the year that did not. The 2024 gain was never stable.</a:t>
            </a:r>
          </a:p>
          <a:p/>
          <a:p>
            <a:r>
              <a:t>ON THE UNRESOLVED LINE. Unconfoundedness is invoked on an information set smaller than the assigning officer's; congestion and trailing destination performance are absent from the covariates. Treatment provenance is open, since dept_id and vchAllEscUser may record final state rather than initial assignment. No interference is assumed, and the design document says that assumption 'in a queueing system is false'. Route everyone to the fast office and it stops being fast. That bounds any future version of this exercise.</a:t>
            </a:r>
          </a:p>
          <a:p/>
          <a:p>
            <a:r>
              <a:t>THE CORRECTNESS FRONTIER was withdrawn separately, issue #284, pending corrected regeneration. Its augmented score was normalised over all evaluation rows before being restricted to rows carrying an observed correctness label, while the direct value used the full population. tau_star is null.</a:t>
            </a:r>
          </a:p>
          <a:p/>
          <a:p>
            <a:r>
              <a:t>WITHDRAWN, do not use: any routing time saving, including the 11 to 23 day band. Do not present it as conservative, provisional or pending. There is no estimate.</a:t>
            </a:r>
          </a:p>
          <a:p/>
          <a:p>
            <a:r>
              <a:t>DO NOT USE routing-outcome-ope-val-ridge-2026-08-13.json. Its validation match rate of 0.536 and its +20.1 belong to the withdrawn run and it sits in docs/experiments/superseded/. Quoting it to dramatise the collapse re-cites the thing we retracted.</a:t>
            </a:r>
          </a:p>
          <a:p/>
          <a:p>
            <a:r>
              <a:t>What we are NOT saying: that routing gains do not exist. Say no routing gain established. Never say routing does not work. This design on this data cannot detect one.</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HOUSE RULE, janasunani/analytics/README.md. An insight is something the record already contained and nobody had queried. A capability is something no existing dashboard could produce. Presenting the first as the second is the failure mode, ROADMAP section 5.3. All three items on this slide are capabilities: none is a query an analyst with database access could run against the existing dashboards in a day.</a:t>
            </a:r>
          </a:p>
          <a:p/>
          <a:p>
            <a:r>
              <a:t>ITEM 1, workload. 55,544 filings in Sambalpur 2024 are 10,963 distinct problems from 8,560 citizens. docs/PERFORMANCE.md section 4, production run on the deployment CPU box: ~57 minutes on 2 vCPU, 16,138,623 comparison pairs. Re-run attempted locally on this branch (janasunani-publish-workload): the only dedup index reachable outside the deployment box is a 20-ticket local smoke-test population, which verifies the digest-guard plumbing end to end (20 filings, 14 distinct, source_snapshot_id checked) but is not the governed slice, and its numbers are not quoted here.</a:t>
            </a:r>
          </a:p>
          <a:p/>
          <a:p>
            <a:r>
              <a:t>ITEM 2, spike. A campaign is not a false spike. Spike detection must not run on de-duplicated counts, and every spike is reported as three numbers, filings / distinct problems / distinct citizens, never collapsed to one. outputs/findings/spike.md still reads NULL, status 'pending dedup index': that is a hardcoded literal in analytics/sql/spike.sql (the spike_decomposition view), not a live check, so it reads the same whether or not a dedup index exists. The dedup-aware path that does compute real numbers (compute_spike_with_dedup, --publish-aggregates) runs, but is not scoped to a district/year before it picks its top candidate: on this branch it decomposed a Bargarh 2023 spike against a Sambalpur 2024-scoped dedup index and silently returned no reduction at all (filings = distinct problems = distinct citizens). Filed as tech debt, not fixed on this branch.</a:t>
            </a:r>
          </a:p>
          <a:p/>
          <a:p>
            <a:r>
              <a:t>ITEM 3, themes. janasunani-publish-themes crashed on this slice, ColumnNotFoundError 'filings', because render_markdown assumed the full theme schema and the 'too few rows in this category' early-exit path returns a different one. Fixed on this branch (tests/test_themes.py adds coverage for both early-exit shapes). It now reports 'No themes computed (insufficient data for themes)' for Housing, Sambalpur 2024, honestly, given only 20 locally-available redacted records rather than crashing.</a:t>
            </a:r>
          </a:p>
          <a:p/>
          <a:p>
            <a:r>
              <a:t>PROVENANCE DISCIPLINE. janasunani/serving/intelligence.py reports each dashboard panel as Recorded or Unavailable with a stated reason, never as a silent zero (tests/test_intelligence.py). Marts are portable SQL handed to the department to run for themselves (janasunani/analytics/marts.py). Findings emit aggregates only, never a row of citizen writing (janasunani/analytics/README.md house rules).</a:t>
            </a:r>
          </a:p>
          <a:p/>
          <a:p>
            <a:r>
              <a:t>FOR CONTEXT IF ASKED. Closure ladder: 472,782 of 776,922 disposed with no action claimed (docs/FINDINGS.md), against 1,209,144 total resolved complaints. Confirmed duplicates, the manual-process baseline: 37,299 officer-confirmed action rows, 21,117 already-taken-up plus 16,182 duplicate-copy (docs/PERFORMANCE.md section 4). The MinHash increment is reported separately and is never merged into that baseline. An earlier mart run mis-quoted 18,432 duplicates from a template-matching defect; docs/PERFORMANCE.md says explicitly not to quote it, and this deck does not.</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Do not cut this slide for time. It is the one that makes the rest credible.</a:t>
            </a:r>
          </a:p>
          <a:p/>
          <a:p>
            <a:r>
              <a:t>1. OCR ground truth was never commissioned and has no owner, issue #53. It cannot be produced by an agent, because it is the answer key an agent would be scored against.</a:t>
            </a:r>
          </a:p>
          <a:p/>
          <a:p>
            <a:r>
              <a:t>2. 824 predicted spans against 480 marked. The recogniser over-fires, and the gold set cannot separate a missed label from an over-redaction. Filed as open.</a:t>
            </a:r>
          </a:p>
          <a:p/>
          <a:p>
            <a:r>
              <a:t>3. The officer-hours figure that circulates, 201,000 to 302,000 across 1,209,144 resolved cases, is a denominator and not a saving. It is the size of the prize, not anything realised.</a:t>
            </a:r>
          </a:p>
          <a:p/>
          <a:p>
            <a:r>
              <a:t>Two more we do not claim, if asked: no gain from duplicate detection beyond the 37,299 repeats officers already confirmed, and no accuracy result for the outside option on slide 11.</a:t>
            </a:r>
          </a:p>
          <a:p/>
          <a:p>
            <a:r>
              <a:t>If someone asks why so little is claimed: because the alternative is claiming things we cannot defend, and this deck has to survive the room checking it.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provider is Sarvam. Two endpoints, billed separately: digitise at ₹0.50 a page returns text and layout; extract at ₹1.00 a page returns schema-driven fields. Both is ₹1.50. Source: janasunani/evaluation/pricing.py, checked against the Sarvam dashboard 2026-08-07. Our local pipeline is ₹0.00 a page.</a:t>
            </a:r>
          </a:p>
          <a:p/>
          <a:p>
            <a:r>
              <a:t>THE FOUR EXTRACT FIELDS, which is the 'does more' claim: grievance_category, summary, district, grievance_text. That is our OCR, categoriser and summariser in one call. janasunani/evaluation/sarvam_grievance_schema.py, schema v1, pinned so a later edit cannot silently move a headline number. docs/DELIVERY.md:163: 'our pipeline has no equivalent'.</a:t>
            </a:r>
          </a:p>
          <a:p/>
          <a:p>
            <a:r>
              <a:t>LANGUAGE. Sarvam Vision lists all 22 scheduled languages plus English, Odia among them. There is also a separate transliteration API for romanized Odia (od-IN), which we do not solve at all today. Our own summariser skipped all four coherent Odia cases through an English-only gate, and non-English text is downgraded to Uncategorized.</a:t>
            </a:r>
          </a:p>
          <a:p/>
          <a:p>
            <a:r>
              <a:t>WHAT WE RAN, 2026-08-25. A 200-page stratified draw from Sambalpur/2024, both arms, ₹300 at list price, 87 grievances across 30 categories. 200 pages processed, 198 scored, 2 SarvamError failures. outputs/sarvam_run_2026-08-25/. Two earlier runs are superseded: a 5-page validation and a 300-page run that died at 65 pages on credit exhaustion.</a:t>
            </a:r>
          </a:p>
          <a:p/>
          <a:p>
            <a:r>
              <a:t>LATENCY, and this is the number the deck lacked until now. Derived from submission to result in the egress audit log, outputs/sarvam_run_2026-08-25/sarvam_audit.sqlite, excluding the later recovery re-reads. Digitise: median 6 s a page, mean 9 s, p90 16 s, n=200. Extract: median 11 s, mean 13 s, p90 19 s, n=198. Polling is 5 s quantised, so treat these as 5 s resolution. Our own OCR is 5.8 s a page on the same class of document, so per page there is nothing in it. THROUGHPUT is the real constraint: 10 requests a minute does not rise with the plan tier, the run averaged 1.2 pages a minute end to end, and the 96,469-page English corpus is roughly ten days of continuous calling.</a:t>
            </a:r>
          </a:p>
          <a:p/>
          <a:p>
            <a:r>
              <a:t>THE CATEGORY GRADE, and say plainly that it measures our schema and not the provider. Sarvam returned a category on 11 of 87 grievances and matched the officer's label on 0 of those 11: 'Sanction of new AWC buildings' against gold ICDS, 'Revenue &amp; law Order' against Land Matters, 'Social Benefit' against Health Care. The v1 schema described the field as the complaints taxonomy and then never listed it, so the model had nothing to choose from and answered with subject lines. Schema v2 adds the 35-label enum and is now the default. A corrected run is extract-only, about ₹200.</a:t>
            </a:r>
          </a:p>
          <a:p/>
          <a:p>
            <a:r>
              <a:t>WHY DISTRICT IS GONE FROM v2, if asked. It was the best-populated field in the run, 100 of 198 pages, because it sits on the letterhead. It is also a structured column on complaints, recorded at intake and known for every grievance, so the extraction budget went to the one field we already had while the field we needed came back on 11. Reinstate it only as an explicit intake-accuracy cross-check.</a:t>
            </a:r>
          </a:p>
          <a:p/>
          <a:p>
            <a:r>
              <a:t>TRANSCRIPTION. Normalised exact-text divergence 0.995, 95% CI [0.985, 1.005], n=198 pages clustered on 87 tickets: the two systems differed on 197 of 198. Sarvam returns 295,117 normalised characters against pytesseract's 189,497, a ratio of 1.56. Divergence says they disagree, never who is right, and no hand-transcribed answer key exists (#53).</a:t>
            </a:r>
          </a:p>
          <a:p/>
          <a:p>
            <a:r>
              <a:t>THE EXTRACT FIELDS WERE NEVER GRADED. Sarvam did return them: 61 extract jobs completed in the 300-page run. Nothing was compared against them.</a:t>
            </a:r>
          </a:p>
          <a:p/>
          <a:p>
            <a:r>
              <a:t>  Category was the DECLARED PRIMARY OUTCOME and came back null. Reason, verbatim from outputs/sarvam_validation/sarvam_scorecard.md: 'Not measured — no gold labels (gold_category) in sample; run with --join-metadata from the lake slice.' This is the cheap gap. The recorded category already sits in our own database; the sample was simply not joined to it. Unlike OCR, no new ground truth has to be created.</a:t>
            </a:r>
          </a:p>
          <a:p/>
          <a:p>
            <a:r>
              <a:t>  Summary was only ever scoped as divergence against BART with no gold referee, and summary_divergence is the same function as divergence_rate under another name (sarvam_scorecard.py:234). Even fully run it could only have said the two summaries differ, never which was better. It was not run: no paired sarvam_summary / pipeline_summary in the sample.</a:t>
            </a:r>
          </a:p>
          <a:p/>
          <a:p>
            <a:r>
              <a:t>  A schema bug returned HTTP 400 on every extract submission until 2026-08-09, which is why the 5-page validation run has no extract output at all. Every test mocked the transport, so no test could see the 400.</a:t>
            </a:r>
          </a:p>
          <a:p/>
          <a:p>
            <a:r>
              <a:t>NOT MEASURED, do not claim: OCR accuracy, category accuracy, summary quality, latency (stated in four places), actual billed cost (every rupee figure is list price), observed language split, handwritten versus printed split.</a:t>
            </a:r>
          </a:p>
          <a:p/>
          <a:p>
            <a:r>
              <a:t>GOVERNANCE. Trust tier authorized-external. Authorisation is a GoO-Sarvam MoU with sign-off from the Additional Chief Secretary, Electronics &amp; IT, accepted 2026-08-07, on the basis that no state statute currently governs the transfer. All three provider controls remain UNVERIFIED: retention terms, encryption in transit, encryption at rest. Authorisation and verification are recorded separately on purpose. One module may make the call, janasunani/egress/, every attempt is audit-logged, and a kill switch falls back to local pytesseract.</a:t>
            </a:r>
          </a:p>
          <a:p/>
          <a:p>
            <a:r>
              <a:t>COST AT SCALE, projected list price: ₹48,000 to digitise the 96,469-page English corpus, ₹145,000 for both endpoints, ₹8,050 to push 1.37M subjects through the 105B text model. At 10 requests a minute, which does not rise with the plan tier, the full corpus is roughly ten days of continuous calling. It is a measurement instrument, not a backfill path. Do not quote ₹700; that was priced on the withdrawn 30B model.</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Close on the limits, not a summary.</a:t>
            </a:r>
          </a:p>
          <a:p/>
          <a:p>
            <a:r>
              <a:t>What we are not claiming: no officer minutes saved, no faster resolution, no satisfaction improvement, no accuracy figure confirmed by an officer, no redaction precision, no deduplication increment, no routing gain.</a:t>
            </a:r>
          </a:p>
          <a:p/>
          <a:p>
            <a:r>
              <a:t>Nearly every effect worth proving is blocked on a log line or a timer, not on a model.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architecture.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2148840"/>
            <a:ext cx="10881360" cy="365760"/>
          </a:xfrm>
          <a:prstGeom prst="rect">
            <a:avLst/>
          </a:prstGeom>
          <a:noFill/>
          <a:ln/>
        </p:spPr>
        <p:txBody>
          <a:bodyPr wrap="square" lIns="0" tIns="0" rIns="0" bIns="0" rtlCol="0" anchor="ctr"/>
          <a:lstStyle/>
          <a:p>
            <a:pPr marL="0" indent="0" algn="l">
              <a:buNone/>
            </a:pPr>
            <a:r>
              <a:rPr lang="en-US" sz="1600" b="1" kern="0" spc="300" dirty="0">
                <a:solidFill>
                  <a:srgbClr val="7A1F2B"/>
                </a:solidFill>
                <a:latin typeface="Calibri" pitchFamily="34" charset="0"/>
                <a:ea typeface="Calibri" pitchFamily="34" charset="-122"/>
                <a:cs typeface="Calibri" pitchFamily="34" charset="-120"/>
              </a:rPr>
              <a:t>TECHNICAL BRIEFING</a:t>
            </a:r>
            <a:endParaRPr lang="en-US" sz="1600" dirty="0"/>
          </a:p>
        </p:txBody>
      </p:sp>
      <p:sp>
        <p:nvSpPr>
          <p:cNvPr id="3" name="Text 1"/>
          <p:cNvSpPr/>
          <p:nvPr/>
        </p:nvSpPr>
        <p:spPr>
          <a:xfrm>
            <a:off x="640080" y="2560320"/>
            <a:ext cx="10881360" cy="1005840"/>
          </a:xfrm>
          <a:prstGeom prst="rect">
            <a:avLst/>
          </a:prstGeom>
          <a:noFill/>
          <a:ln/>
        </p:spPr>
        <p:txBody>
          <a:bodyPr wrap="square" lIns="0" tIns="0" rIns="0" bIns="0" rtlCol="0" anchor="ctr"/>
          <a:lstStyle/>
          <a:p>
            <a:pPr marL="0" indent="0" algn="l">
              <a:buNone/>
            </a:pPr>
            <a:r>
              <a:rPr lang="en-US" sz="4800" b="1" dirty="0">
                <a:solidFill>
                  <a:srgbClr val="1E1F24"/>
                </a:solidFill>
                <a:latin typeface="Cambria" pitchFamily="34" charset="0"/>
                <a:ea typeface="Cambria" pitchFamily="34" charset="-122"/>
                <a:cs typeface="Cambria" pitchFamily="34" charset="-120"/>
              </a:rPr>
              <a:t>Janasunani 2.0</a:t>
            </a:r>
            <a:endParaRPr lang="en-US" sz="4800" dirty="0"/>
          </a:p>
        </p:txBody>
      </p:sp>
      <p:sp>
        <p:nvSpPr>
          <p:cNvPr id="4" name="Text 2"/>
          <p:cNvSpPr/>
          <p:nvPr/>
        </p:nvSpPr>
        <p:spPr>
          <a:xfrm>
            <a:off x="640080" y="3611880"/>
            <a:ext cx="10881360" cy="457200"/>
          </a:xfrm>
          <a:prstGeom prst="rect">
            <a:avLst/>
          </a:prstGeom>
          <a:noFill/>
          <a:ln/>
        </p:spPr>
        <p:txBody>
          <a:bodyPr wrap="square" lIns="0" tIns="0" rIns="0" bIns="0" rtlCol="0" anchor="ctr"/>
          <a:lstStyle/>
          <a:p>
            <a:pPr marL="0" indent="0" algn="l">
              <a:buNone/>
            </a:pPr>
            <a:r>
              <a:rPr lang="en-US" sz="2100" dirty="0">
                <a:solidFill>
                  <a:srgbClr val="44464D"/>
                </a:solidFill>
                <a:latin typeface="Calibri" pitchFamily="34" charset="0"/>
                <a:ea typeface="Calibri" pitchFamily="34" charset="-122"/>
                <a:cs typeface="Calibri" pitchFamily="34" charset="-120"/>
              </a:rPr>
              <a:t>Reading, sorting and routing 1.37 million grievances</a:t>
            </a:r>
            <a:endParaRPr lang="en-US" sz="2100" dirty="0"/>
          </a:p>
        </p:txBody>
      </p:sp>
      <p:sp>
        <p:nvSpPr>
          <p:cNvPr id="5" name="Shape 3"/>
          <p:cNvSpPr/>
          <p:nvPr/>
        </p:nvSpPr>
        <p:spPr>
          <a:xfrm>
            <a:off x="640080" y="4343400"/>
            <a:ext cx="2926080" cy="0"/>
          </a:xfrm>
          <a:prstGeom prst="line">
            <a:avLst/>
          </a:prstGeom>
          <a:noFill/>
          <a:ln w="12700">
            <a:solidFill>
              <a:srgbClr val="D6D8DD"/>
            </a:solidFill>
            <a:prstDash val="solid"/>
          </a:ln>
        </p:spPr>
        <p:txBody>
          <a:bodyPr/>
          <a:lstStyle/>
          <a:p>
            <a:endParaRPr lang="en-IN"/>
          </a:p>
        </p:txBody>
      </p:sp>
      <p:sp>
        <p:nvSpPr>
          <p:cNvPr id="6" name="Text 4"/>
          <p:cNvSpPr/>
          <p:nvPr/>
        </p:nvSpPr>
        <p:spPr>
          <a:xfrm>
            <a:off x="640080" y="4480560"/>
            <a:ext cx="10881360" cy="320040"/>
          </a:xfrm>
          <a:prstGeom prst="rect">
            <a:avLst/>
          </a:prstGeom>
          <a:noFill/>
          <a:ln/>
        </p:spPr>
        <p:txBody>
          <a:bodyPr wrap="square" lIns="0" tIns="0" rIns="0" bIns="0" rtlCol="0" anchor="ctr"/>
          <a:lstStyle/>
          <a:p>
            <a:pPr marL="0" indent="0" algn="l">
              <a:buNone/>
            </a:pPr>
            <a:r>
              <a:rPr lang="en-US" sz="1500" b="1" dirty="0">
                <a:solidFill>
                  <a:srgbClr val="1E1F24"/>
                </a:solidFill>
                <a:latin typeface="Calibri" pitchFamily="34" charset="0"/>
                <a:ea typeface="Calibri" pitchFamily="34" charset="-122"/>
                <a:cs typeface="Calibri" pitchFamily="34" charset="-120"/>
              </a:rPr>
              <a:t>Data, Policy and Innovation Centre</a:t>
            </a:r>
            <a:endParaRPr lang="en-US" sz="1500" dirty="0"/>
          </a:p>
        </p:txBody>
      </p:sp>
      <p:sp>
        <p:nvSpPr>
          <p:cNvPr id="7" name="Text 5"/>
          <p:cNvSpPr/>
          <p:nvPr/>
        </p:nvSpPr>
        <p:spPr>
          <a:xfrm>
            <a:off x="640080" y="4800600"/>
            <a:ext cx="10881360" cy="320040"/>
          </a:xfrm>
          <a:prstGeom prst="rect">
            <a:avLst/>
          </a:prstGeom>
          <a:noFill/>
          <a:ln/>
        </p:spPr>
        <p:txBody>
          <a:bodyPr wrap="square" lIns="0" tIns="0" rIns="0" bIns="0" rtlCol="0" anchor="ctr"/>
          <a:lstStyle/>
          <a:p>
            <a:pPr marL="0" indent="0" algn="l">
              <a:buNone/>
            </a:pPr>
            <a:r>
              <a:rPr lang="en-US" sz="1500" dirty="0">
                <a:solidFill>
                  <a:srgbClr val="44464D"/>
                </a:solidFill>
                <a:latin typeface="Calibri" pitchFamily="34" charset="0"/>
                <a:ea typeface="Calibri" pitchFamily="34" charset="-122"/>
                <a:cs typeface="Calibri" pitchFamily="34" charset="-120"/>
              </a:rPr>
              <a:t>24 August 2026</a:t>
            </a:r>
            <a:endParaRPr lang="en-US" sz="1500" dirty="0"/>
          </a:p>
        </p:txBody>
      </p:sp>
      <p:sp>
        <p:nvSpPr>
          <p:cNvPr id="8" name="Text 6"/>
          <p:cNvSpPr/>
          <p:nvPr/>
        </p:nvSpPr>
        <p:spPr>
          <a:xfrm>
            <a:off x="640080" y="6419088"/>
            <a:ext cx="5486400" cy="274320"/>
          </a:xfrm>
          <a:prstGeom prst="rect">
            <a:avLst/>
          </a:prstGeom>
          <a:noFill/>
          <a:ln/>
        </p:spPr>
        <p:txBody>
          <a:bodyPr wrap="square" lIns="0" tIns="0" rIns="0" bIns="0" rtlCol="0" anchor="ctr"/>
          <a:lstStyle/>
          <a:p>
            <a:pPr marL="0" indent="0" algn="l">
              <a:buNone/>
            </a:pPr>
            <a:r>
              <a:rPr lang="en-US" sz="850" dirty="0">
                <a:solidFill>
                  <a:srgbClr val="6C6E76"/>
                </a:solidFill>
                <a:latin typeface="Calibri" pitchFamily="34" charset="0"/>
                <a:ea typeface="Calibri" pitchFamily="34" charset="-122"/>
                <a:cs typeface="Calibri" pitchFamily="34" charset="-120"/>
              </a:rPr>
              <a:t>Data, Policy and Innovation Centre</a:t>
            </a:r>
            <a:endParaRPr lang="en-US" sz="850" dirty="0"/>
          </a:p>
        </p:txBody>
      </p:sp>
      <p:sp>
        <p:nvSpPr>
          <p:cNvPr id="9" name="Text 7"/>
          <p:cNvSpPr/>
          <p:nvPr/>
        </p:nvSpPr>
        <p:spPr>
          <a:xfrm>
            <a:off x="6035040" y="6419088"/>
            <a:ext cx="5486400" cy="274320"/>
          </a:xfrm>
          <a:prstGeom prst="rect">
            <a:avLst/>
          </a:prstGeom>
          <a:noFill/>
          <a:ln/>
        </p:spPr>
        <p:txBody>
          <a:bodyPr wrap="square" lIns="0" tIns="0" rIns="0" bIns="0" rtlCol="0" anchor="ctr"/>
          <a:lstStyle/>
          <a:p>
            <a:pPr marL="0" indent="0" algn="r">
              <a:buNone/>
            </a:pPr>
            <a:r>
              <a:rPr lang="en-US" sz="850" dirty="0">
                <a:solidFill>
                  <a:srgbClr val="6C6E76"/>
                </a:solidFill>
                <a:latin typeface="Calibri" pitchFamily="34" charset="0"/>
                <a:ea typeface="Calibri" pitchFamily="34" charset="-122"/>
                <a:cs typeface="Calibri" pitchFamily="34" charset="-120"/>
              </a:rPr>
              <a:t>Government of Odisha  ×  University of Chicago Trust</a:t>
            </a:r>
            <a:endParaRPr lang="en-US" sz="85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57200"/>
            <a:ext cx="10881360" cy="320040"/>
          </a:xfrm>
          <a:prstGeom prst="rect">
            <a:avLst/>
          </a:prstGeom>
          <a:noFill/>
          <a:ln/>
        </p:spPr>
        <p:txBody>
          <a:bodyPr wrap="square" lIns="0" tIns="0" rIns="0" bIns="0" rtlCol="0" anchor="ctr"/>
          <a:lstStyle/>
          <a:p>
            <a:pPr marL="0" indent="0" algn="l">
              <a:buNone/>
            </a:pPr>
            <a:r>
              <a:rPr lang="en-US" sz="1500" b="1" kern="0" spc="200" dirty="0">
                <a:solidFill>
                  <a:srgbClr val="7A1F2B"/>
                </a:solidFill>
                <a:latin typeface="Calibri" pitchFamily="34" charset="0"/>
                <a:ea typeface="Calibri" pitchFamily="34" charset="-122"/>
                <a:cs typeface="Calibri" pitchFamily="34" charset="-120"/>
              </a:rPr>
              <a:t>THE RECORD</a:t>
            </a:r>
            <a:endParaRPr lang="en-US" sz="15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marL="0" indent="0" algn="l">
              <a:buNone/>
            </a:pPr>
            <a:r>
              <a:rPr lang="en-US" sz="3400" b="1" dirty="0">
                <a:solidFill>
                  <a:srgbClr val="1E1F24"/>
                </a:solidFill>
                <a:latin typeface="Cambria" pitchFamily="34" charset="0"/>
                <a:ea typeface="Cambria" pitchFamily="34" charset="-122"/>
                <a:cs typeface="Cambria" pitchFamily="34" charset="-120"/>
              </a:rPr>
              <a:t>1.37 million grievances, 6.5 million action notes</a:t>
            </a:r>
            <a:endParaRPr lang="en-US" sz="3400" dirty="0"/>
          </a:p>
        </p:txBody>
      </p:sp>
      <p:sp>
        <p:nvSpPr>
          <p:cNvPr id="4" name="Shape 2"/>
          <p:cNvSpPr/>
          <p:nvPr/>
        </p:nvSpPr>
        <p:spPr>
          <a:xfrm>
            <a:off x="640080" y="2359152"/>
            <a:ext cx="128016" cy="777240"/>
          </a:xfrm>
          <a:prstGeom prst="rect">
            <a:avLst/>
          </a:prstGeom>
          <a:solidFill>
            <a:srgbClr val="7A1F2B"/>
          </a:solidFill>
          <a:ln/>
        </p:spPr>
        <p:txBody>
          <a:bodyPr/>
          <a:lstStyle/>
          <a:p>
            <a:endParaRPr lang="en-IN"/>
          </a:p>
        </p:txBody>
      </p:sp>
      <p:sp>
        <p:nvSpPr>
          <p:cNvPr id="5" name="Text 3"/>
          <p:cNvSpPr/>
          <p:nvPr/>
        </p:nvSpPr>
        <p:spPr>
          <a:xfrm>
            <a:off x="960120" y="2286000"/>
            <a:ext cx="3291840" cy="822960"/>
          </a:xfrm>
          <a:prstGeom prst="rect">
            <a:avLst/>
          </a:prstGeom>
          <a:noFill/>
          <a:ln/>
        </p:spPr>
        <p:txBody>
          <a:bodyPr wrap="square" lIns="0" tIns="0" rIns="0" bIns="0" rtlCol="0" anchor="t"/>
          <a:lstStyle/>
          <a:p>
            <a:pPr marL="0" indent="0" algn="l">
              <a:buNone/>
            </a:pPr>
            <a:r>
              <a:rPr lang="en-US" sz="2100" b="1" dirty="0">
                <a:solidFill>
                  <a:srgbClr val="1E1F24"/>
                </a:solidFill>
                <a:latin typeface="Cambria" pitchFamily="34" charset="0"/>
                <a:ea typeface="Cambria" pitchFamily="34" charset="-122"/>
                <a:cs typeface="Cambria" pitchFamily="34" charset="-120"/>
              </a:rPr>
              <a:t>1.37 million grievances</a:t>
            </a:r>
            <a:endParaRPr lang="en-US" sz="2100" dirty="0"/>
          </a:p>
        </p:txBody>
      </p:sp>
      <p:sp>
        <p:nvSpPr>
          <p:cNvPr id="6" name="Text 4"/>
          <p:cNvSpPr/>
          <p:nvPr/>
        </p:nvSpPr>
        <p:spPr>
          <a:xfrm>
            <a:off x="4389120" y="2286000"/>
            <a:ext cx="7680960" cy="822960"/>
          </a:xfrm>
          <a:prstGeom prst="rect">
            <a:avLst/>
          </a:prstGeom>
          <a:noFill/>
          <a:ln/>
        </p:spPr>
        <p:txBody>
          <a:bodyPr wrap="square" lIns="0" tIns="0" rIns="0" bIns="0" rtlCol="0" anchor="t"/>
          <a:lstStyle/>
          <a:p>
            <a:pPr marL="0" indent="0" algn="l">
              <a:lnSpc>
                <a:spcPct val="105000"/>
              </a:lnSpc>
              <a:buNone/>
            </a:pPr>
            <a:r>
              <a:rPr lang="en-US" sz="1900" dirty="0">
                <a:solidFill>
                  <a:srgbClr val="44464D"/>
                </a:solidFill>
                <a:latin typeface="Calibri" pitchFamily="34" charset="0"/>
                <a:ea typeface="Calibri" pitchFamily="34" charset="-122"/>
                <a:cs typeface="Calibri" pitchFamily="34" charset="-120"/>
              </a:rPr>
              <a:t>What the citizen asked for, 2021 to 2025 across 30 districts. Median 19 words, mostly unique.</a:t>
            </a:r>
            <a:endParaRPr lang="en-US" sz="1900" dirty="0"/>
          </a:p>
        </p:txBody>
      </p:sp>
      <p:sp>
        <p:nvSpPr>
          <p:cNvPr id="7" name="Shape 5"/>
          <p:cNvSpPr/>
          <p:nvPr/>
        </p:nvSpPr>
        <p:spPr>
          <a:xfrm>
            <a:off x="640080" y="3456432"/>
            <a:ext cx="128016" cy="777240"/>
          </a:xfrm>
          <a:prstGeom prst="rect">
            <a:avLst/>
          </a:prstGeom>
          <a:solidFill>
            <a:srgbClr val="7A1F2B"/>
          </a:solidFill>
          <a:ln/>
        </p:spPr>
        <p:txBody>
          <a:bodyPr/>
          <a:lstStyle/>
          <a:p>
            <a:endParaRPr lang="en-IN"/>
          </a:p>
        </p:txBody>
      </p:sp>
      <p:sp>
        <p:nvSpPr>
          <p:cNvPr id="8" name="Text 6"/>
          <p:cNvSpPr/>
          <p:nvPr/>
        </p:nvSpPr>
        <p:spPr>
          <a:xfrm>
            <a:off x="960120" y="3383280"/>
            <a:ext cx="3291840" cy="822960"/>
          </a:xfrm>
          <a:prstGeom prst="rect">
            <a:avLst/>
          </a:prstGeom>
          <a:noFill/>
          <a:ln/>
        </p:spPr>
        <p:txBody>
          <a:bodyPr wrap="square" lIns="0" tIns="0" rIns="0" bIns="0" rtlCol="0" anchor="t"/>
          <a:lstStyle/>
          <a:p>
            <a:pPr marL="0" indent="0" algn="l">
              <a:buNone/>
            </a:pPr>
            <a:r>
              <a:rPr lang="en-US" sz="2100" b="1" dirty="0">
                <a:solidFill>
                  <a:srgbClr val="1E1F24"/>
                </a:solidFill>
                <a:latin typeface="Cambria" pitchFamily="34" charset="0"/>
                <a:ea typeface="Cambria" pitchFamily="34" charset="-122"/>
                <a:cs typeface="Cambria" pitchFamily="34" charset="-120"/>
              </a:rPr>
              <a:t>6.5 million action notes</a:t>
            </a:r>
            <a:endParaRPr lang="en-US" sz="2100" dirty="0"/>
          </a:p>
        </p:txBody>
      </p:sp>
      <p:sp>
        <p:nvSpPr>
          <p:cNvPr id="9" name="Text 7"/>
          <p:cNvSpPr/>
          <p:nvPr/>
        </p:nvSpPr>
        <p:spPr>
          <a:xfrm>
            <a:off x="4389120" y="3383280"/>
            <a:ext cx="7680960" cy="822960"/>
          </a:xfrm>
          <a:prstGeom prst="rect">
            <a:avLst/>
          </a:prstGeom>
          <a:noFill/>
          <a:ln/>
        </p:spPr>
        <p:txBody>
          <a:bodyPr wrap="square" lIns="0" tIns="0" rIns="0" bIns="0" rtlCol="0" anchor="t"/>
          <a:lstStyle/>
          <a:p>
            <a:pPr marL="0" indent="0" algn="l">
              <a:lnSpc>
                <a:spcPct val="105000"/>
              </a:lnSpc>
              <a:buNone/>
            </a:pPr>
            <a:r>
              <a:rPr lang="en-US" sz="1900" dirty="0">
                <a:solidFill>
                  <a:srgbClr val="44464D"/>
                </a:solidFill>
                <a:latin typeface="Calibri" pitchFamily="34" charset="0"/>
                <a:ea typeface="Calibri" pitchFamily="34" charset="-122"/>
                <a:cs typeface="Calibri" pitchFamily="34" charset="-120"/>
              </a:rPr>
              <a:t>What the officer did about it. Free text on 99.87% of rows, 1.4 million distinct values.</a:t>
            </a:r>
            <a:endParaRPr lang="en-US" sz="1900" dirty="0"/>
          </a:p>
        </p:txBody>
      </p:sp>
      <p:sp>
        <p:nvSpPr>
          <p:cNvPr id="10" name="Shape 8"/>
          <p:cNvSpPr/>
          <p:nvPr/>
        </p:nvSpPr>
        <p:spPr>
          <a:xfrm>
            <a:off x="640080" y="4553712"/>
            <a:ext cx="128016" cy="777240"/>
          </a:xfrm>
          <a:prstGeom prst="rect">
            <a:avLst/>
          </a:prstGeom>
          <a:solidFill>
            <a:srgbClr val="7A1F2B"/>
          </a:solidFill>
          <a:ln/>
        </p:spPr>
        <p:txBody>
          <a:bodyPr/>
          <a:lstStyle/>
          <a:p>
            <a:endParaRPr lang="en-IN"/>
          </a:p>
        </p:txBody>
      </p:sp>
      <p:sp>
        <p:nvSpPr>
          <p:cNvPr id="11" name="Text 9"/>
          <p:cNvSpPr/>
          <p:nvPr/>
        </p:nvSpPr>
        <p:spPr>
          <a:xfrm>
            <a:off x="960120" y="4480560"/>
            <a:ext cx="3291840" cy="822960"/>
          </a:xfrm>
          <a:prstGeom prst="rect">
            <a:avLst/>
          </a:prstGeom>
          <a:noFill/>
          <a:ln/>
        </p:spPr>
        <p:txBody>
          <a:bodyPr wrap="square" lIns="0" tIns="0" rIns="0" bIns="0" rtlCol="0" anchor="t"/>
          <a:lstStyle/>
          <a:p>
            <a:pPr marL="0" indent="0" algn="l">
              <a:buNone/>
            </a:pPr>
            <a:r>
              <a:rPr lang="en-US" sz="2100" b="1" dirty="0">
                <a:solidFill>
                  <a:srgbClr val="1E1F24"/>
                </a:solidFill>
                <a:latin typeface="Cambria" pitchFamily="34" charset="0"/>
                <a:ea typeface="Cambria" pitchFamily="34" charset="-122"/>
                <a:cs typeface="Cambria" pitchFamily="34" charset="-120"/>
              </a:rPr>
              <a:t>The portal counts rows</a:t>
            </a:r>
            <a:endParaRPr lang="en-US" sz="2100" dirty="0"/>
          </a:p>
        </p:txBody>
      </p:sp>
      <p:sp>
        <p:nvSpPr>
          <p:cNvPr id="12" name="Text 10"/>
          <p:cNvSpPr/>
          <p:nvPr/>
        </p:nvSpPr>
        <p:spPr>
          <a:xfrm>
            <a:off x="4389120" y="4480560"/>
            <a:ext cx="7680960" cy="822960"/>
          </a:xfrm>
          <a:prstGeom prst="rect">
            <a:avLst/>
          </a:prstGeom>
          <a:noFill/>
          <a:ln/>
        </p:spPr>
        <p:txBody>
          <a:bodyPr wrap="square" lIns="0" tIns="0" rIns="0" bIns="0" rtlCol="0" anchor="t"/>
          <a:lstStyle/>
          <a:p>
            <a:pPr marL="0" indent="0" algn="l">
              <a:lnSpc>
                <a:spcPct val="105000"/>
              </a:lnSpc>
              <a:buNone/>
            </a:pPr>
            <a:r>
              <a:rPr lang="en-US" sz="1900" dirty="0">
                <a:solidFill>
                  <a:srgbClr val="44464D"/>
                </a:solidFill>
                <a:latin typeface="Calibri" pitchFamily="34" charset="0"/>
                <a:ea typeface="Calibri" pitchFamily="34" charset="-122"/>
                <a:cs typeface="Calibri" pitchFamily="34" charset="-120"/>
              </a:rPr>
              <a:t>It reports how many cases are open and how many are closed. It has never opened either body of text.</a:t>
            </a:r>
            <a:endParaRPr lang="en-US" sz="1900" dirty="0"/>
          </a:p>
        </p:txBody>
      </p:sp>
      <p:sp>
        <p:nvSpPr>
          <p:cNvPr id="13" name="Text 11"/>
          <p:cNvSpPr/>
          <p:nvPr/>
        </p:nvSpPr>
        <p:spPr>
          <a:xfrm>
            <a:off x="640080" y="6419088"/>
            <a:ext cx="5486400" cy="274320"/>
          </a:xfrm>
          <a:prstGeom prst="rect">
            <a:avLst/>
          </a:prstGeom>
          <a:noFill/>
          <a:ln/>
        </p:spPr>
        <p:txBody>
          <a:bodyPr wrap="square" lIns="0" tIns="0" rIns="0" bIns="0" rtlCol="0" anchor="ctr"/>
          <a:lstStyle/>
          <a:p>
            <a:pPr marL="0" indent="0" algn="l">
              <a:buNone/>
            </a:pPr>
            <a:r>
              <a:rPr lang="en-US" sz="850" dirty="0">
                <a:solidFill>
                  <a:srgbClr val="6C6E76"/>
                </a:solidFill>
                <a:latin typeface="Calibri" pitchFamily="34" charset="0"/>
                <a:ea typeface="Calibri" pitchFamily="34" charset="-122"/>
                <a:cs typeface="Calibri" pitchFamily="34" charset="-120"/>
              </a:rPr>
              <a:t>Data, Policy and Innovation Centre</a:t>
            </a:r>
            <a:endParaRPr lang="en-US" sz="850" dirty="0"/>
          </a:p>
        </p:txBody>
      </p:sp>
      <p:sp>
        <p:nvSpPr>
          <p:cNvPr id="14" name="Text 12"/>
          <p:cNvSpPr/>
          <p:nvPr/>
        </p:nvSpPr>
        <p:spPr>
          <a:xfrm>
            <a:off x="6035040" y="6419088"/>
            <a:ext cx="5486400" cy="274320"/>
          </a:xfrm>
          <a:prstGeom prst="rect">
            <a:avLst/>
          </a:prstGeom>
          <a:noFill/>
          <a:ln/>
        </p:spPr>
        <p:txBody>
          <a:bodyPr wrap="square" lIns="0" tIns="0" rIns="0" bIns="0" rtlCol="0" anchor="ctr"/>
          <a:lstStyle/>
          <a:p>
            <a:pPr marL="0" indent="0" algn="r">
              <a:buNone/>
            </a:pPr>
            <a:r>
              <a:rPr lang="en-US" sz="850" dirty="0">
                <a:solidFill>
                  <a:srgbClr val="6C6E76"/>
                </a:solidFill>
                <a:latin typeface="Calibri" pitchFamily="34" charset="0"/>
                <a:ea typeface="Calibri" pitchFamily="34" charset="-122"/>
                <a:cs typeface="Calibri" pitchFamily="34" charset="-120"/>
              </a:rPr>
              <a:t>Government of Odisha  ×  University of Chicago Trust</a:t>
            </a:r>
            <a:endParaRPr lang="en-US" sz="850" dirty="0"/>
          </a:p>
        </p:txBody>
      </p:sp>
      <p:sp>
        <p:nvSpPr>
          <p:cNvPr id="15" name="TextBox 14"/>
          <p:cNvSpPr txBox="1"/>
          <p:nvPr/>
        </p:nvSpPr>
        <p:spPr>
          <a:xfrm>
            <a:off x="640080" y="5742432"/>
            <a:ext cx="10881360" cy="384048"/>
          </a:xfrm>
          <a:prstGeom prst="rect">
            <a:avLst/>
          </a:prstGeom>
          <a:noFill/>
        </p:spPr>
        <p:txBody>
          <a:bodyPr wrap="square" lIns="0" rIns="0" tIns="0" bIns="0">
            <a:spAutoFit/>
          </a:bodyPr>
          <a:lstStyle/>
          <a:p>
            <a:pPr algn="l"/>
            <a:r>
              <a:rPr sz="1700" b="1" i="0">
                <a:solidFill>
                  <a:srgbClr val="7A1F2B"/>
                </a:solidFill>
                <a:latin typeface="Calibri"/>
              </a:rPr>
              <a:t>Every number in this deck comes from reading one of those two.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57200"/>
            <a:ext cx="10881360" cy="320040"/>
          </a:xfrm>
          <a:prstGeom prst="rect">
            <a:avLst/>
          </a:prstGeom>
          <a:noFill/>
          <a:ln/>
        </p:spPr>
        <p:txBody>
          <a:bodyPr wrap="square" lIns="0" tIns="0" rIns="0" bIns="0" rtlCol="0" anchor="ctr"/>
          <a:lstStyle/>
          <a:p>
            <a:pPr marL="0" indent="0" algn="l">
              <a:buNone/>
            </a:pPr>
            <a:r>
              <a:rPr lang="en-US" sz="1500" b="1" kern="0" spc="200" dirty="0">
                <a:solidFill>
                  <a:srgbClr val="7A1F2B"/>
                </a:solidFill>
                <a:latin typeface="Calibri" pitchFamily="34" charset="0"/>
                <a:ea typeface="Calibri" pitchFamily="34" charset="-122"/>
                <a:cs typeface="Calibri" pitchFamily="34" charset="-120"/>
              </a:rPr>
              <a:t>READING THE CITIZEN'S TEXT</a:t>
            </a:r>
            <a:endParaRPr lang="en-US" sz="15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marL="0" indent="0" algn="l">
              <a:buNone/>
            </a:pPr>
            <a:r>
              <a:rPr lang="en-US" sz="3400" b="1" dirty="0">
                <a:solidFill>
                  <a:srgbClr val="1E1F24"/>
                </a:solidFill>
                <a:latin typeface="Cambria" pitchFamily="34" charset="0"/>
                <a:ea typeface="Cambria" pitchFamily="34" charset="-122"/>
                <a:cs typeface="Cambria" pitchFamily="34" charset="-120"/>
              </a:rPr>
              <a:t>The live path and the batch path</a:t>
            </a:r>
            <a:endParaRPr lang="en-US" sz="3400" dirty="0"/>
          </a:p>
        </p:txBody>
      </p:sp>
      <p:sp>
        <p:nvSpPr>
          <p:cNvPr id="13" name="Text 11"/>
          <p:cNvSpPr/>
          <p:nvPr/>
        </p:nvSpPr>
        <p:spPr>
          <a:xfrm>
            <a:off x="640080" y="6419088"/>
            <a:ext cx="5486400" cy="274320"/>
          </a:xfrm>
          <a:prstGeom prst="rect">
            <a:avLst/>
          </a:prstGeom>
          <a:noFill/>
          <a:ln/>
        </p:spPr>
        <p:txBody>
          <a:bodyPr wrap="square" lIns="0" tIns="0" rIns="0" bIns="0" rtlCol="0" anchor="ctr"/>
          <a:lstStyle/>
          <a:p>
            <a:pPr marL="0" indent="0" algn="l">
              <a:buNone/>
            </a:pPr>
            <a:r>
              <a:rPr lang="en-US" sz="850" dirty="0">
                <a:solidFill>
                  <a:srgbClr val="6C6E76"/>
                </a:solidFill>
                <a:latin typeface="Calibri" pitchFamily="34" charset="0"/>
                <a:ea typeface="Calibri" pitchFamily="34" charset="-122"/>
                <a:cs typeface="Calibri" pitchFamily="34" charset="-120"/>
              </a:rPr>
              <a:t>Data, Policy and Innovation Centre</a:t>
            </a:r>
            <a:endParaRPr lang="en-US" sz="850" dirty="0"/>
          </a:p>
        </p:txBody>
      </p:sp>
      <p:sp>
        <p:nvSpPr>
          <p:cNvPr id="14" name="Text 12"/>
          <p:cNvSpPr/>
          <p:nvPr/>
        </p:nvSpPr>
        <p:spPr>
          <a:xfrm>
            <a:off x="6035040" y="6419088"/>
            <a:ext cx="5486400" cy="274320"/>
          </a:xfrm>
          <a:prstGeom prst="rect">
            <a:avLst/>
          </a:prstGeom>
          <a:noFill/>
          <a:ln/>
        </p:spPr>
        <p:txBody>
          <a:bodyPr wrap="square" lIns="0" tIns="0" rIns="0" bIns="0" rtlCol="0" anchor="ctr"/>
          <a:lstStyle/>
          <a:p>
            <a:pPr marL="0" indent="0" algn="r">
              <a:buNone/>
            </a:pPr>
            <a:r>
              <a:rPr lang="en-US" sz="850" dirty="0">
                <a:solidFill>
                  <a:srgbClr val="6C6E76"/>
                </a:solidFill>
                <a:latin typeface="Calibri" pitchFamily="34" charset="0"/>
                <a:ea typeface="Calibri" pitchFamily="34" charset="-122"/>
                <a:cs typeface="Calibri" pitchFamily="34" charset="-120"/>
              </a:rPr>
              <a:t>Government of Odisha  ×  University of Chicago Trust</a:t>
            </a:r>
            <a:endParaRPr lang="en-US" sz="850" dirty="0"/>
          </a:p>
        </p:txBody>
      </p:sp>
      <p:pic>
        <p:nvPicPr>
          <p:cNvPr id="15" name="Picture 14" descr="architectur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0080" y="1901952"/>
            <a:ext cx="10881360" cy="3825478"/>
          </a:xfrm>
          <a:prstGeom prst="rect">
            <a:avLst/>
          </a:prstGeom>
        </p:spPr>
      </p:pic>
      <p:sp>
        <p:nvSpPr>
          <p:cNvPr id="16" name="TextBox 15"/>
          <p:cNvSpPr txBox="1"/>
          <p:nvPr/>
        </p:nvSpPr>
        <p:spPr>
          <a:xfrm>
            <a:off x="640080" y="5870448"/>
            <a:ext cx="10881360" cy="384048"/>
          </a:xfrm>
          <a:prstGeom prst="rect">
            <a:avLst/>
          </a:prstGeom>
          <a:noFill/>
        </p:spPr>
        <p:txBody>
          <a:bodyPr wrap="square" lIns="0" rIns="0" tIns="0" bIns="0">
            <a:spAutoFit/>
          </a:bodyPr>
          <a:lstStyle/>
          <a:p>
            <a:pPr algn="l"/>
            <a:r>
              <a:rPr sz="1700" b="1" i="0">
                <a:solidFill>
                  <a:srgbClr val="7A1F2B"/>
                </a:solidFill>
                <a:latin typeface="Calibri"/>
              </a:rPr>
              <a:t>The live path sees one grievance. Only the batch path knows that 55,544 filings are 10,963 distinct problems.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57200"/>
            <a:ext cx="10881360" cy="320040"/>
          </a:xfrm>
          <a:prstGeom prst="rect">
            <a:avLst/>
          </a:prstGeom>
          <a:noFill/>
          <a:ln/>
        </p:spPr>
        <p:txBody>
          <a:bodyPr wrap="square" lIns="0" tIns="0" rIns="0" bIns="0" rtlCol="0" anchor="ctr"/>
          <a:lstStyle/>
          <a:p>
            <a:pPr marL="0" indent="0" algn="l">
              <a:buNone/>
            </a:pPr>
            <a:r>
              <a:rPr lang="en-US" sz="1500" b="1" kern="0" spc="200" dirty="0">
                <a:solidFill>
                  <a:srgbClr val="7A1F2B"/>
                </a:solidFill>
                <a:latin typeface="Calibri" pitchFamily="34" charset="0"/>
                <a:ea typeface="Calibri" pitchFamily="34" charset="-122"/>
                <a:cs typeface="Calibri" pitchFamily="34" charset="-120"/>
              </a:rPr>
              <a:t>EVERY STAGE</a:t>
            </a:r>
            <a:endParaRPr lang="en-US" sz="15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marL="0" indent="0" algn="l">
              <a:buNone/>
            </a:pPr>
            <a:r>
              <a:rPr lang="en-US" sz="3400" b="1" dirty="0">
                <a:solidFill>
                  <a:srgbClr val="1E1F24"/>
                </a:solidFill>
                <a:latin typeface="Cambria" pitchFamily="34" charset="0"/>
                <a:ea typeface="Cambria" pitchFamily="34" charset="-122"/>
                <a:cs typeface="Cambria" pitchFamily="34" charset="-120"/>
              </a:rPr>
              <a:t>Six stages, timed and scored</a:t>
            </a:r>
            <a:endParaRPr lang="en-US" sz="3400" dirty="0"/>
          </a:p>
        </p:txBody>
      </p:sp>
      <p:sp>
        <p:nvSpPr>
          <p:cNvPr id="13" name="Text 11"/>
          <p:cNvSpPr/>
          <p:nvPr/>
        </p:nvSpPr>
        <p:spPr>
          <a:xfrm>
            <a:off x="640080" y="6419088"/>
            <a:ext cx="5486400" cy="274320"/>
          </a:xfrm>
          <a:prstGeom prst="rect">
            <a:avLst/>
          </a:prstGeom>
          <a:noFill/>
          <a:ln/>
        </p:spPr>
        <p:txBody>
          <a:bodyPr wrap="square" lIns="0" tIns="0" rIns="0" bIns="0" rtlCol="0" anchor="ctr"/>
          <a:lstStyle/>
          <a:p>
            <a:pPr marL="0" indent="0" algn="l">
              <a:buNone/>
            </a:pPr>
            <a:r>
              <a:rPr lang="en-US" sz="850" dirty="0">
                <a:solidFill>
                  <a:srgbClr val="6C6E76"/>
                </a:solidFill>
                <a:latin typeface="Calibri" pitchFamily="34" charset="0"/>
                <a:ea typeface="Calibri" pitchFamily="34" charset="-122"/>
                <a:cs typeface="Calibri" pitchFamily="34" charset="-120"/>
              </a:rPr>
              <a:t>Data, Policy and Innovation Centre</a:t>
            </a:r>
            <a:endParaRPr lang="en-US" sz="850" dirty="0"/>
          </a:p>
        </p:txBody>
      </p:sp>
      <p:sp>
        <p:nvSpPr>
          <p:cNvPr id="14" name="Text 12"/>
          <p:cNvSpPr/>
          <p:nvPr/>
        </p:nvSpPr>
        <p:spPr>
          <a:xfrm>
            <a:off x="6035040" y="6419088"/>
            <a:ext cx="5486400" cy="274320"/>
          </a:xfrm>
          <a:prstGeom prst="rect">
            <a:avLst/>
          </a:prstGeom>
          <a:noFill/>
          <a:ln/>
        </p:spPr>
        <p:txBody>
          <a:bodyPr wrap="square" lIns="0" tIns="0" rIns="0" bIns="0" rtlCol="0" anchor="ctr"/>
          <a:lstStyle/>
          <a:p>
            <a:pPr marL="0" indent="0" algn="r">
              <a:buNone/>
            </a:pPr>
            <a:r>
              <a:rPr lang="en-US" sz="850" dirty="0">
                <a:solidFill>
                  <a:srgbClr val="6C6E76"/>
                </a:solidFill>
                <a:latin typeface="Calibri" pitchFamily="34" charset="0"/>
                <a:ea typeface="Calibri" pitchFamily="34" charset="-122"/>
                <a:cs typeface="Calibri" pitchFamily="34" charset="-120"/>
              </a:rPr>
              <a:t>Government of Odisha  ×  University of Chicago Trust</a:t>
            </a:r>
            <a:endParaRPr lang="en-US" sz="850" dirty="0"/>
          </a:p>
        </p:txBody>
      </p:sp>
      <p:graphicFrame>
        <p:nvGraphicFramePr>
          <p:cNvPr id="15" name="Table 14"/>
          <p:cNvGraphicFramePr>
            <a:graphicFrameLocks noGrp="1"/>
          </p:cNvGraphicFramePr>
          <p:nvPr/>
        </p:nvGraphicFramePr>
        <p:xfrm>
          <a:off x="640080" y="1792224"/>
          <a:ext cx="10881360" cy="2889504"/>
        </p:xfrm>
        <a:graphic>
          <a:graphicData uri="http://schemas.openxmlformats.org/drawingml/2006/table">
            <a:tbl>
              <a:tblPr/>
              <a:tblGrid>
                <a:gridCol w="2286000"/>
                <a:gridCol w="2834640"/>
                <a:gridCol w="1371600"/>
                <a:gridCol w="4389120"/>
              </a:tblGrid>
              <a:tr h="365760">
                <a:tc>
                  <a:txBody>
                    <a:bodyPr wrap="square"/>
                    <a:lstStyle/>
                    <a:p>
                      <a:r>
                        <a:rPr sz="1300" b="1">
                          <a:solidFill>
                            <a:srgbClr val="FFFFFF"/>
                          </a:solidFill>
                          <a:latin typeface="Calibri"/>
                        </a:rPr>
                        <a:t>Stage</a:t>
                      </a:r>
                    </a:p>
                  </a:txBody>
                  <a:tcPr anchor="ctr" marL="128016" marR="91440" marT="36576" marB="36576">
                    <a:solidFill>
                      <a:srgbClr val="7A1F2B"/>
                    </a:solidFill>
                    <a:lnL w="6350" cap="flat" cmpd="sng" algn="ctr">
                      <a:solidFill>
                        <a:srgbClr val="7A1F2B"/>
                      </a:solidFill>
                    </a:lnL>
                    <a:lnR w="6350" cap="flat" cmpd="sng" algn="ctr">
                      <a:solidFill>
                        <a:srgbClr val="7A1F2B"/>
                      </a:solidFill>
                    </a:lnR>
                    <a:lnT w="6350" cap="flat" cmpd="sng" algn="ctr">
                      <a:solidFill>
                        <a:srgbClr val="7A1F2B"/>
                      </a:solidFill>
                    </a:lnT>
                    <a:lnB w="6350" cap="flat" cmpd="sng" algn="ctr">
                      <a:solidFill>
                        <a:srgbClr val="7A1F2B"/>
                      </a:solidFill>
                    </a:lnB>
                  </a:tcPr>
                </a:tc>
                <a:tc>
                  <a:txBody>
                    <a:bodyPr wrap="square"/>
                    <a:lstStyle/>
                    <a:p>
                      <a:r>
                        <a:rPr sz="1300" b="1">
                          <a:solidFill>
                            <a:srgbClr val="FFFFFF"/>
                          </a:solidFill>
                          <a:latin typeface="Calibri"/>
                        </a:rPr>
                        <a:t>Model</a:t>
                      </a:r>
                    </a:p>
                  </a:txBody>
                  <a:tcPr anchor="ctr" marL="128016" marR="91440" marT="36576" marB="36576">
                    <a:solidFill>
                      <a:srgbClr val="7A1F2B"/>
                    </a:solidFill>
                    <a:lnL w="6350" cap="flat" cmpd="sng" algn="ctr">
                      <a:solidFill>
                        <a:srgbClr val="7A1F2B"/>
                      </a:solidFill>
                    </a:lnL>
                    <a:lnR w="6350" cap="flat" cmpd="sng" algn="ctr">
                      <a:solidFill>
                        <a:srgbClr val="7A1F2B"/>
                      </a:solidFill>
                    </a:lnR>
                    <a:lnT w="6350" cap="flat" cmpd="sng" algn="ctr">
                      <a:solidFill>
                        <a:srgbClr val="7A1F2B"/>
                      </a:solidFill>
                    </a:lnT>
                    <a:lnB w="6350" cap="flat" cmpd="sng" algn="ctr">
                      <a:solidFill>
                        <a:srgbClr val="7A1F2B"/>
                      </a:solidFill>
                    </a:lnB>
                  </a:tcPr>
                </a:tc>
                <a:tc>
                  <a:txBody>
                    <a:bodyPr wrap="square"/>
                    <a:lstStyle/>
                    <a:p>
                      <a:r>
                        <a:rPr sz="1300" b="1">
                          <a:solidFill>
                            <a:srgbClr val="FFFFFF"/>
                          </a:solidFill>
                          <a:latin typeface="Calibri"/>
                        </a:rPr>
                        <a:t>Latency</a:t>
                      </a:r>
                    </a:p>
                  </a:txBody>
                  <a:tcPr anchor="ctr" marL="128016" marR="91440" marT="36576" marB="36576">
                    <a:solidFill>
                      <a:srgbClr val="7A1F2B"/>
                    </a:solidFill>
                    <a:lnL w="6350" cap="flat" cmpd="sng" algn="ctr">
                      <a:solidFill>
                        <a:srgbClr val="7A1F2B"/>
                      </a:solidFill>
                    </a:lnL>
                    <a:lnR w="6350" cap="flat" cmpd="sng" algn="ctr">
                      <a:solidFill>
                        <a:srgbClr val="7A1F2B"/>
                      </a:solidFill>
                    </a:lnR>
                    <a:lnT w="6350" cap="flat" cmpd="sng" algn="ctr">
                      <a:solidFill>
                        <a:srgbClr val="7A1F2B"/>
                      </a:solidFill>
                    </a:lnT>
                    <a:lnB w="6350" cap="flat" cmpd="sng" algn="ctr">
                      <a:solidFill>
                        <a:srgbClr val="7A1F2B"/>
                      </a:solidFill>
                    </a:lnB>
                  </a:tcPr>
                </a:tc>
                <a:tc>
                  <a:txBody>
                    <a:bodyPr wrap="square"/>
                    <a:lstStyle/>
                    <a:p>
                      <a:r>
                        <a:rPr sz="1300" b="1">
                          <a:solidFill>
                            <a:srgbClr val="FFFFFF"/>
                          </a:solidFill>
                          <a:latin typeface="Calibri"/>
                        </a:rPr>
                        <a:t>Quality</a:t>
                      </a:r>
                    </a:p>
                  </a:txBody>
                  <a:tcPr anchor="ctr" marL="128016" marR="91440" marT="36576" marB="36576">
                    <a:solidFill>
                      <a:srgbClr val="7A1F2B"/>
                    </a:solidFill>
                    <a:lnL w="6350" cap="flat" cmpd="sng" algn="ctr">
                      <a:solidFill>
                        <a:srgbClr val="7A1F2B"/>
                      </a:solidFill>
                    </a:lnL>
                    <a:lnR w="6350" cap="flat" cmpd="sng" algn="ctr">
                      <a:solidFill>
                        <a:srgbClr val="7A1F2B"/>
                      </a:solidFill>
                    </a:lnR>
                    <a:lnT w="6350" cap="flat" cmpd="sng" algn="ctr">
                      <a:solidFill>
                        <a:srgbClr val="7A1F2B"/>
                      </a:solidFill>
                    </a:lnT>
                    <a:lnB w="6350" cap="flat" cmpd="sng" algn="ctr">
                      <a:solidFill>
                        <a:srgbClr val="7A1F2B"/>
                      </a:solidFill>
                    </a:lnB>
                  </a:tcPr>
                </a:tc>
              </a:tr>
              <a:tr h="420624">
                <a:tc>
                  <a:txBody>
                    <a:bodyPr wrap="square"/>
                    <a:lstStyle/>
                    <a:p>
                      <a:r>
                        <a:rPr sz="1500" b="1">
                          <a:solidFill>
                            <a:srgbClr val="1E1F24"/>
                          </a:solidFill>
                          <a:latin typeface="Calibri"/>
                        </a:rPr>
                        <a:t>OCR</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pytesseract</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5.8 s</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not measured, no ground truth</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r>
              <a:tr h="420624">
                <a:tc>
                  <a:txBody>
                    <a:bodyPr wrap="square"/>
                    <a:lstStyle/>
                    <a:p>
                      <a:r>
                        <a:rPr sz="1500" b="1">
                          <a:solidFill>
                            <a:srgbClr val="1E1F24"/>
                          </a:solidFill>
                          <a:latin typeface="Calibri"/>
                        </a:rPr>
                        <a:t>PII redaction</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Presidio + spaCy NER</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0.06 s</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recall 0.78, n=480 spans</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r>
              <a:tr h="420624">
                <a:tc>
                  <a:txBody>
                    <a:bodyPr wrap="square"/>
                    <a:lstStyle/>
                    <a:p>
                      <a:r>
                        <a:rPr sz="1500" b="1">
                          <a:solidFill>
                            <a:srgbClr val="1E1F24"/>
                          </a:solidFill>
                          <a:latin typeface="Calibri"/>
                        </a:rPr>
                        <a:t>Actionability triage</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TF-IDF word + char</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&lt; 0.01 s</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recall 1.00, precision 0.81, n=57</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r>
              <a:tr h="420624">
                <a:tc>
                  <a:txBody>
                    <a:bodyPr wrap="square"/>
                    <a:lstStyle/>
                    <a:p>
                      <a:r>
                        <a:rPr sz="1500" b="1">
                          <a:solidFill>
                            <a:srgbClr val="1E1F24"/>
                          </a:solidFill>
                          <a:latin typeface="Calibri"/>
                        </a:rPr>
                        <a:t>Categorisation</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hashing word + char SGD</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0.8 s</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top-1 47%, top-3 91%, n=3,160</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r>
              <a:tr h="420624">
                <a:tc>
                  <a:txBody>
                    <a:bodyPr wrap="square"/>
                    <a:lstStyle/>
                    <a:p>
                      <a:r>
                        <a:rPr sz="1500" b="1">
                          <a:solidFill>
                            <a:srgbClr val="1E1F24"/>
                          </a:solidFill>
                          <a:latin typeface="Calibri"/>
                        </a:rPr>
                        <a:t>Summarisation</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BART</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6.6 s</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fact recall 66%, 8 of 26 usable</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r>
              <a:tr h="420624">
                <a:tc>
                  <a:txBody>
                    <a:bodyPr wrap="square"/>
                    <a:lstStyle/>
                    <a:p>
                      <a:r>
                        <a:rPr sz="1500" b="1">
                          <a:solidFill>
                            <a:srgbClr val="1E1F24"/>
                          </a:solidFill>
                          <a:latin typeface="Calibri"/>
                        </a:rPr>
                        <a:t>Routing</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empirical crosswalk</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&lt; 0.01 s</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top-1 55%, top-3 80%, n=142,181</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r>
            </a:tbl>
          </a:graphicData>
        </a:graphic>
      </p:graphicFrame>
      <p:sp>
        <p:nvSpPr>
          <p:cNvPr id="16" name="TextBox 15"/>
          <p:cNvSpPr txBox="1"/>
          <p:nvPr/>
        </p:nvSpPr>
        <p:spPr>
          <a:xfrm>
            <a:off x="640080" y="4828032"/>
            <a:ext cx="10881360" cy="310896"/>
          </a:xfrm>
          <a:prstGeom prst="rect">
            <a:avLst/>
          </a:prstGeom>
          <a:noFill/>
        </p:spPr>
        <p:txBody>
          <a:bodyPr wrap="square" lIns="0" rIns="0" tIns="0" bIns="0">
            <a:spAutoFit/>
          </a:bodyPr>
          <a:lstStyle/>
          <a:p>
            <a:pPr algn="l"/>
            <a:r>
              <a:rPr sz="1500" b="0" i="0">
                <a:solidFill>
                  <a:srgbClr val="1E1F24"/>
                </a:solidFill>
                <a:latin typeface="Calibri"/>
              </a:rPr>
              <a:t>End to end: 0.13 s typed, 13.7 s scanned. OCR and summarisation are 94% of it.</a:t>
            </a:r>
          </a:p>
        </p:txBody>
      </p:sp>
      <p:sp>
        <p:nvSpPr>
          <p:cNvPr id="17" name="TextBox 16"/>
          <p:cNvSpPr txBox="1"/>
          <p:nvPr/>
        </p:nvSpPr>
        <p:spPr>
          <a:xfrm>
            <a:off x="640080" y="5303520"/>
            <a:ext cx="10881360" cy="384048"/>
          </a:xfrm>
          <a:prstGeom prst="rect">
            <a:avLst/>
          </a:prstGeom>
          <a:noFill/>
        </p:spPr>
        <p:txBody>
          <a:bodyPr wrap="square" lIns="0" rIns="0" tIns="0" bIns="0">
            <a:spAutoFit/>
          </a:bodyPr>
          <a:lstStyle/>
          <a:p>
            <a:pPr algn="l"/>
            <a:r>
              <a:rPr sz="1700" b="1" i="0">
                <a:solidFill>
                  <a:srgbClr val="7A1F2B"/>
                </a:solidFill>
                <a:latin typeface="Calibri"/>
              </a:rPr>
              <a:t>On triage a TF-IDF model beat a frozen MuRIL probe, 13 of 13 against 9 of 13.</a:t>
            </a:r>
          </a:p>
        </p:txBody>
      </p:sp>
      <p:sp>
        <p:nvSpPr>
          <p:cNvPr id="18" name="TextBox 17"/>
          <p:cNvSpPr txBox="1"/>
          <p:nvPr/>
        </p:nvSpPr>
        <p:spPr>
          <a:xfrm>
            <a:off x="640080" y="5669280"/>
            <a:ext cx="10881360" cy="237744"/>
          </a:xfrm>
          <a:prstGeom prst="rect">
            <a:avLst/>
          </a:prstGeom>
          <a:noFill/>
        </p:spPr>
        <p:txBody>
          <a:bodyPr wrap="square" lIns="0" rIns="0" tIns="0" bIns="0">
            <a:spAutoFit/>
          </a:bodyPr>
          <a:lstStyle/>
          <a:p>
            <a:pPr algn="l"/>
            <a:r>
              <a:rPr sz="1200" b="0" i="1">
                <a:solidFill>
                  <a:srgbClr val="6C6E76"/>
                </a:solidFill>
                <a:latin typeface="Calibri"/>
              </a:rPr>
              <a:t>Latency is a mean over one scanned document, n=20. PII precision is unmeasured, though 0 of 55,544 redacted records retain a shaped identifier.</a:t>
            </a:r>
          </a:p>
        </p:txBody>
      </p:sp>
      <p:sp>
        <p:nvSpPr>
          <p:cNvPr id="19" name="TextBox 18"/>
          <p:cNvSpPr txBox="1"/>
          <p:nvPr/>
        </p:nvSpPr>
        <p:spPr>
          <a:xfrm>
            <a:off x="640080" y="5879592"/>
            <a:ext cx="10881360" cy="237744"/>
          </a:xfrm>
          <a:prstGeom prst="rect">
            <a:avLst/>
          </a:prstGeom>
          <a:noFill/>
        </p:spPr>
        <p:txBody>
          <a:bodyPr wrap="square" lIns="0" rIns="0" tIns="0" bIns="0">
            <a:spAutoFit/>
          </a:bodyPr>
          <a:lstStyle/>
          <a:p>
            <a:pPr algn="l"/>
            <a:r>
              <a:rPr sz="1200" b="0" i="1">
                <a:solidFill>
                  <a:srgbClr val="6C6E76"/>
                </a:solidFill>
                <a:latin typeface="Calibri"/>
              </a:rPr>
              <a:t>Category classes are lopsided. A majority-class baseline scores 37% top-1 and 84% top-3, so the model adds 9 and 7 points.</a:t>
            </a:r>
          </a:p>
        </p:txBody>
      </p:sp>
      <p:sp>
        <p:nvSpPr>
          <p:cNvPr id="20" name="TextBox 19"/>
          <p:cNvSpPr txBox="1"/>
          <p:nvPr/>
        </p:nvSpPr>
        <p:spPr>
          <a:xfrm>
            <a:off x="640080" y="6089904"/>
            <a:ext cx="10881360" cy="201168"/>
          </a:xfrm>
          <a:prstGeom prst="rect">
            <a:avLst/>
          </a:prstGeom>
          <a:noFill/>
        </p:spPr>
        <p:txBody>
          <a:bodyPr wrap="square" lIns="0" rIns="0" tIns="0" bIns="0">
            <a:spAutoFit/>
          </a:bodyPr>
          <a:lstStyle/>
          <a:p>
            <a:pPr algn="l"/>
            <a:r>
              <a:rPr sz="1100" b="0" i="1">
                <a:solidFill>
                  <a:srgbClr val="6C6E76"/>
                </a:solidFill>
                <a:latin typeface="Calibri"/>
              </a:rPr>
              <a:t>Document measurements are one draw, Sambalpur 2024, the slice the duplicate index was built on. Categorisation, triage and routing are measured on text and records, not documents.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57200"/>
            <a:ext cx="10881360" cy="320040"/>
          </a:xfrm>
          <a:prstGeom prst="rect">
            <a:avLst/>
          </a:prstGeom>
          <a:noFill/>
          <a:ln/>
        </p:spPr>
        <p:txBody>
          <a:bodyPr wrap="square" lIns="0" tIns="0" rIns="0" bIns="0" rtlCol="0" anchor="ctr"/>
          <a:lstStyle/>
          <a:p>
            <a:pPr marL="0" indent="0" algn="l">
              <a:buNone/>
            </a:pPr>
            <a:r>
              <a:rPr lang="en-US" sz="1500" b="1" kern="0" spc="200" dirty="0">
                <a:solidFill>
                  <a:srgbClr val="7A1F2B"/>
                </a:solidFill>
                <a:latin typeface="Calibri" pitchFamily="34" charset="0"/>
                <a:ea typeface="Calibri" pitchFamily="34" charset="-122"/>
                <a:cs typeface="Calibri" pitchFamily="34" charset="-120"/>
              </a:rPr>
              <a:t>SUGGESTING A DEPARTMENT</a:t>
            </a:r>
            <a:endParaRPr lang="en-US" sz="15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marL="0" indent="0" algn="l">
              <a:buNone/>
            </a:pPr>
            <a:r>
              <a:rPr lang="en-US" sz="3400" b="1" dirty="0">
                <a:solidFill>
                  <a:srgbClr val="1E1F24"/>
                </a:solidFill>
                <a:latin typeface="Cambria" pitchFamily="34" charset="0"/>
                <a:ea typeface="Cambria" pitchFamily="34" charset="-122"/>
                <a:cs typeface="Cambria" pitchFamily="34" charset="-120"/>
              </a:rPr>
              <a:t>The department suggestion: an empirical crosswalk</a:t>
            </a:r>
            <a:endParaRPr lang="en-US" sz="3400" dirty="0"/>
          </a:p>
        </p:txBody>
      </p:sp>
      <p:sp>
        <p:nvSpPr>
          <p:cNvPr id="4" name="Shape 2"/>
          <p:cNvSpPr/>
          <p:nvPr/>
        </p:nvSpPr>
        <p:spPr>
          <a:xfrm>
            <a:off x="640080" y="2359152"/>
            <a:ext cx="128016" cy="777240"/>
          </a:xfrm>
          <a:prstGeom prst="rect">
            <a:avLst/>
          </a:prstGeom>
          <a:solidFill>
            <a:srgbClr val="7A1F2B"/>
          </a:solidFill>
          <a:ln/>
        </p:spPr>
        <p:txBody>
          <a:bodyPr/>
          <a:lstStyle/>
          <a:p>
            <a:endParaRPr lang="en-IN"/>
          </a:p>
        </p:txBody>
      </p:sp>
      <p:sp>
        <p:nvSpPr>
          <p:cNvPr id="5" name="Text 3"/>
          <p:cNvSpPr/>
          <p:nvPr/>
        </p:nvSpPr>
        <p:spPr>
          <a:xfrm>
            <a:off x="960120" y="2286000"/>
            <a:ext cx="3291840" cy="822960"/>
          </a:xfrm>
          <a:prstGeom prst="rect">
            <a:avLst/>
          </a:prstGeom>
          <a:noFill/>
          <a:ln/>
        </p:spPr>
        <p:txBody>
          <a:bodyPr wrap="square" lIns="0" tIns="0" rIns="0" bIns="0" rtlCol="0" anchor="t"/>
          <a:lstStyle/>
          <a:p>
            <a:pPr marL="0" indent="0" algn="l">
              <a:buNone/>
            </a:pPr>
            <a:r>
              <a:rPr lang="en-US" sz="2100" b="1" dirty="0">
                <a:solidFill>
                  <a:srgbClr val="1E1F24"/>
                </a:solidFill>
                <a:latin typeface="Cambria" pitchFamily="34" charset="0"/>
                <a:ea typeface="Cambria" pitchFamily="34" charset="-122"/>
                <a:cs typeface="Cambria" pitchFamily="34" charset="-120"/>
              </a:rPr>
              <a:t>Learned from history</a:t>
            </a:r>
            <a:endParaRPr lang="en-US" sz="2100" dirty="0"/>
          </a:p>
        </p:txBody>
      </p:sp>
      <p:sp>
        <p:nvSpPr>
          <p:cNvPr id="6" name="Text 4"/>
          <p:cNvSpPr/>
          <p:nvPr/>
        </p:nvSpPr>
        <p:spPr>
          <a:xfrm>
            <a:off x="4389120" y="2286000"/>
            <a:ext cx="7680960" cy="822960"/>
          </a:xfrm>
          <a:prstGeom prst="rect">
            <a:avLst/>
          </a:prstGeom>
          <a:noFill/>
          <a:ln/>
        </p:spPr>
        <p:txBody>
          <a:bodyPr wrap="square" lIns="0" tIns="0" rIns="0" bIns="0" rtlCol="0" anchor="t"/>
          <a:lstStyle/>
          <a:p>
            <a:pPr marL="0" indent="0" algn="l">
              <a:lnSpc>
                <a:spcPct val="105000"/>
              </a:lnSpc>
              <a:buNone/>
            </a:pPr>
            <a:r>
              <a:rPr lang="en-US" sz="1900" dirty="0">
                <a:solidFill>
                  <a:srgbClr val="44464D"/>
                </a:solidFill>
                <a:latin typeface="Calibri" pitchFamily="34" charset="0"/>
                <a:ea typeface="Calibri" pitchFamily="34" charset="-122"/>
                <a:cs typeface="Calibri" pitchFamily="34" charset="-120"/>
              </a:rPr>
              <a:t>5,084 keys built from where past grievances were actually sent. Right department in its top three 80% of the time on a year we held back.</a:t>
            </a:r>
            <a:endParaRPr lang="en-US" sz="1900" dirty="0"/>
          </a:p>
        </p:txBody>
      </p:sp>
      <p:sp>
        <p:nvSpPr>
          <p:cNvPr id="7" name="Shape 5"/>
          <p:cNvSpPr/>
          <p:nvPr/>
        </p:nvSpPr>
        <p:spPr>
          <a:xfrm>
            <a:off x="640080" y="3456432"/>
            <a:ext cx="128016" cy="777240"/>
          </a:xfrm>
          <a:prstGeom prst="rect">
            <a:avLst/>
          </a:prstGeom>
          <a:solidFill>
            <a:srgbClr val="7A1F2B"/>
          </a:solidFill>
          <a:ln/>
        </p:spPr>
        <p:txBody>
          <a:bodyPr/>
          <a:lstStyle/>
          <a:p>
            <a:endParaRPr lang="en-IN"/>
          </a:p>
        </p:txBody>
      </p:sp>
      <p:sp>
        <p:nvSpPr>
          <p:cNvPr id="8" name="Text 6"/>
          <p:cNvSpPr/>
          <p:nvPr/>
        </p:nvSpPr>
        <p:spPr>
          <a:xfrm>
            <a:off x="960120" y="3383280"/>
            <a:ext cx="3291840" cy="822960"/>
          </a:xfrm>
          <a:prstGeom prst="rect">
            <a:avLst/>
          </a:prstGeom>
          <a:noFill/>
          <a:ln/>
        </p:spPr>
        <p:txBody>
          <a:bodyPr wrap="square" lIns="0" tIns="0" rIns="0" bIns="0" rtlCol="0" anchor="t"/>
          <a:lstStyle/>
          <a:p>
            <a:pPr marL="0" indent="0" algn="l">
              <a:buNone/>
            </a:pPr>
            <a:r>
              <a:rPr lang="en-US" sz="2100" b="1" dirty="0">
                <a:solidFill>
                  <a:srgbClr val="1E1F24"/>
                </a:solidFill>
                <a:latin typeface="Cambria" pitchFamily="34" charset="0"/>
                <a:ea typeface="Cambria" pitchFamily="34" charset="-122"/>
                <a:cs typeface="Cambria" pitchFamily="34" charset="-120"/>
              </a:rPr>
              <a:t>Where it falls back</a:t>
            </a:r>
            <a:endParaRPr lang="en-US" sz="2100" dirty="0"/>
          </a:p>
        </p:txBody>
      </p:sp>
      <p:sp>
        <p:nvSpPr>
          <p:cNvPr id="9" name="Text 7"/>
          <p:cNvSpPr/>
          <p:nvPr/>
        </p:nvSpPr>
        <p:spPr>
          <a:xfrm>
            <a:off x="4389120" y="3383280"/>
            <a:ext cx="7680960" cy="822960"/>
          </a:xfrm>
          <a:prstGeom prst="rect">
            <a:avLst/>
          </a:prstGeom>
          <a:noFill/>
          <a:ln/>
        </p:spPr>
        <p:txBody>
          <a:bodyPr wrap="square" lIns="0" tIns="0" rIns="0" bIns="0" rtlCol="0" anchor="t"/>
          <a:lstStyle/>
          <a:p>
            <a:pPr marL="0" indent="0" algn="l">
              <a:lnSpc>
                <a:spcPct val="105000"/>
              </a:lnSpc>
              <a:buNone/>
            </a:pPr>
            <a:r>
              <a:rPr lang="en-US" sz="1900" dirty="0">
                <a:solidFill>
                  <a:srgbClr val="44464D"/>
                </a:solidFill>
                <a:latin typeface="Calibri" pitchFamily="34" charset="0"/>
                <a:ea typeface="Calibri" pitchFamily="34" charset="-122"/>
                <a:cs typeface="Calibri" pitchFamily="34" charset="-120"/>
              </a:rPr>
              <a:t>No master table links a category to a department, so the keys had to be learned. When no key matches it drops to matching on name.</a:t>
            </a:r>
            <a:endParaRPr lang="en-US" sz="1900" dirty="0"/>
          </a:p>
        </p:txBody>
      </p:sp>
      <p:sp>
        <p:nvSpPr>
          <p:cNvPr id="13" name="Text 11"/>
          <p:cNvSpPr/>
          <p:nvPr/>
        </p:nvSpPr>
        <p:spPr>
          <a:xfrm>
            <a:off x="640080" y="6419088"/>
            <a:ext cx="5486400" cy="274320"/>
          </a:xfrm>
          <a:prstGeom prst="rect">
            <a:avLst/>
          </a:prstGeom>
          <a:noFill/>
          <a:ln/>
        </p:spPr>
        <p:txBody>
          <a:bodyPr wrap="square" lIns="0" tIns="0" rIns="0" bIns="0" rtlCol="0" anchor="ctr"/>
          <a:lstStyle/>
          <a:p>
            <a:pPr marL="0" indent="0" algn="l">
              <a:buNone/>
            </a:pPr>
            <a:r>
              <a:rPr lang="en-US" sz="850" dirty="0">
                <a:solidFill>
                  <a:srgbClr val="6C6E76"/>
                </a:solidFill>
                <a:latin typeface="Calibri" pitchFamily="34" charset="0"/>
                <a:ea typeface="Calibri" pitchFamily="34" charset="-122"/>
                <a:cs typeface="Calibri" pitchFamily="34" charset="-120"/>
              </a:rPr>
              <a:t>Data, Policy and Innovation Centre</a:t>
            </a:r>
            <a:endParaRPr lang="en-US" sz="850" dirty="0"/>
          </a:p>
        </p:txBody>
      </p:sp>
      <p:sp>
        <p:nvSpPr>
          <p:cNvPr id="14" name="Text 12"/>
          <p:cNvSpPr/>
          <p:nvPr/>
        </p:nvSpPr>
        <p:spPr>
          <a:xfrm>
            <a:off x="6035040" y="6419088"/>
            <a:ext cx="5486400" cy="274320"/>
          </a:xfrm>
          <a:prstGeom prst="rect">
            <a:avLst/>
          </a:prstGeom>
          <a:noFill/>
          <a:ln/>
        </p:spPr>
        <p:txBody>
          <a:bodyPr wrap="square" lIns="0" tIns="0" rIns="0" bIns="0" rtlCol="0" anchor="ctr"/>
          <a:lstStyle/>
          <a:p>
            <a:pPr marL="0" indent="0" algn="r">
              <a:buNone/>
            </a:pPr>
            <a:r>
              <a:rPr lang="en-US" sz="850" dirty="0">
                <a:solidFill>
                  <a:srgbClr val="6C6E76"/>
                </a:solidFill>
                <a:latin typeface="Calibri" pitchFamily="34" charset="0"/>
                <a:ea typeface="Calibri" pitchFamily="34" charset="-122"/>
                <a:cs typeface="Calibri" pitchFamily="34" charset="-120"/>
              </a:rPr>
              <a:t>Government of Odisha  ×  University of Chicago Trust</a:t>
            </a:r>
            <a:endParaRPr lang="en-US" sz="850" dirty="0"/>
          </a:p>
        </p:txBody>
      </p:sp>
      <p:sp>
        <p:nvSpPr>
          <p:cNvPr id="15" name="TextBox 14"/>
          <p:cNvSpPr txBox="1"/>
          <p:nvPr/>
        </p:nvSpPr>
        <p:spPr>
          <a:xfrm>
            <a:off x="640080" y="4617720"/>
            <a:ext cx="10881360" cy="384048"/>
          </a:xfrm>
          <a:prstGeom prst="rect">
            <a:avLst/>
          </a:prstGeom>
          <a:noFill/>
        </p:spPr>
        <p:txBody>
          <a:bodyPr wrap="square" lIns="0" rIns="0" tIns="0" bIns="0">
            <a:spAutoFit/>
          </a:bodyPr>
          <a:lstStyle/>
          <a:p>
            <a:pPr algn="l"/>
            <a:r>
              <a:rPr sz="1700" b="1" i="0">
                <a:solidFill>
                  <a:srgbClr val="7A1F2B"/>
                </a:solidFill>
                <a:latin typeface="Calibri"/>
              </a:rPr>
              <a:t>All of it learns where grievances were sent. None of it knows where one should go.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57200"/>
            <a:ext cx="10881360" cy="320040"/>
          </a:xfrm>
          <a:prstGeom prst="rect">
            <a:avLst/>
          </a:prstGeom>
          <a:noFill/>
          <a:ln/>
        </p:spPr>
        <p:txBody>
          <a:bodyPr wrap="square" lIns="0" tIns="0" rIns="0" bIns="0" rtlCol="0" anchor="ctr"/>
          <a:lstStyle/>
          <a:p>
            <a:pPr marL="0" indent="0" algn="l">
              <a:buNone/>
            </a:pPr>
            <a:r>
              <a:rPr lang="en-US" sz="1500" b="1" kern="0" spc="200" dirty="0">
                <a:solidFill>
                  <a:srgbClr val="7A1F2B"/>
                </a:solidFill>
                <a:latin typeface="Calibri" pitchFamily="34" charset="0"/>
                <a:ea typeface="Calibri" pitchFamily="34" charset="-122"/>
                <a:cs typeface="Calibri" pitchFamily="34" charset="-120"/>
              </a:rPr>
              <a:t>READING THE OFFICER'S NOTES</a:t>
            </a:r>
            <a:endParaRPr lang="en-US" sz="15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marL="0" indent="0" algn="l">
              <a:buNone/>
            </a:pPr>
            <a:r>
              <a:rPr lang="en-US" sz="3400" b="1" dirty="0">
                <a:solidFill>
                  <a:srgbClr val="1E1F24"/>
                </a:solidFill>
                <a:latin typeface="Cambria" pitchFamily="34" charset="0"/>
                <a:ea typeface="Cambria" pitchFamily="34" charset="-122"/>
                <a:cs typeface="Cambria" pitchFamily="34" charset="-120"/>
              </a:rPr>
              <a:t>Closures on the six-template disposal ladder</a:t>
            </a:r>
            <a:endParaRPr lang="en-US" sz="3400" dirty="0"/>
          </a:p>
        </p:txBody>
      </p:sp>
      <p:sp>
        <p:nvSpPr>
          <p:cNvPr id="4" name="Text 2"/>
          <p:cNvSpPr/>
          <p:nvPr/>
        </p:nvSpPr>
        <p:spPr>
          <a:xfrm>
            <a:off x="640080" y="1691640"/>
            <a:ext cx="10881360" cy="365760"/>
          </a:xfrm>
          <a:prstGeom prst="rect">
            <a:avLst/>
          </a:prstGeom>
          <a:noFill/>
          <a:ln/>
        </p:spPr>
        <p:txBody>
          <a:bodyPr wrap="square" lIns="0" tIns="0" rIns="0" bIns="0" rtlCol="0" anchor="ctr"/>
          <a:lstStyle/>
          <a:p>
            <a:pPr marL="0" indent="0" algn="l">
              <a:buNone/>
            </a:pPr>
            <a:r>
              <a:rPr lang="en-US" sz="1900" i="1" dirty="0">
                <a:solidFill>
                  <a:srgbClr val="44464D"/>
                </a:solidFill>
                <a:latin typeface="Calibri" pitchFamily="34" charset="0"/>
                <a:ea typeface="Calibri" pitchFamily="34" charset="-122"/>
                <a:cs typeface="Calibri" pitchFamily="34" charset="-120"/>
              </a:rPr>
              <a:t>How 776,922 closures were recorded, on the six standard remarks.</a:t>
            </a:r>
            <a:endParaRPr lang="en-US" sz="1900" dirty="0"/>
          </a:p>
        </p:txBody>
      </p:sp>
      <p:sp>
        <p:nvSpPr>
          <p:cNvPr id="5" name="Text 3"/>
          <p:cNvSpPr/>
          <p:nvPr/>
        </p:nvSpPr>
        <p:spPr>
          <a:xfrm>
            <a:off x="640080" y="2377440"/>
            <a:ext cx="2240280" cy="621792"/>
          </a:xfrm>
          <a:prstGeom prst="rect">
            <a:avLst/>
          </a:prstGeom>
          <a:noFill/>
          <a:ln/>
        </p:spPr>
        <p:txBody>
          <a:bodyPr wrap="square" lIns="0" tIns="0" rIns="0" bIns="0" rtlCol="0" anchor="ctr"/>
          <a:lstStyle/>
          <a:p>
            <a:pPr marL="0" indent="0" algn="r">
              <a:buNone/>
            </a:pPr>
            <a:r>
              <a:rPr lang="en-US" sz="1450" b="1" dirty="0">
                <a:solidFill>
                  <a:srgbClr val="1E1F24"/>
                </a:solidFill>
                <a:latin typeface="Calibri" pitchFamily="34" charset="0"/>
                <a:ea typeface="Calibri" pitchFamily="34" charset="-122"/>
                <a:cs typeface="Calibri" pitchFamily="34" charset="-120"/>
              </a:rPr>
              <a:t>Disposed, no action claimed</a:t>
            </a:r>
            <a:endParaRPr lang="en-US" sz="1450" dirty="0"/>
          </a:p>
        </p:txBody>
      </p:sp>
      <p:sp>
        <p:nvSpPr>
          <p:cNvPr id="6" name="Shape 4"/>
          <p:cNvSpPr/>
          <p:nvPr/>
        </p:nvSpPr>
        <p:spPr>
          <a:xfrm>
            <a:off x="3017520" y="2377440"/>
            <a:ext cx="7315200" cy="621792"/>
          </a:xfrm>
          <a:prstGeom prst="rect">
            <a:avLst/>
          </a:prstGeom>
          <a:solidFill>
            <a:srgbClr val="7A1F2B"/>
          </a:solidFill>
          <a:ln/>
        </p:spPr>
        <p:txBody>
          <a:bodyPr/>
          <a:lstStyle/>
          <a:p>
            <a:endParaRPr lang="en-IN"/>
          </a:p>
        </p:txBody>
      </p:sp>
      <p:sp>
        <p:nvSpPr>
          <p:cNvPr id="7" name="Text 5"/>
          <p:cNvSpPr/>
          <p:nvPr/>
        </p:nvSpPr>
        <p:spPr>
          <a:xfrm>
            <a:off x="3154680" y="2377440"/>
            <a:ext cx="7040880" cy="621792"/>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472,782</a:t>
            </a:r>
            <a:endParaRPr lang="en-US" sz="1600" dirty="0"/>
          </a:p>
        </p:txBody>
      </p:sp>
      <p:sp>
        <p:nvSpPr>
          <p:cNvPr id="8" name="Text 6"/>
          <p:cNvSpPr/>
          <p:nvPr/>
        </p:nvSpPr>
        <p:spPr>
          <a:xfrm>
            <a:off x="640080" y="3383280"/>
            <a:ext cx="2240280" cy="621792"/>
          </a:xfrm>
          <a:prstGeom prst="rect">
            <a:avLst/>
          </a:prstGeom>
          <a:noFill/>
          <a:ln/>
        </p:spPr>
        <p:txBody>
          <a:bodyPr wrap="square" lIns="0" tIns="0" rIns="0" bIns="0" rtlCol="0" anchor="ctr"/>
          <a:lstStyle/>
          <a:p>
            <a:pPr marL="0" indent="0" algn="r">
              <a:buNone/>
            </a:pPr>
            <a:r>
              <a:rPr lang="en-US" sz="1450" b="1" dirty="0">
                <a:solidFill>
                  <a:srgbClr val="1E1F24"/>
                </a:solidFill>
                <a:latin typeface="Calibri" pitchFamily="34" charset="0"/>
                <a:ea typeface="Calibri" pitchFamily="34" charset="-122"/>
                <a:cs typeface="Calibri" pitchFamily="34" charset="-120"/>
              </a:rPr>
              <a:t>Disposed with action taken</a:t>
            </a:r>
            <a:endParaRPr lang="en-US" sz="1450" dirty="0"/>
          </a:p>
        </p:txBody>
      </p:sp>
      <p:sp>
        <p:nvSpPr>
          <p:cNvPr id="9" name="Shape 7"/>
          <p:cNvSpPr/>
          <p:nvPr/>
        </p:nvSpPr>
        <p:spPr>
          <a:xfrm>
            <a:off x="3017520" y="3383280"/>
            <a:ext cx="4346071" cy="621792"/>
          </a:xfrm>
          <a:prstGeom prst="rect">
            <a:avLst/>
          </a:prstGeom>
          <a:solidFill>
            <a:srgbClr val="9A9CA3"/>
          </a:solidFill>
          <a:ln/>
        </p:spPr>
        <p:txBody>
          <a:bodyPr/>
          <a:lstStyle/>
          <a:p>
            <a:endParaRPr lang="en-IN"/>
          </a:p>
        </p:txBody>
      </p:sp>
      <p:sp>
        <p:nvSpPr>
          <p:cNvPr id="10" name="Text 8"/>
          <p:cNvSpPr/>
          <p:nvPr/>
        </p:nvSpPr>
        <p:spPr>
          <a:xfrm>
            <a:off x="3154680" y="3383280"/>
            <a:ext cx="4071751" cy="621792"/>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280,887</a:t>
            </a:r>
            <a:endParaRPr lang="en-US" sz="1600" dirty="0"/>
          </a:p>
        </p:txBody>
      </p:sp>
      <p:sp>
        <p:nvSpPr>
          <p:cNvPr id="11" name="Text 9"/>
          <p:cNvSpPr/>
          <p:nvPr/>
        </p:nvSpPr>
        <p:spPr>
          <a:xfrm>
            <a:off x="640080" y="4389120"/>
            <a:ext cx="2240280" cy="621792"/>
          </a:xfrm>
          <a:prstGeom prst="rect">
            <a:avLst/>
          </a:prstGeom>
          <a:noFill/>
          <a:ln/>
        </p:spPr>
        <p:txBody>
          <a:bodyPr wrap="square" lIns="0" tIns="0" rIns="0" bIns="0" rtlCol="0" anchor="ctr"/>
          <a:lstStyle/>
          <a:p>
            <a:pPr marL="0" indent="0" algn="r">
              <a:buNone/>
            </a:pPr>
            <a:r>
              <a:rPr lang="en-US" sz="1450" b="1" dirty="0">
                <a:solidFill>
                  <a:srgbClr val="1E1F24"/>
                </a:solidFill>
                <a:latin typeface="Calibri" pitchFamily="34" charset="0"/>
                <a:ea typeface="Calibri" pitchFamily="34" charset="-122"/>
                <a:cs typeface="Calibri" pitchFamily="34" charset="-120"/>
              </a:rPr>
              <a:t>Beneficiary benefited</a:t>
            </a:r>
            <a:endParaRPr lang="en-US" sz="1450" dirty="0"/>
          </a:p>
        </p:txBody>
      </p:sp>
      <p:sp>
        <p:nvSpPr>
          <p:cNvPr id="12" name="Shape 10"/>
          <p:cNvSpPr/>
          <p:nvPr/>
        </p:nvSpPr>
        <p:spPr>
          <a:xfrm>
            <a:off x="3017520" y="4389120"/>
            <a:ext cx="1234440" cy="621792"/>
          </a:xfrm>
          <a:prstGeom prst="rect">
            <a:avLst/>
          </a:prstGeom>
          <a:solidFill>
            <a:srgbClr val="1E1F24"/>
          </a:solidFill>
          <a:ln/>
        </p:spPr>
        <p:txBody>
          <a:bodyPr/>
          <a:lstStyle/>
          <a:p>
            <a:endParaRPr lang="en-IN"/>
          </a:p>
        </p:txBody>
      </p:sp>
      <p:sp>
        <p:nvSpPr>
          <p:cNvPr id="13" name="Text 11"/>
          <p:cNvSpPr/>
          <p:nvPr/>
        </p:nvSpPr>
        <p:spPr>
          <a:xfrm>
            <a:off x="3154680" y="4389120"/>
            <a:ext cx="960120" cy="621792"/>
          </a:xfrm>
          <a:prstGeom prst="rect">
            <a:avLst/>
          </a:prstGeom>
          <a:noFill/>
          <a:ln/>
        </p:spPr>
        <p:txBody>
          <a:bodyPr wrap="square" lIns="0" tIns="0" rIns="0" bIns="0" rtlCol="0" anchor="ctr"/>
          <a:lstStyle/>
          <a:p>
            <a:pPr marL="0" indent="0" algn="l">
              <a:buNone/>
            </a:pPr>
            <a:r>
              <a:rPr lang="en-US" sz="1600" b="1" dirty="0">
                <a:solidFill>
                  <a:srgbClr val="FFFFFF"/>
                </a:solidFill>
                <a:latin typeface="Calibri" pitchFamily="34" charset="0"/>
                <a:ea typeface="Calibri" pitchFamily="34" charset="-122"/>
                <a:cs typeface="Calibri" pitchFamily="34" charset="-120"/>
              </a:rPr>
              <a:t>23,253</a:t>
            </a:r>
            <a:endParaRPr lang="en-US" sz="1600" dirty="0"/>
          </a:p>
        </p:txBody>
      </p:sp>
      <p:sp>
        <p:nvSpPr>
          <p:cNvPr id="15" name="Text 13"/>
          <p:cNvSpPr/>
          <p:nvPr/>
        </p:nvSpPr>
        <p:spPr>
          <a:xfrm>
            <a:off x="640080" y="5833872"/>
            <a:ext cx="10881360" cy="365760"/>
          </a:xfrm>
          <a:prstGeom prst="rect">
            <a:avLst/>
          </a:prstGeom>
          <a:noFill/>
          <a:ln/>
        </p:spPr>
        <p:txBody>
          <a:bodyPr wrap="square" lIns="0" tIns="0" rIns="0" bIns="0" rtlCol="0" anchor="ctr"/>
          <a:lstStyle/>
          <a:p>
            <a:pPr marL="0" indent="0" algn="l">
              <a:buNone/>
            </a:pPr>
            <a:r>
              <a:rPr lang="en-US" sz="1700" b="1" dirty="0">
                <a:solidFill>
                  <a:srgbClr val="7A1F2B"/>
                </a:solidFill>
                <a:latin typeface="Calibri" pitchFamily="34" charset="0"/>
                <a:ea typeface="Calibri" pitchFamily="34" charset="-122"/>
                <a:cs typeface="Calibri" pitchFamily="34" charset="-120"/>
              </a:rPr>
              <a:t>The fastest way to close a case is to do nothing. Speed alone cannot be the target.</a:t>
            </a:r>
            <a:endParaRPr lang="en-US" sz="1700" dirty="0"/>
          </a:p>
        </p:txBody>
      </p:sp>
      <p:sp>
        <p:nvSpPr>
          <p:cNvPr id="16" name="Text 14"/>
          <p:cNvSpPr/>
          <p:nvPr/>
        </p:nvSpPr>
        <p:spPr>
          <a:xfrm>
            <a:off x="640080" y="6419088"/>
            <a:ext cx="5486400" cy="274320"/>
          </a:xfrm>
          <a:prstGeom prst="rect">
            <a:avLst/>
          </a:prstGeom>
          <a:noFill/>
          <a:ln/>
        </p:spPr>
        <p:txBody>
          <a:bodyPr wrap="square" lIns="0" tIns="0" rIns="0" bIns="0" rtlCol="0" anchor="ctr"/>
          <a:lstStyle/>
          <a:p>
            <a:pPr marL="0" indent="0" algn="l">
              <a:buNone/>
            </a:pPr>
            <a:r>
              <a:rPr lang="en-US" sz="850" dirty="0">
                <a:solidFill>
                  <a:srgbClr val="6C6E76"/>
                </a:solidFill>
                <a:latin typeface="Calibri" pitchFamily="34" charset="0"/>
                <a:ea typeface="Calibri" pitchFamily="34" charset="-122"/>
                <a:cs typeface="Calibri" pitchFamily="34" charset="-120"/>
              </a:rPr>
              <a:t>Data, Policy and Innovation Centre</a:t>
            </a:r>
            <a:endParaRPr lang="en-US" sz="850" dirty="0"/>
          </a:p>
        </p:txBody>
      </p:sp>
      <p:sp>
        <p:nvSpPr>
          <p:cNvPr id="17" name="Text 15"/>
          <p:cNvSpPr/>
          <p:nvPr/>
        </p:nvSpPr>
        <p:spPr>
          <a:xfrm>
            <a:off x="6035040" y="6419088"/>
            <a:ext cx="5486400" cy="274320"/>
          </a:xfrm>
          <a:prstGeom prst="rect">
            <a:avLst/>
          </a:prstGeom>
          <a:noFill/>
          <a:ln/>
        </p:spPr>
        <p:txBody>
          <a:bodyPr wrap="square" lIns="0" tIns="0" rIns="0" bIns="0" rtlCol="0" anchor="ctr"/>
          <a:lstStyle/>
          <a:p>
            <a:pPr marL="0" indent="0" algn="r">
              <a:buNone/>
            </a:pPr>
            <a:r>
              <a:rPr lang="en-US" sz="850" dirty="0">
                <a:solidFill>
                  <a:srgbClr val="6C6E76"/>
                </a:solidFill>
                <a:latin typeface="Calibri" pitchFamily="34" charset="0"/>
                <a:ea typeface="Calibri" pitchFamily="34" charset="-122"/>
                <a:cs typeface="Calibri" pitchFamily="34" charset="-120"/>
              </a:rPr>
              <a:t>Government of Odisha  ×  University of Chicago Trust</a:t>
            </a:r>
            <a:endParaRPr lang="en-US" sz="850" dirty="0"/>
          </a:p>
        </p:txBody>
      </p:sp>
      <p:sp>
        <p:nvSpPr>
          <p:cNvPr id="19" name="Text 12">
            <a:extLst>
              <a:ext uri="{FF2B5EF4-FFF2-40B4-BE49-F238E27FC236}">
                <a16:creationId xmlns:a16="http://schemas.microsoft.com/office/drawing/2014/main" id="{C3A3CA48-F2C9-4CDD-B1FA-FA1C5C78F24A}"/>
              </a:ext>
            </a:extLst>
          </p:cNvPr>
          <p:cNvSpPr/>
          <p:nvPr/>
        </p:nvSpPr>
        <p:spPr>
          <a:xfrm>
            <a:off x="1594579" y="5172618"/>
            <a:ext cx="10881360" cy="320040"/>
          </a:xfrm>
          <a:prstGeom prst="rect">
            <a:avLst/>
          </a:prstGeom>
          <a:noFill/>
          <a:ln/>
        </p:spPr>
        <p:txBody>
          <a:bodyPr wrap="square" lIns="0" tIns="0" rIns="0" bIns="0" rtlCol="0" anchor="ctr"/>
          <a:lstStyle/>
          <a:p>
            <a:pPr marL="0" indent="0" algn="l">
              <a:buNone/>
            </a:pPr>
            <a:r>
              <a:rPr lang="en-US" sz="1200" dirty="0">
                <a:solidFill>
                  <a:srgbClr val="6C6E76"/>
                </a:solidFill>
                <a:latin typeface="Calibri" pitchFamily="34" charset="0"/>
                <a:ea typeface="Calibri" pitchFamily="34" charset="-122"/>
                <a:cs typeface="Calibri" pitchFamily="34" charset="-120"/>
              </a:rPr>
              <a:t>Median days to close: 46 claiming no action, 54 claiming action taken</a:t>
            </a:r>
            <a:endParaRPr lang="en-US" sz="1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57200"/>
            <a:ext cx="10881360" cy="320040"/>
          </a:xfrm>
          <a:prstGeom prst="rect">
            <a:avLst/>
          </a:prstGeom>
          <a:noFill/>
          <a:ln/>
        </p:spPr>
        <p:txBody>
          <a:bodyPr wrap="square" lIns="0" tIns="0" rIns="0" bIns="0" rtlCol="0" anchor="ctr"/>
          <a:lstStyle/>
          <a:p>
            <a:pPr marL="0" indent="0" algn="l">
              <a:buNone/>
            </a:pPr>
            <a:r>
              <a:rPr lang="en-US" sz="1500" b="1" kern="0" spc="200" dirty="0">
                <a:solidFill>
                  <a:srgbClr val="7A1F2B"/>
                </a:solidFill>
                <a:latin typeface="Calibri" pitchFamily="34" charset="0"/>
                <a:ea typeface="Calibri" pitchFamily="34" charset="-122"/>
                <a:cs typeface="Calibri" pitchFamily="34" charset="-120"/>
              </a:rPr>
              <a:t>WOULD ANOTHER ROUTE WORK BETTER?</a:t>
            </a:r>
            <a:endParaRPr lang="en-US" sz="15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marL="0" indent="0" algn="l">
              <a:buNone/>
            </a:pPr>
            <a:r>
              <a:rPr lang="en-US" sz="3400" b="1" dirty="0">
                <a:solidFill>
                  <a:srgbClr val="1E1F24"/>
                </a:solidFill>
                <a:latin typeface="Cambria" pitchFamily="34" charset="0"/>
                <a:ea typeface="Cambria" pitchFamily="34" charset="-122"/>
                <a:cs typeface="Cambria" pitchFamily="34" charset="-120"/>
              </a:rPr>
              <a:t>How the routing evaluation was built</a:t>
            </a:r>
            <a:endParaRPr lang="en-US" sz="3400" dirty="0"/>
          </a:p>
        </p:txBody>
      </p:sp>
      <p:sp>
        <p:nvSpPr>
          <p:cNvPr id="4" name="Text 2"/>
          <p:cNvSpPr/>
          <p:nvPr/>
        </p:nvSpPr>
        <p:spPr>
          <a:xfrm>
            <a:off x="640080" y="2194560"/>
            <a:ext cx="502920" cy="640080"/>
          </a:xfrm>
          <a:prstGeom prst="rect">
            <a:avLst/>
          </a:prstGeom>
          <a:noFill/>
          <a:ln/>
        </p:spPr>
        <p:txBody>
          <a:bodyPr wrap="square" lIns="0" tIns="0" rIns="0" bIns="0" rtlCol="0" anchor="ctr"/>
          <a:lstStyle/>
          <a:p>
            <a:pPr marL="0" indent="0" algn="l">
              <a:buNone/>
            </a:pPr>
            <a:r>
              <a:rPr lang="en-US" sz="3200" b="1" dirty="0">
                <a:solidFill>
                  <a:srgbClr val="7A1F2B"/>
                </a:solidFill>
                <a:latin typeface="Cambria" pitchFamily="34" charset="0"/>
                <a:ea typeface="Cambria" pitchFamily="34" charset="-122"/>
                <a:cs typeface="Cambria" pitchFamily="34" charset="-120"/>
              </a:rPr>
              <a:t>1</a:t>
            </a:r>
            <a:endParaRPr lang="en-US" sz="3200" dirty="0"/>
          </a:p>
        </p:txBody>
      </p:sp>
      <p:sp>
        <p:nvSpPr>
          <p:cNvPr id="5" name="Text 3"/>
          <p:cNvSpPr/>
          <p:nvPr/>
        </p:nvSpPr>
        <p:spPr>
          <a:xfrm>
            <a:off x="1280160" y="2194560"/>
            <a:ext cx="5852160" cy="822960"/>
          </a:xfrm>
          <a:prstGeom prst="rect">
            <a:avLst/>
          </a:prstGeom>
          <a:noFill/>
          <a:ln/>
        </p:spPr>
        <p:txBody>
          <a:bodyPr wrap="square" lIns="0" tIns="0" rIns="0" bIns="0" rtlCol="0" anchor="ctr"/>
          <a:lstStyle/>
          <a:p>
            <a:pPr marL="0" indent="0" algn="l">
              <a:lnSpc>
                <a:spcPct val="105000"/>
              </a:lnSpc>
              <a:buNone/>
            </a:pPr>
            <a:r>
              <a:rPr lang="en-US" sz="1850" dirty="0">
                <a:solidFill>
                  <a:srgbClr val="1E1F24"/>
                </a:solidFill>
                <a:latin typeface="Calibri" pitchFamily="34" charset="0"/>
                <a:ea typeface="Calibri" pitchFamily="34" charset="-122"/>
                <a:cs typeface="Calibri" pitchFamily="34" charset="-120"/>
              </a:rPr>
              <a:t>Estimate time to disposal on every route</a:t>
            </a:r>
            <a:endParaRPr lang="en-US" sz="1850" dirty="0"/>
          </a:p>
        </p:txBody>
      </p:sp>
      <p:sp>
        <p:nvSpPr>
          <p:cNvPr id="6" name="Shape 4"/>
          <p:cNvSpPr/>
          <p:nvPr/>
        </p:nvSpPr>
        <p:spPr>
          <a:xfrm>
            <a:off x="7406640" y="2212848"/>
            <a:ext cx="4114800" cy="777240"/>
          </a:xfrm>
          <a:prstGeom prst="roundRect">
            <a:avLst>
              <a:gd name="adj" fmla="val 7059"/>
            </a:avLst>
          </a:prstGeom>
          <a:solidFill>
            <a:srgbClr val="F4F4F6"/>
          </a:solidFill>
          <a:ln w="12700">
            <a:solidFill>
              <a:srgbClr val="D6D8DD"/>
            </a:solidFill>
            <a:prstDash val="solid"/>
          </a:ln>
        </p:spPr>
        <p:txBody>
          <a:bodyPr/>
          <a:lstStyle/>
          <a:p>
            <a:endParaRPr lang="en-IN"/>
          </a:p>
        </p:txBody>
      </p:sp>
      <p:sp>
        <p:nvSpPr>
          <p:cNvPr id="7" name="Text 5"/>
          <p:cNvSpPr/>
          <p:nvPr/>
        </p:nvSpPr>
        <p:spPr>
          <a:xfrm>
            <a:off x="7571232" y="2212848"/>
            <a:ext cx="3794760" cy="777240"/>
          </a:xfrm>
          <a:prstGeom prst="rect">
            <a:avLst/>
          </a:prstGeom>
          <a:noFill/>
          <a:ln/>
        </p:spPr>
        <p:txBody>
          <a:bodyPr wrap="square" lIns="0" tIns="0" rIns="0" bIns="0" rtlCol="0" anchor="ctr"/>
          <a:lstStyle/>
          <a:p>
            <a:pPr marL="0" indent="0" algn="l">
              <a:lnSpc>
                <a:spcPct val="100000"/>
              </a:lnSpc>
              <a:buNone/>
            </a:pPr>
            <a:r>
              <a:rPr lang="en-US" sz="1450" dirty="0">
                <a:solidFill>
                  <a:srgbClr val="1E1F24"/>
                </a:solidFill>
                <a:latin typeface="Calibri" pitchFamily="34" charset="0"/>
                <a:ea typeface="Calibri" pitchFamily="34" charset="-122"/>
                <a:cs typeface="Calibri" pitchFamily="34" charset="-120"/>
              </a:rPr>
              <a:t>Ridge and gradient boosting, cross-fitted, capped at 365 days, under each historically supported department and role chain.</a:t>
            </a:r>
            <a:endParaRPr lang="en-US" sz="1450" dirty="0"/>
          </a:p>
        </p:txBody>
      </p:sp>
      <p:sp>
        <p:nvSpPr>
          <p:cNvPr id="8" name="Shape 6"/>
          <p:cNvSpPr/>
          <p:nvPr/>
        </p:nvSpPr>
        <p:spPr>
          <a:xfrm>
            <a:off x="640080" y="3154680"/>
            <a:ext cx="10881360" cy="0"/>
          </a:xfrm>
          <a:prstGeom prst="line">
            <a:avLst/>
          </a:prstGeom>
          <a:noFill/>
          <a:ln w="9525">
            <a:solidFill>
              <a:srgbClr val="D6D8DD"/>
            </a:solidFill>
            <a:prstDash val="solid"/>
          </a:ln>
        </p:spPr>
        <p:txBody>
          <a:bodyPr/>
          <a:lstStyle/>
          <a:p>
            <a:endParaRPr lang="en-IN"/>
          </a:p>
        </p:txBody>
      </p:sp>
      <p:sp>
        <p:nvSpPr>
          <p:cNvPr id="9" name="Text 7"/>
          <p:cNvSpPr/>
          <p:nvPr/>
        </p:nvSpPr>
        <p:spPr>
          <a:xfrm>
            <a:off x="640080" y="3291840"/>
            <a:ext cx="502920" cy="640080"/>
          </a:xfrm>
          <a:prstGeom prst="rect">
            <a:avLst/>
          </a:prstGeom>
          <a:noFill/>
          <a:ln/>
        </p:spPr>
        <p:txBody>
          <a:bodyPr wrap="square" lIns="0" tIns="0" rIns="0" bIns="0" rtlCol="0" anchor="ctr"/>
          <a:lstStyle/>
          <a:p>
            <a:pPr marL="0" indent="0" algn="l">
              <a:buNone/>
            </a:pPr>
            <a:r>
              <a:rPr lang="en-US" sz="3200" b="1" dirty="0">
                <a:solidFill>
                  <a:srgbClr val="7A1F2B"/>
                </a:solidFill>
                <a:latin typeface="Cambria" pitchFamily="34" charset="0"/>
                <a:ea typeface="Cambria" pitchFamily="34" charset="-122"/>
                <a:cs typeface="Cambria" pitchFamily="34" charset="-120"/>
              </a:rPr>
              <a:t>2</a:t>
            </a:r>
            <a:endParaRPr lang="en-US" sz="3200" dirty="0"/>
          </a:p>
        </p:txBody>
      </p:sp>
      <p:sp>
        <p:nvSpPr>
          <p:cNvPr id="10" name="Text 8"/>
          <p:cNvSpPr/>
          <p:nvPr/>
        </p:nvSpPr>
        <p:spPr>
          <a:xfrm>
            <a:off x="1280160" y="3291840"/>
            <a:ext cx="5852160" cy="822960"/>
          </a:xfrm>
          <a:prstGeom prst="rect">
            <a:avLst/>
          </a:prstGeom>
          <a:noFill/>
          <a:ln/>
        </p:spPr>
        <p:txBody>
          <a:bodyPr wrap="square" lIns="0" tIns="0" rIns="0" bIns="0" rtlCol="0" anchor="ctr"/>
          <a:lstStyle/>
          <a:p>
            <a:pPr marL="0" indent="0" algn="l">
              <a:lnSpc>
                <a:spcPct val="105000"/>
              </a:lnSpc>
              <a:buNone/>
            </a:pPr>
            <a:r>
              <a:rPr lang="en-US" sz="1850" dirty="0">
                <a:solidFill>
                  <a:srgbClr val="1E1F24"/>
                </a:solidFill>
                <a:latin typeface="Calibri" pitchFamily="34" charset="0"/>
                <a:ea typeface="Calibri" pitchFamily="34" charset="-122"/>
                <a:cs typeface="Calibri" pitchFamily="34" charset="-120"/>
              </a:rPr>
              <a:t>Safeguard the action rate</a:t>
            </a:r>
            <a:endParaRPr lang="en-US" sz="1850" dirty="0"/>
          </a:p>
        </p:txBody>
      </p:sp>
      <p:sp>
        <p:nvSpPr>
          <p:cNvPr id="11" name="Shape 9"/>
          <p:cNvSpPr/>
          <p:nvPr/>
        </p:nvSpPr>
        <p:spPr>
          <a:xfrm>
            <a:off x="7406640" y="3310128"/>
            <a:ext cx="4114800" cy="777240"/>
          </a:xfrm>
          <a:prstGeom prst="roundRect">
            <a:avLst>
              <a:gd name="adj" fmla="val 7059"/>
            </a:avLst>
          </a:prstGeom>
          <a:solidFill>
            <a:srgbClr val="F4F4F6"/>
          </a:solidFill>
          <a:ln w="12700">
            <a:solidFill>
              <a:srgbClr val="D6D8DD"/>
            </a:solidFill>
            <a:prstDash val="solid"/>
          </a:ln>
        </p:spPr>
        <p:txBody>
          <a:bodyPr/>
          <a:lstStyle/>
          <a:p>
            <a:endParaRPr lang="en-IN"/>
          </a:p>
        </p:txBody>
      </p:sp>
      <p:sp>
        <p:nvSpPr>
          <p:cNvPr id="12" name="Text 10"/>
          <p:cNvSpPr/>
          <p:nvPr/>
        </p:nvSpPr>
        <p:spPr>
          <a:xfrm>
            <a:off x="7571232" y="3310128"/>
            <a:ext cx="3794760" cy="777240"/>
          </a:xfrm>
          <a:prstGeom prst="rect">
            <a:avLst/>
          </a:prstGeom>
          <a:noFill/>
          <a:ln/>
        </p:spPr>
        <p:txBody>
          <a:bodyPr wrap="square" lIns="0" tIns="0" rIns="0" bIns="0" rtlCol="0" anchor="ctr"/>
          <a:lstStyle/>
          <a:p>
            <a:r>
              <a:rPr lang="en-US" sz="1450" dirty="0">
                <a:solidFill>
                  <a:srgbClr val="1E1F24"/>
                </a:solidFill>
                <a:latin typeface="Calibri" pitchFamily="34" charset="0"/>
                <a:ea typeface="Calibri" pitchFamily="34" charset="-122"/>
                <a:cs typeface="Calibri" pitchFamily="34" charset="-120"/>
              </a:rPr>
              <a:t>A calibrated classifier for whether substantive action is taken. A faster route is admissible only where that rate holds.</a:t>
            </a:r>
            <a:endParaRPr lang="en-US" sz="1450" dirty="0"/>
          </a:p>
        </p:txBody>
      </p:sp>
      <p:sp>
        <p:nvSpPr>
          <p:cNvPr id="13" name="Shape 11"/>
          <p:cNvSpPr/>
          <p:nvPr/>
        </p:nvSpPr>
        <p:spPr>
          <a:xfrm>
            <a:off x="640080" y="4251960"/>
            <a:ext cx="10881360" cy="0"/>
          </a:xfrm>
          <a:prstGeom prst="line">
            <a:avLst/>
          </a:prstGeom>
          <a:noFill/>
          <a:ln w="9525">
            <a:solidFill>
              <a:srgbClr val="D6D8DD"/>
            </a:solidFill>
            <a:prstDash val="solid"/>
          </a:ln>
        </p:spPr>
        <p:txBody>
          <a:bodyPr/>
          <a:lstStyle/>
          <a:p>
            <a:endParaRPr lang="en-IN"/>
          </a:p>
        </p:txBody>
      </p:sp>
      <p:sp>
        <p:nvSpPr>
          <p:cNvPr id="14" name="Text 12"/>
          <p:cNvSpPr/>
          <p:nvPr/>
        </p:nvSpPr>
        <p:spPr>
          <a:xfrm>
            <a:off x="640080" y="4389120"/>
            <a:ext cx="502920" cy="640080"/>
          </a:xfrm>
          <a:prstGeom prst="rect">
            <a:avLst/>
          </a:prstGeom>
          <a:noFill/>
          <a:ln/>
        </p:spPr>
        <p:txBody>
          <a:bodyPr wrap="square" lIns="0" tIns="0" rIns="0" bIns="0" rtlCol="0" anchor="ctr"/>
          <a:lstStyle/>
          <a:p>
            <a:pPr marL="0" indent="0" algn="l">
              <a:buNone/>
            </a:pPr>
            <a:r>
              <a:rPr lang="en-US" sz="3200" b="1" dirty="0">
                <a:solidFill>
                  <a:srgbClr val="7A1F2B"/>
                </a:solidFill>
                <a:latin typeface="Cambria" pitchFamily="34" charset="0"/>
                <a:ea typeface="Cambria" pitchFamily="34" charset="-122"/>
                <a:cs typeface="Cambria" pitchFamily="34" charset="-120"/>
              </a:rPr>
              <a:t>3</a:t>
            </a:r>
            <a:endParaRPr lang="en-US" sz="3200" dirty="0"/>
          </a:p>
        </p:txBody>
      </p:sp>
      <p:sp>
        <p:nvSpPr>
          <p:cNvPr id="15" name="Text 13"/>
          <p:cNvSpPr/>
          <p:nvPr/>
        </p:nvSpPr>
        <p:spPr>
          <a:xfrm>
            <a:off x="1280160" y="4389120"/>
            <a:ext cx="5852160" cy="822960"/>
          </a:xfrm>
          <a:prstGeom prst="rect">
            <a:avLst/>
          </a:prstGeom>
          <a:noFill/>
          <a:ln/>
        </p:spPr>
        <p:txBody>
          <a:bodyPr wrap="square" lIns="0" tIns="0" rIns="0" bIns="0" rtlCol="0" anchor="ctr"/>
          <a:lstStyle/>
          <a:p>
            <a:pPr marL="0" indent="0" algn="l">
              <a:lnSpc>
                <a:spcPct val="105000"/>
              </a:lnSpc>
              <a:buNone/>
            </a:pPr>
            <a:r>
              <a:rPr lang="en-US" sz="1850" dirty="0">
                <a:solidFill>
                  <a:srgbClr val="1E1F24"/>
                </a:solidFill>
                <a:latin typeface="Calibri" pitchFamily="34" charset="0"/>
                <a:ea typeface="Calibri" pitchFamily="34" charset="-122"/>
                <a:cs typeface="Calibri" pitchFamily="34" charset="-120"/>
              </a:rPr>
              <a:t>Verify against outcomes we observed</a:t>
            </a:r>
            <a:endParaRPr lang="en-US" sz="1850" dirty="0"/>
          </a:p>
        </p:txBody>
      </p:sp>
      <p:sp>
        <p:nvSpPr>
          <p:cNvPr id="16" name="Shape 14"/>
          <p:cNvSpPr/>
          <p:nvPr/>
        </p:nvSpPr>
        <p:spPr>
          <a:xfrm>
            <a:off x="7406640" y="4407408"/>
            <a:ext cx="4114800" cy="777240"/>
          </a:xfrm>
          <a:prstGeom prst="roundRect">
            <a:avLst>
              <a:gd name="adj" fmla="val 7059"/>
            </a:avLst>
          </a:prstGeom>
          <a:solidFill>
            <a:srgbClr val="F4F4F6"/>
          </a:solidFill>
          <a:ln w="12700">
            <a:solidFill>
              <a:srgbClr val="D6D8DD"/>
            </a:solidFill>
            <a:prstDash val="solid"/>
          </a:ln>
        </p:spPr>
        <p:txBody>
          <a:bodyPr/>
          <a:lstStyle/>
          <a:p>
            <a:endParaRPr lang="en-IN" b="1"/>
          </a:p>
        </p:txBody>
      </p:sp>
      <p:sp>
        <p:nvSpPr>
          <p:cNvPr id="17" name="Text 15"/>
          <p:cNvSpPr/>
          <p:nvPr/>
        </p:nvSpPr>
        <p:spPr>
          <a:xfrm>
            <a:off x="7571232" y="4407408"/>
            <a:ext cx="3794760" cy="777240"/>
          </a:xfrm>
          <a:prstGeom prst="rect">
            <a:avLst/>
          </a:prstGeom>
          <a:noFill/>
          <a:ln/>
        </p:spPr>
        <p:txBody>
          <a:bodyPr wrap="square" lIns="0" tIns="0" rIns="0" bIns="0" rtlCol="0" anchor="ctr"/>
          <a:lstStyle/>
          <a:p>
            <a:pPr marL="0" indent="0" algn="l">
              <a:lnSpc>
                <a:spcPct val="100000"/>
              </a:lnSpc>
              <a:buNone/>
            </a:pPr>
            <a:r>
              <a:rPr lang="en-US" sz="1450" dirty="0">
                <a:solidFill>
                  <a:srgbClr val="1E1F24"/>
                </a:solidFill>
                <a:latin typeface="Calibri" pitchFamily="34" charset="0"/>
                <a:ea typeface="Calibri" pitchFamily="34" charset="-122"/>
                <a:cs typeface="Calibri" pitchFamily="34" charset="-120"/>
              </a:rPr>
              <a:t>Direct outcome regression against augmented IPCW, Hajek-normalised, with censoring weights and a district-by-year cluster bootstrap.</a:t>
            </a:r>
            <a:endParaRPr lang="en-US" sz="1450" dirty="0"/>
          </a:p>
        </p:txBody>
      </p:sp>
      <p:sp>
        <p:nvSpPr>
          <p:cNvPr id="19" name="Text 17"/>
          <p:cNvSpPr/>
          <p:nvPr/>
        </p:nvSpPr>
        <p:spPr>
          <a:xfrm>
            <a:off x="640080" y="6419088"/>
            <a:ext cx="5486400" cy="274320"/>
          </a:xfrm>
          <a:prstGeom prst="rect">
            <a:avLst/>
          </a:prstGeom>
          <a:noFill/>
          <a:ln/>
        </p:spPr>
        <p:txBody>
          <a:bodyPr wrap="square" lIns="0" tIns="0" rIns="0" bIns="0" rtlCol="0" anchor="ctr"/>
          <a:lstStyle/>
          <a:p>
            <a:pPr marL="0" indent="0" algn="l">
              <a:buNone/>
            </a:pPr>
            <a:r>
              <a:rPr lang="en-US" sz="850" dirty="0">
                <a:solidFill>
                  <a:srgbClr val="6C6E76"/>
                </a:solidFill>
                <a:latin typeface="Calibri" pitchFamily="34" charset="0"/>
                <a:ea typeface="Calibri" pitchFamily="34" charset="-122"/>
                <a:cs typeface="Calibri" pitchFamily="34" charset="-120"/>
              </a:rPr>
              <a:t>Data, Policy and Innovation Centre</a:t>
            </a:r>
            <a:endParaRPr lang="en-US" sz="850" dirty="0"/>
          </a:p>
        </p:txBody>
      </p:sp>
      <p:sp>
        <p:nvSpPr>
          <p:cNvPr id="20" name="Text 18"/>
          <p:cNvSpPr/>
          <p:nvPr/>
        </p:nvSpPr>
        <p:spPr>
          <a:xfrm>
            <a:off x="6035040" y="6419088"/>
            <a:ext cx="5486400" cy="274320"/>
          </a:xfrm>
          <a:prstGeom prst="rect">
            <a:avLst/>
          </a:prstGeom>
          <a:noFill/>
          <a:ln/>
        </p:spPr>
        <p:txBody>
          <a:bodyPr wrap="square" lIns="0" tIns="0" rIns="0" bIns="0" rtlCol="0" anchor="ctr"/>
          <a:lstStyle/>
          <a:p>
            <a:pPr marL="0" indent="0" algn="r">
              <a:buNone/>
            </a:pPr>
            <a:r>
              <a:rPr lang="en-US" sz="850" dirty="0">
                <a:solidFill>
                  <a:srgbClr val="6C6E76"/>
                </a:solidFill>
                <a:latin typeface="Calibri" pitchFamily="34" charset="0"/>
                <a:ea typeface="Calibri" pitchFamily="34" charset="-122"/>
                <a:cs typeface="Calibri" pitchFamily="34" charset="-120"/>
              </a:rPr>
              <a:t>Government of Odisha  ×  University of Chicago Trust</a:t>
            </a:r>
            <a:endParaRPr lang="en-US" sz="850" dirty="0"/>
          </a:p>
        </p:txBody>
      </p:sp>
      <p:sp>
        <p:nvSpPr>
          <p:cNvPr id="21" name="TextBox 20"/>
          <p:cNvSpPr txBox="1"/>
          <p:nvPr/>
        </p:nvSpPr>
        <p:spPr>
          <a:xfrm>
            <a:off x="640080" y="5394960"/>
            <a:ext cx="10881360" cy="237744"/>
          </a:xfrm>
          <a:prstGeom prst="rect">
            <a:avLst/>
          </a:prstGeom>
          <a:noFill/>
        </p:spPr>
        <p:txBody>
          <a:bodyPr wrap="square" lIns="0" rIns="0" tIns="0" bIns="0">
            <a:spAutoFit/>
          </a:bodyPr>
          <a:lstStyle/>
          <a:p>
            <a:pPr algn="l"/>
            <a:r>
              <a:rPr sz="1300" b="0" i="0">
                <a:solidFill>
                  <a:srgbClr val="6C6E76"/>
                </a:solidFill>
                <a:latin typeface="Calibri"/>
              </a:rPr>
              <a:t>LIVE: predicts where similar grievances were historically sent.</a:t>
            </a:r>
          </a:p>
        </p:txBody>
      </p:sp>
      <p:sp>
        <p:nvSpPr>
          <p:cNvPr id="22" name="TextBox 21"/>
          <p:cNvSpPr txBox="1"/>
          <p:nvPr/>
        </p:nvSpPr>
        <p:spPr>
          <a:xfrm>
            <a:off x="640080" y="5632704"/>
            <a:ext cx="10881360" cy="237744"/>
          </a:xfrm>
          <a:prstGeom prst="rect">
            <a:avLst/>
          </a:prstGeom>
          <a:noFill/>
        </p:spPr>
        <p:txBody>
          <a:bodyPr wrap="square" lIns="0" rIns="0" tIns="0" bIns="0">
            <a:spAutoFit/>
          </a:bodyPr>
          <a:lstStyle/>
          <a:p>
            <a:pPr algn="l"/>
            <a:r>
              <a:rPr sz="1300" b="0" i="0">
                <a:solidFill>
                  <a:srgbClr val="6C6E76"/>
                </a:solidFill>
                <a:latin typeface="Calibri"/>
              </a:rPr>
              <a:t>RESEARCH ONLY: asks where they would have resolved better.</a:t>
            </a:r>
          </a:p>
        </p:txBody>
      </p:sp>
      <p:sp>
        <p:nvSpPr>
          <p:cNvPr id="23" name="TextBox 22"/>
          <p:cNvSpPr txBox="1"/>
          <p:nvPr/>
        </p:nvSpPr>
        <p:spPr>
          <a:xfrm>
            <a:off x="640080" y="5961888"/>
            <a:ext cx="10881360" cy="384048"/>
          </a:xfrm>
          <a:prstGeom prst="rect">
            <a:avLst/>
          </a:prstGeom>
          <a:noFill/>
        </p:spPr>
        <p:txBody>
          <a:bodyPr wrap="square" lIns="0" rIns="0" tIns="0" bIns="0">
            <a:spAutoFit/>
          </a:bodyPr>
          <a:lstStyle/>
          <a:p>
            <a:pPr algn="l"/>
            <a:r>
              <a:rPr sz="1700" b="1" i="0">
                <a:solidFill>
                  <a:srgbClr val="7A1F2B"/>
                </a:solidFill>
                <a:latin typeface="Calibri"/>
              </a:rPr>
              <a:t>A complete offline evaluation. It was never connected to live routing.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57200"/>
            <a:ext cx="10881360" cy="320040"/>
          </a:xfrm>
          <a:prstGeom prst="rect">
            <a:avLst/>
          </a:prstGeom>
          <a:noFill/>
          <a:ln/>
        </p:spPr>
        <p:txBody>
          <a:bodyPr wrap="square" lIns="0" tIns="0" rIns="0" bIns="0" rtlCol="0" anchor="ctr"/>
          <a:lstStyle/>
          <a:p>
            <a:pPr marL="0" indent="0" algn="l">
              <a:buNone/>
            </a:pPr>
            <a:r>
              <a:rPr lang="en-US" sz="1500" b="1" kern="0" spc="200" dirty="0">
                <a:solidFill>
                  <a:srgbClr val="7A1F2B"/>
                </a:solidFill>
                <a:latin typeface="Calibri" pitchFamily="34" charset="0"/>
                <a:ea typeface="Calibri" pitchFamily="34" charset="-122"/>
                <a:cs typeface="Calibri" pitchFamily="34" charset="-120"/>
              </a:rPr>
              <a:t>WHY IT IS NOT LIVE</a:t>
            </a:r>
            <a:endParaRPr lang="en-US" sz="15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marL="0" indent="0" algn="l">
              <a:buNone/>
            </a:pPr>
            <a:r>
              <a:rPr lang="en-US" sz="3400" b="1" dirty="0">
                <a:solidFill>
                  <a:srgbClr val="1E1F24"/>
                </a:solidFill>
                <a:latin typeface="Cambria" pitchFamily="34" charset="0"/>
                <a:ea typeface="Cambria" pitchFamily="34" charset="-122"/>
                <a:cs typeface="Cambria" pitchFamily="34" charset="-120"/>
              </a:rPr>
              <a:t>Validation and untouched-year diagnostics</a:t>
            </a:r>
            <a:endParaRPr lang="en-US" sz="3400" dirty="0"/>
          </a:p>
        </p:txBody>
      </p:sp>
      <p:sp>
        <p:nvSpPr>
          <p:cNvPr id="13" name="Text 11"/>
          <p:cNvSpPr/>
          <p:nvPr/>
        </p:nvSpPr>
        <p:spPr>
          <a:xfrm>
            <a:off x="640080" y="6419088"/>
            <a:ext cx="5486400" cy="274320"/>
          </a:xfrm>
          <a:prstGeom prst="rect">
            <a:avLst/>
          </a:prstGeom>
          <a:noFill/>
          <a:ln/>
        </p:spPr>
        <p:txBody>
          <a:bodyPr wrap="square" lIns="0" tIns="0" rIns="0" bIns="0" rtlCol="0" anchor="ctr"/>
          <a:lstStyle/>
          <a:p>
            <a:pPr marL="0" indent="0" algn="l">
              <a:buNone/>
            </a:pPr>
            <a:r>
              <a:rPr lang="en-US" sz="850" dirty="0">
                <a:solidFill>
                  <a:srgbClr val="6C6E76"/>
                </a:solidFill>
                <a:latin typeface="Calibri" pitchFamily="34" charset="0"/>
                <a:ea typeface="Calibri" pitchFamily="34" charset="-122"/>
                <a:cs typeface="Calibri" pitchFamily="34" charset="-120"/>
              </a:rPr>
              <a:t>Data, Policy and Innovation Centre</a:t>
            </a:r>
            <a:endParaRPr lang="en-US" sz="850" dirty="0"/>
          </a:p>
        </p:txBody>
      </p:sp>
      <p:sp>
        <p:nvSpPr>
          <p:cNvPr id="14" name="Text 12"/>
          <p:cNvSpPr/>
          <p:nvPr/>
        </p:nvSpPr>
        <p:spPr>
          <a:xfrm>
            <a:off x="6035040" y="6419088"/>
            <a:ext cx="5486400" cy="274320"/>
          </a:xfrm>
          <a:prstGeom prst="rect">
            <a:avLst/>
          </a:prstGeom>
          <a:noFill/>
          <a:ln/>
        </p:spPr>
        <p:txBody>
          <a:bodyPr wrap="square" lIns="0" tIns="0" rIns="0" bIns="0" rtlCol="0" anchor="ctr"/>
          <a:lstStyle/>
          <a:p>
            <a:pPr marL="0" indent="0" algn="r">
              <a:buNone/>
            </a:pPr>
            <a:r>
              <a:rPr lang="en-US" sz="850" dirty="0">
                <a:solidFill>
                  <a:srgbClr val="6C6E76"/>
                </a:solidFill>
                <a:latin typeface="Calibri" pitchFamily="34" charset="0"/>
                <a:ea typeface="Calibri" pitchFamily="34" charset="-122"/>
                <a:cs typeface="Calibri" pitchFamily="34" charset="-120"/>
              </a:rPr>
              <a:t>Government of Odisha  ×  University of Chicago Trust</a:t>
            </a:r>
            <a:endParaRPr lang="en-US" sz="850" dirty="0"/>
          </a:p>
        </p:txBody>
      </p:sp>
      <p:sp>
        <p:nvSpPr>
          <p:cNvPr id="15" name="TextBox 14"/>
          <p:cNvSpPr txBox="1"/>
          <p:nvPr/>
        </p:nvSpPr>
        <p:spPr>
          <a:xfrm>
            <a:off x="640080" y="1847088"/>
            <a:ext cx="10881360" cy="329184"/>
          </a:xfrm>
          <a:prstGeom prst="rect">
            <a:avLst/>
          </a:prstGeom>
          <a:noFill/>
        </p:spPr>
        <p:txBody>
          <a:bodyPr wrap="square" lIns="0" rIns="0" tIns="0" bIns="0">
            <a:spAutoFit/>
          </a:bodyPr>
          <a:lstStyle/>
          <a:p>
            <a:pPr algn="l"/>
            <a:r>
              <a:rPr sz="1700" b="0" i="0">
                <a:solidFill>
                  <a:srgbClr val="44464D"/>
                </a:solidFill>
                <a:latin typeface="Calibri"/>
              </a:rPr>
              <a:t>The same pipeline, refit and rerun on a year it had never seen.</a:t>
            </a:r>
          </a:p>
        </p:txBody>
      </p:sp>
      <p:graphicFrame>
        <p:nvGraphicFramePr>
          <p:cNvPr id="16" name="Table 15"/>
          <p:cNvGraphicFramePr>
            <a:graphicFrameLocks noGrp="1"/>
          </p:cNvGraphicFramePr>
          <p:nvPr/>
        </p:nvGraphicFramePr>
        <p:xfrm>
          <a:off x="640080" y="2331720"/>
          <a:ext cx="10881360" cy="2468880"/>
        </p:xfrm>
        <a:graphic>
          <a:graphicData uri="http://schemas.openxmlformats.org/drawingml/2006/table">
            <a:tbl>
              <a:tblPr/>
              <a:tblGrid>
                <a:gridCol w="5486400"/>
                <a:gridCol w="2697480"/>
                <a:gridCol w="2697480"/>
              </a:tblGrid>
              <a:tr h="365760">
                <a:tc>
                  <a:txBody>
                    <a:bodyPr wrap="square"/>
                    <a:lstStyle/>
                    <a:p>
                      <a:r>
                        <a:rPr sz="1300" b="1">
                          <a:solidFill>
                            <a:srgbClr val="FFFFFF"/>
                          </a:solidFill>
                          <a:latin typeface="Calibri"/>
                        </a:rPr>
                        <a:t>What we measured</a:t>
                      </a:r>
                    </a:p>
                  </a:txBody>
                  <a:tcPr anchor="ctr" marL="128016" marR="91440" marT="36576" marB="36576">
                    <a:solidFill>
                      <a:srgbClr val="7A1F2B"/>
                    </a:solidFill>
                    <a:lnL w="6350" cap="flat" cmpd="sng" algn="ctr">
                      <a:solidFill>
                        <a:srgbClr val="7A1F2B"/>
                      </a:solidFill>
                    </a:lnL>
                    <a:lnR w="6350" cap="flat" cmpd="sng" algn="ctr">
                      <a:solidFill>
                        <a:srgbClr val="7A1F2B"/>
                      </a:solidFill>
                    </a:lnR>
                    <a:lnT w="6350" cap="flat" cmpd="sng" algn="ctr">
                      <a:solidFill>
                        <a:srgbClr val="7A1F2B"/>
                      </a:solidFill>
                    </a:lnT>
                    <a:lnB w="6350" cap="flat" cmpd="sng" algn="ctr">
                      <a:solidFill>
                        <a:srgbClr val="7A1F2B"/>
                      </a:solidFill>
                    </a:lnB>
                  </a:tcPr>
                </a:tc>
                <a:tc>
                  <a:txBody>
                    <a:bodyPr wrap="square"/>
                    <a:lstStyle/>
                    <a:p>
                      <a:r>
                        <a:rPr sz="1300" b="1">
                          <a:solidFill>
                            <a:srgbClr val="FFFFFF"/>
                          </a:solidFill>
                          <a:latin typeface="Calibri"/>
                        </a:rPr>
                        <a:t>2024, held out</a:t>
                      </a:r>
                    </a:p>
                  </a:txBody>
                  <a:tcPr anchor="ctr" marL="128016" marR="91440" marT="36576" marB="36576">
                    <a:solidFill>
                      <a:srgbClr val="7A1F2B"/>
                    </a:solidFill>
                    <a:lnL w="6350" cap="flat" cmpd="sng" algn="ctr">
                      <a:solidFill>
                        <a:srgbClr val="7A1F2B"/>
                      </a:solidFill>
                    </a:lnL>
                    <a:lnR w="6350" cap="flat" cmpd="sng" algn="ctr">
                      <a:solidFill>
                        <a:srgbClr val="7A1F2B"/>
                      </a:solidFill>
                    </a:lnR>
                    <a:lnT w="6350" cap="flat" cmpd="sng" algn="ctr">
                      <a:solidFill>
                        <a:srgbClr val="7A1F2B"/>
                      </a:solidFill>
                    </a:lnT>
                    <a:lnB w="6350" cap="flat" cmpd="sng" algn="ctr">
                      <a:solidFill>
                        <a:srgbClr val="7A1F2B"/>
                      </a:solidFill>
                    </a:lnB>
                  </a:tcPr>
                </a:tc>
                <a:tc>
                  <a:txBody>
                    <a:bodyPr wrap="square"/>
                    <a:lstStyle/>
                    <a:p>
                      <a:r>
                        <a:rPr sz="1300" b="1">
                          <a:solidFill>
                            <a:srgbClr val="FFFFFF"/>
                          </a:solidFill>
                          <a:latin typeface="Calibri"/>
                        </a:rPr>
                        <a:t>2025, untouched</a:t>
                      </a:r>
                    </a:p>
                  </a:txBody>
                  <a:tcPr anchor="ctr" marL="128016" marR="91440" marT="36576" marB="36576">
                    <a:solidFill>
                      <a:srgbClr val="7A1F2B"/>
                    </a:solidFill>
                    <a:lnL w="6350" cap="flat" cmpd="sng" algn="ctr">
                      <a:solidFill>
                        <a:srgbClr val="7A1F2B"/>
                      </a:solidFill>
                    </a:lnL>
                    <a:lnR w="6350" cap="flat" cmpd="sng" algn="ctr">
                      <a:solidFill>
                        <a:srgbClr val="7A1F2B"/>
                      </a:solidFill>
                    </a:lnR>
                    <a:lnT w="6350" cap="flat" cmpd="sng" algn="ctr">
                      <a:solidFill>
                        <a:srgbClr val="7A1F2B"/>
                      </a:solidFill>
                    </a:lnT>
                    <a:lnB w="6350" cap="flat" cmpd="sng" algn="ctr">
                      <a:solidFill>
                        <a:srgbClr val="7A1F2B"/>
                      </a:solidFill>
                    </a:lnB>
                  </a:tcPr>
                </a:tc>
              </a:tr>
              <a:tr h="420624">
                <a:tc>
                  <a:txBody>
                    <a:bodyPr wrap="square"/>
                    <a:lstStyle/>
                    <a:p>
                      <a:r>
                        <a:rPr sz="1500" b="1">
                          <a:solidFill>
                            <a:srgbClr val="1E1F24"/>
                          </a:solidFill>
                          <a:latin typeface="Calibri"/>
                        </a:rPr>
                        <a:t>Direct estimate, outcome regression</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+24.5 days</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+30.5 days</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r>
              <a:tr h="420624">
                <a:tc>
                  <a:txBody>
                    <a:bodyPr wrap="square"/>
                    <a:lstStyle/>
                    <a:p>
                      <a:r>
                        <a:rPr sz="1500" b="1">
                          <a:solidFill>
                            <a:srgbClr val="1E1F24"/>
                          </a:solidFill>
                          <a:latin typeface="Calibri"/>
                        </a:rPr>
                        <a:t>Cross-fitted AIPW</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+26.8 days (SE 4.0)</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−2.3 days (SE 3.5)</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r>
              <a:tr h="420624">
                <a:tc>
                  <a:txBody>
                    <a:bodyPr wrap="square"/>
                    <a:lstStyle/>
                    <a:p>
                      <a:r>
                        <a:rPr sz="1500" b="1">
                          <a:solidFill>
                            <a:srgbClr val="1E1F24"/>
                          </a:solidFill>
                          <a:latin typeface="Calibri"/>
                        </a:rPr>
                        <a:t>Falsification: predicting the arm actually observed</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5% error</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118% error</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r>
              <a:tr h="420624">
                <a:tc>
                  <a:txBody>
                    <a:bodyPr wrap="square"/>
                    <a:lstStyle/>
                    <a:p>
                      <a:r>
                        <a:rPr sz="1500" b="1">
                          <a:solidFill>
                            <a:srgbClr val="1E1F24"/>
                          </a:solidFill>
                          <a:latin typeface="Calibri"/>
                        </a:rPr>
                        <a:t>Proposed route in observed support</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38% of cases</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16% of cases</a:t>
                      </a:r>
                    </a:p>
                  </a:txBody>
                  <a:tcPr anchor="ctr" marL="128016" marR="91440" marT="36576" marB="36576">
                    <a:solidFill>
                      <a:srgbClr val="F2F2F2"/>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r>
              <a:tr h="420624">
                <a:tc>
                  <a:txBody>
                    <a:bodyPr wrap="square"/>
                    <a:lstStyle/>
                    <a:p>
                      <a:r>
                        <a:rPr sz="1500" b="1">
                          <a:solidFill>
                            <a:srgbClr val="1E1F24"/>
                          </a:solidFill>
                          <a:latin typeface="Calibri"/>
                        </a:rPr>
                        <a:t>Effective sample as a share of n</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0.19</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c>
                  <a:txBody>
                    <a:bodyPr wrap="square"/>
                    <a:lstStyle/>
                    <a:p>
                      <a:r>
                        <a:rPr sz="1500" b="0">
                          <a:solidFill>
                            <a:srgbClr val="44464D"/>
                          </a:solidFill>
                          <a:latin typeface="Calibri"/>
                        </a:rPr>
                        <a:t>0.07</a:t>
                      </a:r>
                    </a:p>
                  </a:txBody>
                  <a:tcPr anchor="ctr" marL="128016" marR="91440" marT="36576" marB="36576">
                    <a:solidFill>
                      <a:srgbClr val="FFFFFF"/>
                    </a:solidFill>
                    <a:lnL w="6350" cap="flat" cmpd="sng" algn="ctr">
                      <a:solidFill>
                        <a:srgbClr val="DDDDDD"/>
                      </a:solidFill>
                    </a:lnL>
                    <a:lnR w="6350" cap="flat" cmpd="sng" algn="ctr">
                      <a:solidFill>
                        <a:srgbClr val="DDDDDD"/>
                      </a:solidFill>
                    </a:lnR>
                    <a:lnT w="6350" cap="flat" cmpd="sng" algn="ctr">
                      <a:solidFill>
                        <a:srgbClr val="DDDDDD"/>
                      </a:solidFill>
                    </a:lnT>
                    <a:lnB w="6350" cap="flat" cmpd="sng" algn="ctr">
                      <a:solidFill>
                        <a:srgbClr val="DDDDDD"/>
                      </a:solidFill>
                    </a:lnB>
                  </a:tcPr>
                </a:tc>
              </a:tr>
            </a:tbl>
          </a:graphicData>
        </a:graphic>
      </p:graphicFrame>
      <p:sp>
        <p:nvSpPr>
          <p:cNvPr id="17" name="TextBox 16"/>
          <p:cNvSpPr txBox="1"/>
          <p:nvPr/>
        </p:nvSpPr>
        <p:spPr>
          <a:xfrm>
            <a:off x="640080" y="4956048"/>
            <a:ext cx="10881360" cy="310896"/>
          </a:xfrm>
          <a:prstGeom prst="rect">
            <a:avLst/>
          </a:prstGeom>
          <a:noFill/>
        </p:spPr>
        <p:txBody>
          <a:bodyPr wrap="square" lIns="0" rIns="0" tIns="0" bIns="0">
            <a:spAutoFit/>
          </a:bodyPr>
          <a:lstStyle/>
          <a:p>
            <a:pPr algn="l"/>
            <a:r>
              <a:rPr sz="1500" b="0" i="0">
                <a:solidFill>
                  <a:srgbClr val="1E1F24"/>
                </a:solidFill>
                <a:latin typeface="Calibri"/>
              </a:rPr>
              <a:t>DECISION   Withdraw the saving estimate, the correctness threshold and the routing recommendation. Keep the research offline.</a:t>
            </a:r>
          </a:p>
        </p:txBody>
      </p:sp>
      <p:sp>
        <p:nvSpPr>
          <p:cNvPr id="18" name="TextBox 17"/>
          <p:cNvSpPr txBox="1"/>
          <p:nvPr/>
        </p:nvSpPr>
        <p:spPr>
          <a:xfrm>
            <a:off x="640080" y="5413248"/>
            <a:ext cx="10881360" cy="237744"/>
          </a:xfrm>
          <a:prstGeom prst="rect">
            <a:avLst/>
          </a:prstGeom>
          <a:noFill/>
        </p:spPr>
        <p:txBody>
          <a:bodyPr wrap="square" lIns="0" rIns="0" tIns="0" bIns="0">
            <a:spAutoFit/>
          </a:bodyPr>
          <a:lstStyle/>
          <a:p>
            <a:pPr algn="l"/>
            <a:r>
              <a:rPr sz="1200" b="0" i="1">
                <a:solidFill>
                  <a:srgbClr val="6C6E76"/>
                </a:solidFill>
                <a:latin typeface="Calibri"/>
              </a:rPr>
              <a:t>Censoring at the cut runs 9% then 34%. The 2025 cohort has seven months against a 365-day outcome, so non-replication and immaturity are not separable here.</a:t>
            </a:r>
          </a:p>
        </p:txBody>
      </p:sp>
      <p:sp>
        <p:nvSpPr>
          <p:cNvPr id="19" name="TextBox 18"/>
          <p:cNvSpPr txBox="1"/>
          <p:nvPr/>
        </p:nvSpPr>
        <p:spPr>
          <a:xfrm>
            <a:off x="640080" y="5632704"/>
            <a:ext cx="10881360" cy="237744"/>
          </a:xfrm>
          <a:prstGeom prst="rect">
            <a:avLst/>
          </a:prstGeom>
          <a:noFill/>
        </p:spPr>
        <p:txBody>
          <a:bodyPr wrap="square" lIns="0" rIns="0" tIns="0" bIns="0">
            <a:spAutoFit/>
          </a:bodyPr>
          <a:lstStyle/>
          <a:p>
            <a:pPr algn="l"/>
            <a:r>
              <a:rPr sz="1200" b="0" i="0">
                <a:solidFill>
                  <a:srgbClr val="6C6E76"/>
                </a:solidFill>
                <a:latin typeface="Calibri"/>
              </a:rPr>
              <a:t>Unresolved: assignment-field provenance, intake-time actionability, interference since routing changes the queue, mature follow-up, a governed pilot.</a:t>
            </a:r>
          </a:p>
        </p:txBody>
      </p:sp>
      <p:sp>
        <p:nvSpPr>
          <p:cNvPr id="20" name="TextBox 19"/>
          <p:cNvSpPr txBox="1"/>
          <p:nvPr/>
        </p:nvSpPr>
        <p:spPr>
          <a:xfrm>
            <a:off x="640080" y="5961888"/>
            <a:ext cx="10881360" cy="384048"/>
          </a:xfrm>
          <a:prstGeom prst="rect">
            <a:avLst/>
          </a:prstGeom>
          <a:noFill/>
        </p:spPr>
        <p:txBody>
          <a:bodyPr wrap="square" lIns="0" rIns="0" tIns="0" bIns="0">
            <a:spAutoFit/>
          </a:bodyPr>
          <a:lstStyle/>
          <a:p>
            <a:pPr algn="l"/>
            <a:r>
              <a:rPr sz="1700" b="1" i="0">
                <a:solidFill>
                  <a:srgbClr val="7A1F2B"/>
                </a:solidFill>
                <a:latin typeface="Calibri"/>
              </a:rPr>
              <a:t>We withdrew the estimate, not the research question.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57200"/>
            <a:ext cx="10881360" cy="320040"/>
          </a:xfrm>
          <a:prstGeom prst="rect">
            <a:avLst/>
          </a:prstGeom>
          <a:noFill/>
          <a:ln/>
        </p:spPr>
        <p:txBody>
          <a:bodyPr wrap="square" lIns="0" tIns="0" rIns="0" bIns="0" rtlCol="0" anchor="ctr"/>
          <a:lstStyle/>
          <a:p>
            <a:pPr marL="0" indent="0" algn="l">
              <a:buNone/>
            </a:pPr>
            <a:r>
              <a:rPr lang="en-US" sz="1500" b="1" kern="0" spc="200" dirty="0">
                <a:solidFill>
                  <a:srgbClr val="7A1F2B"/>
                </a:solidFill>
                <a:latin typeface="Calibri" pitchFamily="34" charset="0"/>
                <a:ea typeface="Calibri" pitchFamily="34" charset="-122"/>
                <a:cs typeface="Calibri" pitchFamily="34" charset="-120"/>
              </a:rPr>
              <a:t>WHAT THE RECORD CAN NOW BE ASKED</a:t>
            </a:r>
            <a:endParaRPr lang="en-US" sz="15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marL="0" indent="0" algn="l">
              <a:buNone/>
            </a:pPr>
            <a:r>
              <a:rPr lang="en-US" sz="3400" b="1" dirty="0">
                <a:solidFill>
                  <a:srgbClr val="1E1F24"/>
                </a:solidFill>
                <a:latin typeface="Cambria" pitchFamily="34" charset="0"/>
                <a:ea typeface="Cambria" pitchFamily="34" charset="-122"/>
                <a:cs typeface="Cambria" pitchFamily="34" charset="-120"/>
              </a:rPr>
              <a:t>Duplicate-adjusted workload, spikes and themes</a:t>
            </a:r>
            <a:endParaRPr lang="en-US" sz="3400" dirty="0"/>
          </a:p>
        </p:txBody>
      </p:sp>
      <p:sp>
        <p:nvSpPr>
          <p:cNvPr id="4" name="Text 2"/>
          <p:cNvSpPr/>
          <p:nvPr/>
        </p:nvSpPr>
        <p:spPr>
          <a:xfrm>
            <a:off x="640080" y="2194560"/>
            <a:ext cx="502920" cy="640080"/>
          </a:xfrm>
          <a:prstGeom prst="rect">
            <a:avLst/>
          </a:prstGeom>
          <a:noFill/>
          <a:ln/>
        </p:spPr>
        <p:txBody>
          <a:bodyPr wrap="square" lIns="0" tIns="0" rIns="0" bIns="0" rtlCol="0" anchor="ctr"/>
          <a:lstStyle/>
          <a:p>
            <a:pPr marL="0" indent="0" algn="l">
              <a:buNone/>
            </a:pPr>
            <a:r>
              <a:rPr lang="en-US" sz="3200" b="1" dirty="0">
                <a:solidFill>
                  <a:srgbClr val="7A1F2B"/>
                </a:solidFill>
                <a:latin typeface="Cambria" pitchFamily="34" charset="0"/>
                <a:ea typeface="Cambria" pitchFamily="34" charset="-122"/>
                <a:cs typeface="Cambria" pitchFamily="34" charset="-120"/>
              </a:rPr>
              <a:t>1</a:t>
            </a:r>
            <a:endParaRPr lang="en-US" sz="3200" dirty="0"/>
          </a:p>
        </p:txBody>
      </p:sp>
      <p:sp>
        <p:nvSpPr>
          <p:cNvPr id="5" name="Text 3"/>
          <p:cNvSpPr/>
          <p:nvPr/>
        </p:nvSpPr>
        <p:spPr>
          <a:xfrm>
            <a:off x="1280160" y="2194560"/>
            <a:ext cx="5852160" cy="822960"/>
          </a:xfrm>
          <a:prstGeom prst="rect">
            <a:avLst/>
          </a:prstGeom>
          <a:noFill/>
          <a:ln/>
        </p:spPr>
        <p:txBody>
          <a:bodyPr wrap="square" lIns="0" tIns="0" rIns="0" bIns="0" rtlCol="0" anchor="ctr"/>
          <a:lstStyle/>
          <a:p>
            <a:pPr marL="0" indent="0" algn="l">
              <a:lnSpc>
                <a:spcPct val="105000"/>
              </a:lnSpc>
              <a:buNone/>
            </a:pPr>
            <a:r>
              <a:rPr lang="en-US" sz="1850" dirty="0">
                <a:solidFill>
                  <a:srgbClr val="1E1F24"/>
                </a:solidFill>
                <a:latin typeface="Calibri" pitchFamily="34" charset="0"/>
                <a:ea typeface="Calibri" pitchFamily="34" charset="-122"/>
                <a:cs typeface="Calibri" pitchFamily="34" charset="-120"/>
              </a:rPr>
              <a:t>Duplicate-adjusted workload.</a:t>
            </a:r>
            <a:endParaRPr lang="en-US" sz="1850" dirty="0"/>
          </a:p>
        </p:txBody>
      </p:sp>
      <p:sp>
        <p:nvSpPr>
          <p:cNvPr id="6" name="Shape 4"/>
          <p:cNvSpPr/>
          <p:nvPr/>
        </p:nvSpPr>
        <p:spPr>
          <a:xfrm>
            <a:off x="7406640" y="2212848"/>
            <a:ext cx="4114800" cy="777240"/>
          </a:xfrm>
          <a:prstGeom prst="roundRect">
            <a:avLst>
              <a:gd name="adj" fmla="val 7059"/>
            </a:avLst>
          </a:prstGeom>
          <a:solidFill>
            <a:srgbClr val="F4F4F6"/>
          </a:solidFill>
          <a:ln w="12700">
            <a:solidFill>
              <a:srgbClr val="D6D8DD"/>
            </a:solidFill>
            <a:prstDash val="solid"/>
          </a:ln>
        </p:spPr>
        <p:txBody>
          <a:bodyPr/>
          <a:lstStyle/>
          <a:p>
            <a:endParaRPr lang="en-IN"/>
          </a:p>
        </p:txBody>
      </p:sp>
      <p:sp>
        <p:nvSpPr>
          <p:cNvPr id="7" name="Text 5"/>
          <p:cNvSpPr/>
          <p:nvPr/>
        </p:nvSpPr>
        <p:spPr>
          <a:xfrm>
            <a:off x="7571232" y="2212848"/>
            <a:ext cx="3794760" cy="777240"/>
          </a:xfrm>
          <a:prstGeom prst="rect">
            <a:avLst/>
          </a:prstGeom>
          <a:noFill/>
          <a:ln/>
        </p:spPr>
        <p:txBody>
          <a:bodyPr wrap="square" lIns="0" tIns="0" rIns="0" bIns="0" rtlCol="0" anchor="ctr"/>
          <a:lstStyle/>
          <a:p>
            <a:pPr marL="0" indent="0" algn="l">
              <a:lnSpc>
                <a:spcPct val="100000"/>
              </a:lnSpc>
              <a:buNone/>
            </a:pPr>
            <a:r>
              <a:rPr lang="en-US" sz="1450" dirty="0">
                <a:solidFill>
                  <a:srgbClr val="1E1F24"/>
                </a:solidFill>
                <a:latin typeface="Calibri" pitchFamily="34" charset="0"/>
                <a:ea typeface="Calibri" pitchFamily="34" charset="-122"/>
                <a:cs typeface="Calibri" pitchFamily="34" charset="-120"/>
              </a:rPr>
              <a:t>55,544 filings in the slice are 10,963 distinct problems from 8,560 citizens. The portal reports the first number.</a:t>
            </a:r>
            <a:endParaRPr lang="en-US" sz="1450" dirty="0"/>
          </a:p>
        </p:txBody>
      </p:sp>
      <p:sp>
        <p:nvSpPr>
          <p:cNvPr id="8" name="Shape 6"/>
          <p:cNvSpPr/>
          <p:nvPr/>
        </p:nvSpPr>
        <p:spPr>
          <a:xfrm>
            <a:off x="640080" y="3154680"/>
            <a:ext cx="10881360" cy="0"/>
          </a:xfrm>
          <a:prstGeom prst="line">
            <a:avLst/>
          </a:prstGeom>
          <a:noFill/>
          <a:ln w="9525">
            <a:solidFill>
              <a:srgbClr val="D6D8DD"/>
            </a:solidFill>
            <a:prstDash val="solid"/>
          </a:ln>
        </p:spPr>
        <p:txBody>
          <a:bodyPr/>
          <a:lstStyle/>
          <a:p>
            <a:endParaRPr lang="en-IN"/>
          </a:p>
        </p:txBody>
      </p:sp>
      <p:sp>
        <p:nvSpPr>
          <p:cNvPr id="9" name="Text 7"/>
          <p:cNvSpPr/>
          <p:nvPr/>
        </p:nvSpPr>
        <p:spPr>
          <a:xfrm>
            <a:off x="640080" y="3291840"/>
            <a:ext cx="502920" cy="640080"/>
          </a:xfrm>
          <a:prstGeom prst="rect">
            <a:avLst/>
          </a:prstGeom>
          <a:noFill/>
          <a:ln/>
        </p:spPr>
        <p:txBody>
          <a:bodyPr wrap="square" lIns="0" tIns="0" rIns="0" bIns="0" rtlCol="0" anchor="ctr"/>
          <a:lstStyle/>
          <a:p>
            <a:pPr marL="0" indent="0" algn="l">
              <a:buNone/>
            </a:pPr>
            <a:r>
              <a:rPr lang="en-US" sz="3200" b="1" dirty="0">
                <a:solidFill>
                  <a:srgbClr val="7A1F2B"/>
                </a:solidFill>
                <a:latin typeface="Cambria" pitchFamily="34" charset="0"/>
                <a:ea typeface="Cambria" pitchFamily="34" charset="-122"/>
                <a:cs typeface="Cambria" pitchFamily="34" charset="-120"/>
              </a:rPr>
              <a:t>2</a:t>
            </a:r>
            <a:endParaRPr lang="en-US" sz="3200" dirty="0"/>
          </a:p>
        </p:txBody>
      </p:sp>
      <p:sp>
        <p:nvSpPr>
          <p:cNvPr id="10" name="Text 8"/>
          <p:cNvSpPr/>
          <p:nvPr/>
        </p:nvSpPr>
        <p:spPr>
          <a:xfrm>
            <a:off x="1280160" y="3291840"/>
            <a:ext cx="5852160" cy="822960"/>
          </a:xfrm>
          <a:prstGeom prst="rect">
            <a:avLst/>
          </a:prstGeom>
          <a:noFill/>
          <a:ln/>
        </p:spPr>
        <p:txBody>
          <a:bodyPr wrap="square" lIns="0" tIns="0" rIns="0" bIns="0" rtlCol="0" anchor="ctr"/>
          <a:lstStyle/>
          <a:p>
            <a:pPr marL="0" indent="0" algn="l">
              <a:lnSpc>
                <a:spcPct val="105000"/>
              </a:lnSpc>
              <a:buNone/>
            </a:pPr>
            <a:r>
              <a:rPr lang="en-US" sz="1850" dirty="0">
                <a:solidFill>
                  <a:srgbClr val="1E1F24"/>
                </a:solidFill>
                <a:latin typeface="Calibri" pitchFamily="34" charset="0"/>
                <a:ea typeface="Calibri" pitchFamily="34" charset="-122"/>
                <a:cs typeface="Calibri" pitchFamily="34" charset="-120"/>
              </a:rPr>
              <a:t>A spike with the cause attached.</a:t>
            </a:r>
            <a:endParaRPr lang="en-US" sz="1850" dirty="0"/>
          </a:p>
        </p:txBody>
      </p:sp>
      <p:sp>
        <p:nvSpPr>
          <p:cNvPr id="11" name="Shape 9"/>
          <p:cNvSpPr/>
          <p:nvPr/>
        </p:nvSpPr>
        <p:spPr>
          <a:xfrm>
            <a:off x="7406640" y="3310128"/>
            <a:ext cx="4114800" cy="777240"/>
          </a:xfrm>
          <a:prstGeom prst="roundRect">
            <a:avLst>
              <a:gd name="adj" fmla="val 7059"/>
            </a:avLst>
          </a:prstGeom>
          <a:solidFill>
            <a:srgbClr val="F4F4F6"/>
          </a:solidFill>
          <a:ln w="12700">
            <a:solidFill>
              <a:srgbClr val="D6D8DD"/>
            </a:solidFill>
            <a:prstDash val="solid"/>
          </a:ln>
        </p:spPr>
        <p:txBody>
          <a:bodyPr/>
          <a:lstStyle/>
          <a:p>
            <a:endParaRPr lang="en-IN"/>
          </a:p>
        </p:txBody>
      </p:sp>
      <p:sp>
        <p:nvSpPr>
          <p:cNvPr id="12" name="Text 10"/>
          <p:cNvSpPr/>
          <p:nvPr/>
        </p:nvSpPr>
        <p:spPr>
          <a:xfrm>
            <a:off x="7571232" y="3310128"/>
            <a:ext cx="3794760" cy="777240"/>
          </a:xfrm>
          <a:prstGeom prst="rect">
            <a:avLst/>
          </a:prstGeom>
          <a:noFill/>
          <a:ln/>
        </p:spPr>
        <p:txBody>
          <a:bodyPr wrap="square" lIns="0" tIns="0" rIns="0" bIns="0" rtlCol="0" anchor="ctr"/>
          <a:lstStyle/>
          <a:p>
            <a:r>
              <a:rPr lang="en-US" sz="1450" dirty="0">
                <a:solidFill>
                  <a:srgbClr val="1E1F24"/>
                </a:solidFill>
                <a:latin typeface="Calibri" pitchFamily="34" charset="0"/>
                <a:ea typeface="Calibri" pitchFamily="34" charset="-122"/>
                <a:cs typeface="Calibri" pitchFamily="34" charset="-120"/>
              </a:rPr>
              <a:t>Every spike carries filings, distinct problems and distinct citizens. A campaign and two hundred separate problems count the same.</a:t>
            </a:r>
            <a:endParaRPr lang="en-US" sz="1450" dirty="0"/>
          </a:p>
        </p:txBody>
      </p:sp>
      <p:sp>
        <p:nvSpPr>
          <p:cNvPr id="13" name="Shape 11"/>
          <p:cNvSpPr/>
          <p:nvPr/>
        </p:nvSpPr>
        <p:spPr>
          <a:xfrm>
            <a:off x="640080" y="4251960"/>
            <a:ext cx="10881360" cy="0"/>
          </a:xfrm>
          <a:prstGeom prst="line">
            <a:avLst/>
          </a:prstGeom>
          <a:noFill/>
          <a:ln w="9525">
            <a:solidFill>
              <a:srgbClr val="D6D8DD"/>
            </a:solidFill>
            <a:prstDash val="solid"/>
          </a:ln>
        </p:spPr>
        <p:txBody>
          <a:bodyPr/>
          <a:lstStyle/>
          <a:p>
            <a:endParaRPr lang="en-IN"/>
          </a:p>
        </p:txBody>
      </p:sp>
      <p:sp>
        <p:nvSpPr>
          <p:cNvPr id="14" name="Text 12"/>
          <p:cNvSpPr/>
          <p:nvPr/>
        </p:nvSpPr>
        <p:spPr>
          <a:xfrm>
            <a:off x="640080" y="4389120"/>
            <a:ext cx="502920" cy="640080"/>
          </a:xfrm>
          <a:prstGeom prst="rect">
            <a:avLst/>
          </a:prstGeom>
          <a:noFill/>
          <a:ln/>
        </p:spPr>
        <p:txBody>
          <a:bodyPr wrap="square" lIns="0" tIns="0" rIns="0" bIns="0" rtlCol="0" anchor="ctr"/>
          <a:lstStyle/>
          <a:p>
            <a:pPr marL="0" indent="0" algn="l">
              <a:buNone/>
            </a:pPr>
            <a:r>
              <a:rPr lang="en-US" sz="3200" b="1" dirty="0">
                <a:solidFill>
                  <a:srgbClr val="7A1F2B"/>
                </a:solidFill>
                <a:latin typeface="Cambria" pitchFamily="34" charset="0"/>
                <a:ea typeface="Cambria" pitchFamily="34" charset="-122"/>
                <a:cs typeface="Cambria" pitchFamily="34" charset="-120"/>
              </a:rPr>
              <a:t>3</a:t>
            </a:r>
            <a:endParaRPr lang="en-US" sz="3200" dirty="0"/>
          </a:p>
        </p:txBody>
      </p:sp>
      <p:sp>
        <p:nvSpPr>
          <p:cNvPr id="15" name="Text 13"/>
          <p:cNvSpPr/>
          <p:nvPr/>
        </p:nvSpPr>
        <p:spPr>
          <a:xfrm>
            <a:off x="1280160" y="4389120"/>
            <a:ext cx="5852160" cy="822960"/>
          </a:xfrm>
          <a:prstGeom prst="rect">
            <a:avLst/>
          </a:prstGeom>
          <a:noFill/>
          <a:ln/>
        </p:spPr>
        <p:txBody>
          <a:bodyPr wrap="square" lIns="0" tIns="0" rIns="0" bIns="0" rtlCol="0" anchor="ctr"/>
          <a:lstStyle/>
          <a:p>
            <a:pPr marL="0" indent="0" algn="l">
              <a:lnSpc>
                <a:spcPct val="105000"/>
              </a:lnSpc>
              <a:buNone/>
            </a:pPr>
            <a:r>
              <a:rPr lang="en-US" sz="1850" dirty="0">
                <a:solidFill>
                  <a:srgbClr val="1E1F24"/>
                </a:solidFill>
                <a:latin typeface="Calibri" pitchFamily="34" charset="0"/>
                <a:ea typeface="Calibri" pitchFamily="34" charset="-122"/>
                <a:cs typeface="Calibri" pitchFamily="34" charset="-120"/>
              </a:rPr>
              <a:t>Local issue themes.</a:t>
            </a:r>
            <a:endParaRPr lang="en-US" sz="1850" dirty="0"/>
          </a:p>
        </p:txBody>
      </p:sp>
      <p:sp>
        <p:nvSpPr>
          <p:cNvPr id="16" name="Shape 14"/>
          <p:cNvSpPr/>
          <p:nvPr/>
        </p:nvSpPr>
        <p:spPr>
          <a:xfrm>
            <a:off x="7406640" y="4407408"/>
            <a:ext cx="4114800" cy="777240"/>
          </a:xfrm>
          <a:prstGeom prst="roundRect">
            <a:avLst>
              <a:gd name="adj" fmla="val 7059"/>
            </a:avLst>
          </a:prstGeom>
          <a:solidFill>
            <a:srgbClr val="F4F4F6"/>
          </a:solidFill>
          <a:ln w="12700">
            <a:solidFill>
              <a:srgbClr val="D6D8DD"/>
            </a:solidFill>
            <a:prstDash val="solid"/>
          </a:ln>
        </p:spPr>
        <p:txBody>
          <a:bodyPr/>
          <a:lstStyle/>
          <a:p>
            <a:endParaRPr lang="en-IN" b="1"/>
          </a:p>
        </p:txBody>
      </p:sp>
      <p:sp>
        <p:nvSpPr>
          <p:cNvPr id="17" name="Text 15"/>
          <p:cNvSpPr/>
          <p:nvPr/>
        </p:nvSpPr>
        <p:spPr>
          <a:xfrm>
            <a:off x="7571232" y="4407408"/>
            <a:ext cx="3794760" cy="777240"/>
          </a:xfrm>
          <a:prstGeom prst="rect">
            <a:avLst/>
          </a:prstGeom>
          <a:noFill/>
          <a:ln/>
        </p:spPr>
        <p:txBody>
          <a:bodyPr wrap="square" lIns="0" tIns="0" rIns="0" bIns="0" rtlCol="0" anchor="ctr"/>
          <a:lstStyle/>
          <a:p>
            <a:pPr marL="0" indent="0" algn="l">
              <a:lnSpc>
                <a:spcPct val="100000"/>
              </a:lnSpc>
              <a:buNone/>
            </a:pPr>
            <a:r>
              <a:rPr lang="en-US" sz="1450" dirty="0">
                <a:solidFill>
                  <a:srgbClr val="1E1F24"/>
                </a:solidFill>
                <a:latin typeface="Calibri" pitchFamily="34" charset="0"/>
                <a:ea typeface="Calibri" pitchFamily="34" charset="-122"/>
                <a:cs typeface="Calibri" pitchFamily="34" charset="-120"/>
              </a:rPr>
              <a:t>Grouped by what complaints are about, not the category assigned at intake. Concentrated in one place and rising is the alert worth acting on.</a:t>
            </a:r>
            <a:endParaRPr lang="en-US" sz="1450" dirty="0"/>
          </a:p>
        </p:txBody>
      </p:sp>
      <p:sp>
        <p:nvSpPr>
          <p:cNvPr id="18" name="Text 16"/>
          <p:cNvSpPr/>
          <p:nvPr/>
        </p:nvSpPr>
        <p:spPr>
          <a:xfrm>
            <a:off x="640080" y="5577840"/>
            <a:ext cx="10881360" cy="365760"/>
          </a:xfrm>
          <a:prstGeom prst="rect">
            <a:avLst/>
          </a:prstGeom>
          <a:noFill/>
          <a:ln/>
        </p:spPr>
        <p:txBody>
          <a:bodyPr wrap="square" lIns="0" tIns="0" rIns="0" bIns="0" rtlCol="0" anchor="ctr"/>
          <a:lstStyle/>
          <a:p>
            <a:pPr marL="0" indent="0" algn="l">
              <a:buNone/>
            </a:pPr>
            <a:r>
              <a:rPr lang="en-US" sz="1650" b="1" i="1" dirty="0">
                <a:solidFill>
                  <a:srgbClr val="6C6E76"/>
                </a:solidFill>
                <a:latin typeface="Calibri" pitchFamily="34" charset="0"/>
                <a:ea typeface="Calibri" pitchFamily="34" charset="-122"/>
                <a:cs typeface="Calibri" pitchFamily="34" charset="-120"/>
              </a:rPr>
              <a:t>If an analyst with database access could produce a number in a day, we do not present it as something the system enables.</a:t>
            </a:r>
            <a:endParaRPr lang="en-US" sz="1650" b="1" dirty="0"/>
          </a:p>
        </p:txBody>
      </p:sp>
      <p:sp>
        <p:nvSpPr>
          <p:cNvPr id="19" name="Text 17"/>
          <p:cNvSpPr/>
          <p:nvPr/>
        </p:nvSpPr>
        <p:spPr>
          <a:xfrm>
            <a:off x="640080" y="6419088"/>
            <a:ext cx="5486400" cy="274320"/>
          </a:xfrm>
          <a:prstGeom prst="rect">
            <a:avLst/>
          </a:prstGeom>
          <a:noFill/>
          <a:ln/>
        </p:spPr>
        <p:txBody>
          <a:bodyPr wrap="square" lIns="0" tIns="0" rIns="0" bIns="0" rtlCol="0" anchor="ctr"/>
          <a:lstStyle/>
          <a:p>
            <a:pPr marL="0" indent="0" algn="l">
              <a:buNone/>
            </a:pPr>
            <a:r>
              <a:rPr lang="en-US" sz="850" dirty="0">
                <a:solidFill>
                  <a:srgbClr val="6C6E76"/>
                </a:solidFill>
                <a:latin typeface="Calibri" pitchFamily="34" charset="0"/>
                <a:ea typeface="Calibri" pitchFamily="34" charset="-122"/>
                <a:cs typeface="Calibri" pitchFamily="34" charset="-120"/>
              </a:rPr>
              <a:t>Data, Policy and Innovation Centre</a:t>
            </a:r>
            <a:endParaRPr lang="en-US" sz="850" dirty="0"/>
          </a:p>
        </p:txBody>
      </p:sp>
      <p:sp>
        <p:nvSpPr>
          <p:cNvPr id="20" name="Text 18"/>
          <p:cNvSpPr/>
          <p:nvPr/>
        </p:nvSpPr>
        <p:spPr>
          <a:xfrm>
            <a:off x="6035040" y="6419088"/>
            <a:ext cx="5486400" cy="274320"/>
          </a:xfrm>
          <a:prstGeom prst="rect">
            <a:avLst/>
          </a:prstGeom>
          <a:noFill/>
          <a:ln/>
        </p:spPr>
        <p:txBody>
          <a:bodyPr wrap="square" lIns="0" tIns="0" rIns="0" bIns="0" rtlCol="0" anchor="ctr"/>
          <a:lstStyle/>
          <a:p>
            <a:pPr marL="0" indent="0" algn="r">
              <a:buNone/>
            </a:pPr>
            <a:r>
              <a:rPr lang="en-US" sz="850" dirty="0">
                <a:solidFill>
                  <a:srgbClr val="6C6E76"/>
                </a:solidFill>
                <a:latin typeface="Calibri" pitchFamily="34" charset="0"/>
                <a:ea typeface="Calibri" pitchFamily="34" charset="-122"/>
                <a:cs typeface="Calibri" pitchFamily="34" charset="-120"/>
              </a:rPr>
              <a:t>Government of Odisha  ×  University of Chicago Trust</a:t>
            </a:r>
            <a:endParaRPr lang="en-US" sz="85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57200"/>
            <a:ext cx="10881360" cy="320040"/>
          </a:xfrm>
          <a:prstGeom prst="rect">
            <a:avLst/>
          </a:prstGeom>
          <a:noFill/>
          <a:ln/>
        </p:spPr>
        <p:txBody>
          <a:bodyPr wrap="square" lIns="0" tIns="0" rIns="0" bIns="0" rtlCol="0" anchor="ctr"/>
          <a:lstStyle/>
          <a:p>
            <a:pPr marL="0" indent="0" algn="l">
              <a:buNone/>
            </a:pPr>
            <a:r>
              <a:rPr lang="en-US" sz="1500" b="1" kern="0" spc="200" dirty="0">
                <a:solidFill>
                  <a:srgbClr val="7A1F2B"/>
                </a:solidFill>
                <a:latin typeface="Calibri" pitchFamily="34" charset="0"/>
                <a:ea typeface="Calibri" pitchFamily="34" charset="-122"/>
                <a:cs typeface="Calibri" pitchFamily="34" charset="-120"/>
              </a:rPr>
              <a:t>THE LIMITS</a:t>
            </a:r>
            <a:endParaRPr lang="en-US" sz="15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marL="0" indent="0" algn="l">
              <a:buNone/>
            </a:pPr>
            <a:r>
              <a:rPr lang="en-US" sz="3400" b="1" dirty="0">
                <a:solidFill>
                  <a:srgbClr val="1E1F24"/>
                </a:solidFill>
                <a:latin typeface="Cambria" pitchFamily="34" charset="0"/>
                <a:ea typeface="Cambria" pitchFamily="34" charset="-122"/>
                <a:cs typeface="Cambria" pitchFamily="34" charset="-120"/>
              </a:rPr>
              <a:t>What we cannot measure</a:t>
            </a:r>
            <a:endParaRPr lang="en-US" sz="3400" dirty="0"/>
          </a:p>
        </p:txBody>
      </p:sp>
      <p:sp>
        <p:nvSpPr>
          <p:cNvPr id="4" name="Text 2"/>
          <p:cNvSpPr/>
          <p:nvPr/>
        </p:nvSpPr>
        <p:spPr>
          <a:xfrm>
            <a:off x="640080" y="2194560"/>
            <a:ext cx="502920" cy="640080"/>
          </a:xfrm>
          <a:prstGeom prst="rect">
            <a:avLst/>
          </a:prstGeom>
          <a:noFill/>
          <a:ln/>
        </p:spPr>
        <p:txBody>
          <a:bodyPr wrap="square" lIns="0" tIns="0" rIns="0" bIns="0" rtlCol="0" anchor="ctr"/>
          <a:lstStyle/>
          <a:p>
            <a:pPr marL="0" indent="0" algn="l">
              <a:buNone/>
            </a:pPr>
            <a:r>
              <a:rPr lang="en-US" sz="3200" b="1" dirty="0">
                <a:solidFill>
                  <a:srgbClr val="7A1F2B"/>
                </a:solidFill>
                <a:latin typeface="Cambria" pitchFamily="34" charset="0"/>
                <a:ea typeface="Cambria" pitchFamily="34" charset="-122"/>
                <a:cs typeface="Cambria" pitchFamily="34" charset="-120"/>
              </a:rPr>
              <a:t>1</a:t>
            </a:r>
            <a:endParaRPr lang="en-US" sz="3200" dirty="0"/>
          </a:p>
        </p:txBody>
      </p:sp>
      <p:sp>
        <p:nvSpPr>
          <p:cNvPr id="5" name="Text 3"/>
          <p:cNvSpPr/>
          <p:nvPr/>
        </p:nvSpPr>
        <p:spPr>
          <a:xfrm>
            <a:off x="1280160" y="2194560"/>
            <a:ext cx="5852160" cy="822960"/>
          </a:xfrm>
          <a:prstGeom prst="rect">
            <a:avLst/>
          </a:prstGeom>
          <a:noFill/>
          <a:ln/>
        </p:spPr>
        <p:txBody>
          <a:bodyPr wrap="square" lIns="0" tIns="0" rIns="0" bIns="0" rtlCol="0" anchor="ctr"/>
          <a:lstStyle/>
          <a:p>
            <a:pPr marL="0" indent="0" algn="l">
              <a:lnSpc>
                <a:spcPct val="105000"/>
              </a:lnSpc>
              <a:buNone/>
            </a:pPr>
            <a:r>
              <a:rPr lang="en-US" sz="1850" dirty="0">
                <a:solidFill>
                  <a:srgbClr val="1E1F24"/>
                </a:solidFill>
                <a:latin typeface="Calibri" pitchFamily="34" charset="0"/>
                <a:ea typeface="Calibri" pitchFamily="34" charset="-122"/>
                <a:cs typeface="Calibri" pitchFamily="34" charset="-120"/>
              </a:rPr>
              <a:t>We cannot say how accurately it reads a page.</a:t>
            </a:r>
            <a:endParaRPr lang="en-US" sz="1850" dirty="0"/>
          </a:p>
        </p:txBody>
      </p:sp>
      <p:sp>
        <p:nvSpPr>
          <p:cNvPr id="6" name="Shape 4"/>
          <p:cNvSpPr/>
          <p:nvPr/>
        </p:nvSpPr>
        <p:spPr>
          <a:xfrm>
            <a:off x="7406640" y="2212848"/>
            <a:ext cx="4114800" cy="777240"/>
          </a:xfrm>
          <a:prstGeom prst="roundRect">
            <a:avLst>
              <a:gd name="adj" fmla="val 7059"/>
            </a:avLst>
          </a:prstGeom>
          <a:solidFill>
            <a:srgbClr val="F4F4F6"/>
          </a:solidFill>
          <a:ln w="12700">
            <a:solidFill>
              <a:srgbClr val="D6D8DD"/>
            </a:solidFill>
            <a:prstDash val="solid"/>
          </a:ln>
        </p:spPr>
        <p:txBody>
          <a:bodyPr/>
          <a:lstStyle/>
          <a:p>
            <a:endParaRPr lang="en-IN"/>
          </a:p>
        </p:txBody>
      </p:sp>
      <p:sp>
        <p:nvSpPr>
          <p:cNvPr id="7" name="Text 5"/>
          <p:cNvSpPr/>
          <p:nvPr/>
        </p:nvSpPr>
        <p:spPr>
          <a:xfrm>
            <a:off x="7571232" y="2212848"/>
            <a:ext cx="3794760" cy="777240"/>
          </a:xfrm>
          <a:prstGeom prst="rect">
            <a:avLst/>
          </a:prstGeom>
          <a:noFill/>
          <a:ln/>
        </p:spPr>
        <p:txBody>
          <a:bodyPr wrap="square" lIns="0" tIns="0" rIns="0" bIns="0" rtlCol="0" anchor="ctr"/>
          <a:lstStyle/>
          <a:p>
            <a:pPr marL="0" indent="0" algn="l">
              <a:lnSpc>
                <a:spcPct val="100000"/>
              </a:lnSpc>
              <a:buNone/>
            </a:pPr>
            <a:r>
              <a:rPr lang="en-US" sz="1450" dirty="0">
                <a:solidFill>
                  <a:srgbClr val="1E1F24"/>
                </a:solidFill>
                <a:latin typeface="Calibri" pitchFamily="34" charset="0"/>
                <a:ea typeface="Calibri" pitchFamily="34" charset="-122"/>
                <a:cs typeface="Calibri" pitchFamily="34" charset="-120"/>
              </a:rPr>
              <a:t>Nobody has hand-typed a set of pages to check against. No system can be scored, ours or anyone else's.</a:t>
            </a:r>
            <a:endParaRPr lang="en-US" sz="1450" dirty="0"/>
          </a:p>
        </p:txBody>
      </p:sp>
      <p:sp>
        <p:nvSpPr>
          <p:cNvPr id="8" name="Shape 6"/>
          <p:cNvSpPr/>
          <p:nvPr/>
        </p:nvSpPr>
        <p:spPr>
          <a:xfrm>
            <a:off x="640080" y="3154680"/>
            <a:ext cx="10881360" cy="0"/>
          </a:xfrm>
          <a:prstGeom prst="line">
            <a:avLst/>
          </a:prstGeom>
          <a:noFill/>
          <a:ln w="9525">
            <a:solidFill>
              <a:srgbClr val="D6D8DD"/>
            </a:solidFill>
            <a:prstDash val="solid"/>
          </a:ln>
        </p:spPr>
        <p:txBody>
          <a:bodyPr/>
          <a:lstStyle/>
          <a:p>
            <a:endParaRPr lang="en-IN"/>
          </a:p>
        </p:txBody>
      </p:sp>
      <p:sp>
        <p:nvSpPr>
          <p:cNvPr id="9" name="Text 7"/>
          <p:cNvSpPr/>
          <p:nvPr/>
        </p:nvSpPr>
        <p:spPr>
          <a:xfrm>
            <a:off x="640080" y="3291840"/>
            <a:ext cx="502920" cy="640080"/>
          </a:xfrm>
          <a:prstGeom prst="rect">
            <a:avLst/>
          </a:prstGeom>
          <a:noFill/>
          <a:ln/>
        </p:spPr>
        <p:txBody>
          <a:bodyPr wrap="square" lIns="0" tIns="0" rIns="0" bIns="0" rtlCol="0" anchor="ctr"/>
          <a:lstStyle/>
          <a:p>
            <a:pPr marL="0" indent="0" algn="l">
              <a:buNone/>
            </a:pPr>
            <a:r>
              <a:rPr lang="en-US" sz="3200" b="1" dirty="0">
                <a:solidFill>
                  <a:srgbClr val="7A1F2B"/>
                </a:solidFill>
                <a:latin typeface="Cambria" pitchFamily="34" charset="0"/>
                <a:ea typeface="Cambria" pitchFamily="34" charset="-122"/>
                <a:cs typeface="Cambria" pitchFamily="34" charset="-120"/>
              </a:rPr>
              <a:t>2</a:t>
            </a:r>
            <a:endParaRPr lang="en-US" sz="3200" dirty="0"/>
          </a:p>
        </p:txBody>
      </p:sp>
      <p:sp>
        <p:nvSpPr>
          <p:cNvPr id="10" name="Text 8"/>
          <p:cNvSpPr/>
          <p:nvPr/>
        </p:nvSpPr>
        <p:spPr>
          <a:xfrm>
            <a:off x="1280160" y="3291840"/>
            <a:ext cx="5852160" cy="822960"/>
          </a:xfrm>
          <a:prstGeom prst="rect">
            <a:avLst/>
          </a:prstGeom>
          <a:noFill/>
          <a:ln/>
        </p:spPr>
        <p:txBody>
          <a:bodyPr wrap="square" lIns="0" tIns="0" rIns="0" bIns="0" rtlCol="0" anchor="ctr"/>
          <a:lstStyle/>
          <a:p>
            <a:pPr marL="0" indent="0" algn="l">
              <a:lnSpc>
                <a:spcPct val="105000"/>
              </a:lnSpc>
              <a:buNone/>
            </a:pPr>
            <a:r>
              <a:rPr lang="en-US" sz="1850" dirty="0">
                <a:solidFill>
                  <a:srgbClr val="1E1F24"/>
                </a:solidFill>
                <a:latin typeface="Calibri" pitchFamily="34" charset="0"/>
                <a:ea typeface="Calibri" pitchFamily="34" charset="-122"/>
                <a:cs typeface="Calibri" pitchFamily="34" charset="-120"/>
              </a:rPr>
              <a:t>We cannot say how often redaction hides too much.</a:t>
            </a:r>
            <a:endParaRPr lang="en-US" sz="1850" dirty="0"/>
          </a:p>
        </p:txBody>
      </p:sp>
      <p:sp>
        <p:nvSpPr>
          <p:cNvPr id="11" name="Shape 9"/>
          <p:cNvSpPr/>
          <p:nvPr/>
        </p:nvSpPr>
        <p:spPr>
          <a:xfrm>
            <a:off x="7406640" y="3310128"/>
            <a:ext cx="4114800" cy="777240"/>
          </a:xfrm>
          <a:prstGeom prst="roundRect">
            <a:avLst>
              <a:gd name="adj" fmla="val 7059"/>
            </a:avLst>
          </a:prstGeom>
          <a:solidFill>
            <a:srgbClr val="F4F4F6"/>
          </a:solidFill>
          <a:ln w="12700">
            <a:solidFill>
              <a:srgbClr val="D6D8DD"/>
            </a:solidFill>
            <a:prstDash val="solid"/>
          </a:ln>
        </p:spPr>
        <p:txBody>
          <a:bodyPr/>
          <a:lstStyle/>
          <a:p>
            <a:endParaRPr lang="en-IN"/>
          </a:p>
        </p:txBody>
      </p:sp>
      <p:sp>
        <p:nvSpPr>
          <p:cNvPr id="12" name="Text 10"/>
          <p:cNvSpPr/>
          <p:nvPr/>
        </p:nvSpPr>
        <p:spPr>
          <a:xfrm>
            <a:off x="7571232" y="3310128"/>
            <a:ext cx="3794760" cy="777240"/>
          </a:xfrm>
          <a:prstGeom prst="rect">
            <a:avLst/>
          </a:prstGeom>
          <a:noFill/>
          <a:ln/>
        </p:spPr>
        <p:txBody>
          <a:bodyPr wrap="square" lIns="0" tIns="0" rIns="0" bIns="0" rtlCol="0" anchor="ctr"/>
          <a:lstStyle/>
          <a:p>
            <a:r>
              <a:rPr lang="en-US" sz="1450" dirty="0">
                <a:solidFill>
                  <a:srgbClr val="1E1F24"/>
                </a:solidFill>
                <a:latin typeface="Calibri" pitchFamily="34" charset="0"/>
                <a:ea typeface="Calibri" pitchFamily="34" charset="-122"/>
                <a:cs typeface="Calibri" pitchFamily="34" charset="-120"/>
              </a:rPr>
              <a:t>We marked what should be hidden. We never marked what should not, so a miss and an over-redaction look the same.</a:t>
            </a:r>
            <a:endParaRPr lang="en-US" sz="1450" dirty="0"/>
          </a:p>
        </p:txBody>
      </p:sp>
      <p:sp>
        <p:nvSpPr>
          <p:cNvPr id="13" name="Shape 11"/>
          <p:cNvSpPr/>
          <p:nvPr/>
        </p:nvSpPr>
        <p:spPr>
          <a:xfrm>
            <a:off x="640080" y="4251960"/>
            <a:ext cx="10881360" cy="0"/>
          </a:xfrm>
          <a:prstGeom prst="line">
            <a:avLst/>
          </a:prstGeom>
          <a:noFill/>
          <a:ln w="9525">
            <a:solidFill>
              <a:srgbClr val="D6D8DD"/>
            </a:solidFill>
            <a:prstDash val="solid"/>
          </a:ln>
        </p:spPr>
        <p:txBody>
          <a:bodyPr/>
          <a:lstStyle/>
          <a:p>
            <a:endParaRPr lang="en-IN"/>
          </a:p>
        </p:txBody>
      </p:sp>
      <p:sp>
        <p:nvSpPr>
          <p:cNvPr id="14" name="Text 12"/>
          <p:cNvSpPr/>
          <p:nvPr/>
        </p:nvSpPr>
        <p:spPr>
          <a:xfrm>
            <a:off x="640080" y="4389120"/>
            <a:ext cx="502920" cy="640080"/>
          </a:xfrm>
          <a:prstGeom prst="rect">
            <a:avLst/>
          </a:prstGeom>
          <a:noFill/>
          <a:ln/>
        </p:spPr>
        <p:txBody>
          <a:bodyPr wrap="square" lIns="0" tIns="0" rIns="0" bIns="0" rtlCol="0" anchor="ctr"/>
          <a:lstStyle/>
          <a:p>
            <a:pPr marL="0" indent="0" algn="l">
              <a:buNone/>
            </a:pPr>
            <a:r>
              <a:rPr lang="en-US" sz="3200" b="1" dirty="0">
                <a:solidFill>
                  <a:srgbClr val="7A1F2B"/>
                </a:solidFill>
                <a:latin typeface="Cambria" pitchFamily="34" charset="0"/>
                <a:ea typeface="Cambria" pitchFamily="34" charset="-122"/>
                <a:cs typeface="Cambria" pitchFamily="34" charset="-120"/>
              </a:rPr>
              <a:t>3</a:t>
            </a:r>
            <a:endParaRPr lang="en-US" sz="3200" dirty="0"/>
          </a:p>
        </p:txBody>
      </p:sp>
      <p:sp>
        <p:nvSpPr>
          <p:cNvPr id="15" name="Text 13"/>
          <p:cNvSpPr/>
          <p:nvPr/>
        </p:nvSpPr>
        <p:spPr>
          <a:xfrm>
            <a:off x="1280160" y="4389120"/>
            <a:ext cx="5852160" cy="822960"/>
          </a:xfrm>
          <a:prstGeom prst="rect">
            <a:avLst/>
          </a:prstGeom>
          <a:noFill/>
          <a:ln/>
        </p:spPr>
        <p:txBody>
          <a:bodyPr wrap="square" lIns="0" tIns="0" rIns="0" bIns="0" rtlCol="0" anchor="ctr"/>
          <a:lstStyle/>
          <a:p>
            <a:pPr marL="0" indent="0" algn="l">
              <a:lnSpc>
                <a:spcPct val="105000"/>
              </a:lnSpc>
              <a:buNone/>
            </a:pPr>
            <a:r>
              <a:rPr lang="en-US" sz="1850" dirty="0">
                <a:solidFill>
                  <a:srgbClr val="1E1F24"/>
                </a:solidFill>
                <a:latin typeface="Calibri" pitchFamily="34" charset="0"/>
                <a:ea typeface="Calibri" pitchFamily="34" charset="-122"/>
                <a:cs typeface="Calibri" pitchFamily="34" charset="-120"/>
              </a:rPr>
              <a:t>We cannot say it saves officer time.</a:t>
            </a:r>
            <a:endParaRPr lang="en-US" sz="1850" dirty="0"/>
          </a:p>
        </p:txBody>
      </p:sp>
      <p:sp>
        <p:nvSpPr>
          <p:cNvPr id="16" name="Shape 14"/>
          <p:cNvSpPr/>
          <p:nvPr/>
        </p:nvSpPr>
        <p:spPr>
          <a:xfrm>
            <a:off x="7406640" y="4407408"/>
            <a:ext cx="4114800" cy="777240"/>
          </a:xfrm>
          <a:prstGeom prst="roundRect">
            <a:avLst>
              <a:gd name="adj" fmla="val 7059"/>
            </a:avLst>
          </a:prstGeom>
          <a:solidFill>
            <a:srgbClr val="F4F4F6"/>
          </a:solidFill>
          <a:ln w="12700">
            <a:solidFill>
              <a:srgbClr val="D6D8DD"/>
            </a:solidFill>
            <a:prstDash val="solid"/>
          </a:ln>
        </p:spPr>
        <p:txBody>
          <a:bodyPr/>
          <a:lstStyle/>
          <a:p>
            <a:endParaRPr lang="en-IN" b="1"/>
          </a:p>
        </p:txBody>
      </p:sp>
      <p:sp>
        <p:nvSpPr>
          <p:cNvPr id="17" name="Text 15"/>
          <p:cNvSpPr/>
          <p:nvPr/>
        </p:nvSpPr>
        <p:spPr>
          <a:xfrm>
            <a:off x="7571232" y="4407408"/>
            <a:ext cx="3794760" cy="777240"/>
          </a:xfrm>
          <a:prstGeom prst="rect">
            <a:avLst/>
          </a:prstGeom>
          <a:noFill/>
          <a:ln/>
        </p:spPr>
        <p:txBody>
          <a:bodyPr wrap="square" lIns="0" tIns="0" rIns="0" bIns="0" rtlCol="0" anchor="ctr"/>
          <a:lstStyle/>
          <a:p>
            <a:pPr marL="0" indent="0" algn="l">
              <a:lnSpc>
                <a:spcPct val="100000"/>
              </a:lnSpc>
              <a:buNone/>
            </a:pPr>
            <a:r>
              <a:rPr lang="en-US" sz="1450" dirty="0">
                <a:solidFill>
                  <a:srgbClr val="1E1F24"/>
                </a:solidFill>
                <a:latin typeface="Calibri" pitchFamily="34" charset="0"/>
                <a:ea typeface="Calibri" pitchFamily="34" charset="-122"/>
                <a:cs typeface="Calibri" pitchFamily="34" charset="-120"/>
              </a:rPr>
              <a:t>The 10 to 15 minute baseline is self-reported and was never timed. No trial has been run.</a:t>
            </a:r>
            <a:endParaRPr lang="en-US" sz="1450" dirty="0"/>
          </a:p>
        </p:txBody>
      </p:sp>
      <p:sp>
        <p:nvSpPr>
          <p:cNvPr id="18" name="Text 16"/>
          <p:cNvSpPr/>
          <p:nvPr/>
        </p:nvSpPr>
        <p:spPr>
          <a:xfrm>
            <a:off x="640080" y="5577840"/>
            <a:ext cx="10881360" cy="365760"/>
          </a:xfrm>
          <a:prstGeom prst="rect">
            <a:avLst/>
          </a:prstGeom>
          <a:noFill/>
          <a:ln/>
        </p:spPr>
        <p:txBody>
          <a:bodyPr wrap="square" lIns="0" tIns="0" rIns="0" bIns="0" rtlCol="0" anchor="ctr"/>
          <a:lstStyle/>
          <a:p>
            <a:pPr marL="0" indent="0" algn="l">
              <a:buNone/>
            </a:pPr>
            <a:r>
              <a:rPr lang="en-US" sz="1650" b="1" i="1" dirty="0">
                <a:solidFill>
                  <a:srgbClr val="6C6E76"/>
                </a:solidFill>
                <a:latin typeface="Calibri" pitchFamily="34" charset="0"/>
                <a:ea typeface="Calibri" pitchFamily="34" charset="-122"/>
                <a:cs typeface="Calibri" pitchFamily="34" charset="-120"/>
              </a:rPr>
              <a:t>Every figure in this deck was produced by us, on our own data. None of it has been checked by an officer.</a:t>
            </a:r>
            <a:endParaRPr lang="en-US" sz="1650" b="1" dirty="0"/>
          </a:p>
        </p:txBody>
      </p:sp>
      <p:sp>
        <p:nvSpPr>
          <p:cNvPr id="19" name="Text 17"/>
          <p:cNvSpPr/>
          <p:nvPr/>
        </p:nvSpPr>
        <p:spPr>
          <a:xfrm>
            <a:off x="640080" y="6419088"/>
            <a:ext cx="5486400" cy="274320"/>
          </a:xfrm>
          <a:prstGeom prst="rect">
            <a:avLst/>
          </a:prstGeom>
          <a:noFill/>
          <a:ln/>
        </p:spPr>
        <p:txBody>
          <a:bodyPr wrap="square" lIns="0" tIns="0" rIns="0" bIns="0" rtlCol="0" anchor="ctr"/>
          <a:lstStyle/>
          <a:p>
            <a:pPr marL="0" indent="0" algn="l">
              <a:buNone/>
            </a:pPr>
            <a:r>
              <a:rPr lang="en-US" sz="850" dirty="0">
                <a:solidFill>
                  <a:srgbClr val="6C6E76"/>
                </a:solidFill>
                <a:latin typeface="Calibri" pitchFamily="34" charset="0"/>
                <a:ea typeface="Calibri" pitchFamily="34" charset="-122"/>
                <a:cs typeface="Calibri" pitchFamily="34" charset="-120"/>
              </a:rPr>
              <a:t>Data, Policy and Innovation Centre</a:t>
            </a:r>
            <a:endParaRPr lang="en-US" sz="850" dirty="0"/>
          </a:p>
        </p:txBody>
      </p:sp>
      <p:sp>
        <p:nvSpPr>
          <p:cNvPr id="20" name="Text 18"/>
          <p:cNvSpPr/>
          <p:nvPr/>
        </p:nvSpPr>
        <p:spPr>
          <a:xfrm>
            <a:off x="6035040" y="6419088"/>
            <a:ext cx="5486400" cy="274320"/>
          </a:xfrm>
          <a:prstGeom prst="rect">
            <a:avLst/>
          </a:prstGeom>
          <a:noFill/>
          <a:ln/>
        </p:spPr>
        <p:txBody>
          <a:bodyPr wrap="square" lIns="0" tIns="0" rIns="0" bIns="0" rtlCol="0" anchor="ctr"/>
          <a:lstStyle/>
          <a:p>
            <a:pPr marL="0" indent="0" algn="r">
              <a:buNone/>
            </a:pPr>
            <a:r>
              <a:rPr lang="en-US" sz="850" dirty="0">
                <a:solidFill>
                  <a:srgbClr val="6C6E76"/>
                </a:solidFill>
                <a:latin typeface="Calibri" pitchFamily="34" charset="0"/>
                <a:ea typeface="Calibri" pitchFamily="34" charset="-122"/>
                <a:cs typeface="Calibri" pitchFamily="34" charset="-120"/>
              </a:rPr>
              <a:t>Government of Odisha  ×  University of Chicago Trust</a:t>
            </a:r>
            <a:endParaRPr lang="en-US" sz="85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457200"/>
            <a:ext cx="10881360" cy="320040"/>
          </a:xfrm>
          <a:prstGeom prst="rect">
            <a:avLst/>
          </a:prstGeom>
          <a:noFill/>
          <a:ln/>
        </p:spPr>
        <p:txBody>
          <a:bodyPr wrap="square" lIns="0" tIns="0" rIns="0" bIns="0" rtlCol="0" anchor="ctr"/>
          <a:lstStyle/>
          <a:p>
            <a:pPr marL="0" indent="0" algn="l">
              <a:buNone/>
            </a:pPr>
            <a:r>
              <a:rPr lang="en-US" sz="1500" b="1" kern="0" spc="200" dirty="0">
                <a:solidFill>
                  <a:srgbClr val="7A1F2B"/>
                </a:solidFill>
                <a:latin typeface="Calibri" pitchFamily="34" charset="0"/>
                <a:ea typeface="Calibri" pitchFamily="34" charset="-122"/>
                <a:cs typeface="Calibri" pitchFamily="34" charset="-120"/>
              </a:rPr>
              <a:t>THE OUTSIDE OPTION: SARVAM</a:t>
            </a:r>
            <a:endParaRPr lang="en-US" sz="1500" dirty="0"/>
          </a:p>
        </p:txBody>
      </p:sp>
      <p:sp>
        <p:nvSpPr>
          <p:cNvPr id="3" name="Text 1"/>
          <p:cNvSpPr/>
          <p:nvPr/>
        </p:nvSpPr>
        <p:spPr>
          <a:xfrm>
            <a:off x="640080" y="868680"/>
            <a:ext cx="10881360" cy="914400"/>
          </a:xfrm>
          <a:prstGeom prst="rect">
            <a:avLst/>
          </a:prstGeom>
          <a:noFill/>
          <a:ln/>
        </p:spPr>
        <p:txBody>
          <a:bodyPr wrap="square" lIns="0" tIns="0" rIns="0" bIns="0" rtlCol="0" anchor="ctr"/>
          <a:lstStyle/>
          <a:p>
            <a:pPr marL="0" indent="0" algn="l">
              <a:buNone/>
            </a:pPr>
            <a:r>
              <a:rPr lang="en-US" sz="3400" b="1" dirty="0">
                <a:solidFill>
                  <a:srgbClr val="1E1F24"/>
                </a:solidFill>
                <a:latin typeface="Cambria" pitchFamily="34" charset="0"/>
                <a:ea typeface="Cambria" pitchFamily="34" charset="-122"/>
                <a:cs typeface="Cambria" pitchFamily="34" charset="-120"/>
              </a:rPr>
              <a:t>Sarvam: fields returned, latency and divergence</a:t>
            </a:r>
            <a:endParaRPr lang="en-US" sz="3400" dirty="0"/>
          </a:p>
        </p:txBody>
      </p:sp>
      <p:sp>
        <p:nvSpPr>
          <p:cNvPr id="5" name="Text 3"/>
          <p:cNvSpPr/>
          <p:nvPr/>
        </p:nvSpPr>
        <p:spPr>
          <a:xfrm>
            <a:off x="640080" y="2179321"/>
            <a:ext cx="10881360" cy="292608"/>
          </a:xfrm>
          <a:prstGeom prst="rect">
            <a:avLst/>
          </a:prstGeom>
          <a:noFill/>
          <a:ln/>
        </p:spPr>
        <p:txBody>
          <a:bodyPr wrap="square" lIns="0" tIns="0" rIns="0" bIns="0" rtlCol="0" anchor="ctr"/>
          <a:lstStyle/>
          <a:p>
            <a:pPr marL="0" indent="0" algn="l">
              <a:buNone/>
            </a:pPr>
            <a:r>
              <a:rPr lang="en-US" sz="1350" b="1" kern="0" spc="150" dirty="0">
                <a:solidFill>
                  <a:srgbClr val="7A1F2B"/>
                </a:solidFill>
                <a:latin typeface="Calibri" pitchFamily="34" charset="0"/>
                <a:ea typeface="Calibri" pitchFamily="34" charset="-122"/>
                <a:cs typeface="Calibri" pitchFamily="34" charset="-120"/>
              </a:rPr>
              <a:t>What it does</a:t>
            </a:r>
            <a:endParaRPr lang="en-US" sz="1350" dirty="0"/>
          </a:p>
        </p:txBody>
      </p:sp>
      <p:sp>
        <p:nvSpPr>
          <p:cNvPr id="6" name="Shape 4"/>
          <p:cNvSpPr/>
          <p:nvPr/>
        </p:nvSpPr>
        <p:spPr>
          <a:xfrm>
            <a:off x="640080" y="2663953"/>
            <a:ext cx="91440" cy="91440"/>
          </a:xfrm>
          <a:prstGeom prst="rect">
            <a:avLst/>
          </a:prstGeom>
          <a:solidFill>
            <a:srgbClr val="7A1F2B"/>
          </a:solidFill>
          <a:ln/>
        </p:spPr>
        <p:txBody>
          <a:bodyPr/>
          <a:lstStyle/>
          <a:p>
            <a:endParaRPr lang="en-IN"/>
          </a:p>
        </p:txBody>
      </p:sp>
      <p:sp>
        <p:nvSpPr>
          <p:cNvPr id="7" name="Text 5"/>
          <p:cNvSpPr/>
          <p:nvPr/>
        </p:nvSpPr>
        <p:spPr>
          <a:xfrm>
            <a:off x="932688" y="2545081"/>
            <a:ext cx="10607040" cy="411480"/>
          </a:xfrm>
          <a:prstGeom prst="rect">
            <a:avLst/>
          </a:prstGeom>
          <a:noFill/>
          <a:ln/>
        </p:spPr>
        <p:txBody>
          <a:bodyPr wrap="square" lIns="0" tIns="0" rIns="0" bIns="0" rtlCol="0" anchor="t"/>
          <a:lstStyle/>
          <a:p>
            <a:pPr marL="0" indent="0" algn="l">
              <a:buNone/>
            </a:pPr>
            <a:r>
              <a:rPr lang="en-US" sz="1800" dirty="0">
                <a:solidFill>
                  <a:srgbClr val="1E1F24"/>
                </a:solidFill>
                <a:latin typeface="Calibri" pitchFamily="34" charset="0"/>
                <a:ea typeface="Calibri" pitchFamily="34" charset="-122"/>
                <a:cs typeface="Calibri" pitchFamily="34" charset="-120"/>
              </a:rPr>
              <a:t>One call at ₹1.50 a page returns the page text, a category and a summary.</a:t>
            </a:r>
            <a:endParaRPr lang="en-US" sz="1800" dirty="0"/>
          </a:p>
        </p:txBody>
      </p:sp>
      <p:sp>
        <p:nvSpPr>
          <p:cNvPr id="8" name="Shape 6"/>
          <p:cNvSpPr/>
          <p:nvPr/>
        </p:nvSpPr>
        <p:spPr>
          <a:xfrm>
            <a:off x="640080" y="3166873"/>
            <a:ext cx="91440" cy="91440"/>
          </a:xfrm>
          <a:prstGeom prst="rect">
            <a:avLst/>
          </a:prstGeom>
          <a:solidFill>
            <a:srgbClr val="7A1F2B"/>
          </a:solidFill>
          <a:ln/>
        </p:spPr>
        <p:txBody>
          <a:bodyPr/>
          <a:lstStyle/>
          <a:p>
            <a:endParaRPr lang="en-IN"/>
          </a:p>
        </p:txBody>
      </p:sp>
      <p:sp>
        <p:nvSpPr>
          <p:cNvPr id="9" name="Text 7"/>
          <p:cNvSpPr/>
          <p:nvPr/>
        </p:nvSpPr>
        <p:spPr>
          <a:xfrm>
            <a:off x="932688" y="3048001"/>
            <a:ext cx="10607040" cy="411480"/>
          </a:xfrm>
          <a:prstGeom prst="rect">
            <a:avLst/>
          </a:prstGeom>
          <a:noFill/>
          <a:ln/>
        </p:spPr>
        <p:txBody>
          <a:bodyPr wrap="square" lIns="0" tIns="0" rIns="0" bIns="0" rtlCol="0" anchor="t"/>
          <a:lstStyle/>
          <a:p>
            <a:pPr marL="0" indent="0" algn="l">
              <a:buNone/>
            </a:pPr>
            <a:r>
              <a:rPr lang="en-US" sz="1800" dirty="0">
                <a:solidFill>
                  <a:srgbClr val="1E1F24"/>
                </a:solidFill>
                <a:latin typeface="Calibri" pitchFamily="34" charset="0"/>
                <a:ea typeface="Calibri" pitchFamily="34" charset="-122"/>
                <a:cs typeface="Calibri" pitchFamily="34" charset="-120"/>
              </a:rPr>
              <a:t>It reads 22 Indian languages including Odia. Ours reads English.</a:t>
            </a:r>
            <a:endParaRPr lang="en-US" sz="1800" dirty="0"/>
          </a:p>
        </p:txBody>
      </p:sp>
      <p:sp>
        <p:nvSpPr>
          <p:cNvPr id="10" name="Text 8"/>
          <p:cNvSpPr/>
          <p:nvPr/>
        </p:nvSpPr>
        <p:spPr>
          <a:xfrm>
            <a:off x="640080" y="3972025"/>
            <a:ext cx="10881360" cy="292608"/>
          </a:xfrm>
          <a:prstGeom prst="rect">
            <a:avLst/>
          </a:prstGeom>
          <a:noFill/>
          <a:ln/>
        </p:spPr>
        <p:txBody>
          <a:bodyPr wrap="square" lIns="0" tIns="0" rIns="0" bIns="0" rtlCol="0" anchor="ctr"/>
          <a:lstStyle/>
          <a:p>
            <a:pPr marL="0" indent="0" algn="l">
              <a:buNone/>
            </a:pPr>
            <a:r>
              <a:rPr lang="en-US" sz="1350" b="1" kern="0" spc="150" dirty="0">
                <a:solidFill>
                  <a:srgbClr val="7A1F2B"/>
                </a:solidFill>
                <a:latin typeface="Calibri" pitchFamily="34" charset="0"/>
                <a:ea typeface="Calibri" pitchFamily="34" charset="-122"/>
                <a:cs typeface="Calibri" pitchFamily="34" charset="-120"/>
              </a:rPr>
              <a:t>What we measured, on 200 pages of Sambalpur 2024</a:t>
            </a:r>
            <a:endParaRPr lang="en-US" sz="1350" dirty="0"/>
          </a:p>
        </p:txBody>
      </p:sp>
      <p:sp>
        <p:nvSpPr>
          <p:cNvPr id="15" name="Text 13"/>
          <p:cNvSpPr/>
          <p:nvPr/>
        </p:nvSpPr>
        <p:spPr>
          <a:xfrm>
            <a:off x="640080" y="5532120"/>
            <a:ext cx="9144000" cy="457200"/>
          </a:xfrm>
          <a:prstGeom prst="rect">
            <a:avLst/>
          </a:prstGeom>
          <a:noFill/>
          <a:ln/>
        </p:spPr>
        <p:txBody>
          <a:bodyPr wrap="square" lIns="0" tIns="0" rIns="0" bIns="0" rtlCol="0" anchor="ctr"/>
          <a:lstStyle/>
          <a:p>
            <a:pPr marL="0" indent="0" algn="l">
              <a:buNone/>
            </a:pPr>
            <a:r>
              <a:rPr lang="en-US" sz="2000" b="1" i="1" dirty="0">
                <a:solidFill>
                  <a:srgbClr val="7A1F2B"/>
                </a:solidFill>
                <a:latin typeface="Calibri" pitchFamily="34" charset="0"/>
                <a:ea typeface="Calibri" pitchFamily="34" charset="-122"/>
                <a:cs typeface="Calibri" pitchFamily="34" charset="-120"/>
              </a:rPr>
              <a:t>Different is not better, and using it sends citizen documents outside our control.</a:t>
            </a:r>
            <a:endParaRPr lang="en-US" sz="2000" dirty="0"/>
          </a:p>
        </p:txBody>
      </p:sp>
      <p:sp>
        <p:nvSpPr>
          <p:cNvPr id="16" name="Text 14"/>
          <p:cNvSpPr/>
          <p:nvPr/>
        </p:nvSpPr>
        <p:spPr>
          <a:xfrm>
            <a:off x="640080" y="6419088"/>
            <a:ext cx="5486400" cy="274320"/>
          </a:xfrm>
          <a:prstGeom prst="rect">
            <a:avLst/>
          </a:prstGeom>
          <a:noFill/>
          <a:ln/>
        </p:spPr>
        <p:txBody>
          <a:bodyPr wrap="square" lIns="0" tIns="0" rIns="0" bIns="0" rtlCol="0" anchor="ctr"/>
          <a:lstStyle/>
          <a:p>
            <a:pPr marL="0" indent="0" algn="l">
              <a:buNone/>
            </a:pPr>
            <a:r>
              <a:rPr lang="en-US" sz="850" dirty="0">
                <a:solidFill>
                  <a:srgbClr val="6C6E76"/>
                </a:solidFill>
                <a:latin typeface="Calibri" pitchFamily="34" charset="0"/>
                <a:ea typeface="Calibri" pitchFamily="34" charset="-122"/>
                <a:cs typeface="Calibri" pitchFamily="34" charset="-120"/>
              </a:rPr>
              <a:t>Data, Policy and Innovation Centre</a:t>
            </a:r>
            <a:endParaRPr lang="en-US" sz="850" dirty="0"/>
          </a:p>
        </p:txBody>
      </p:sp>
      <p:sp>
        <p:nvSpPr>
          <p:cNvPr id="17" name="Text 15"/>
          <p:cNvSpPr/>
          <p:nvPr/>
        </p:nvSpPr>
        <p:spPr>
          <a:xfrm>
            <a:off x="6035040" y="6419088"/>
            <a:ext cx="5486400" cy="274320"/>
          </a:xfrm>
          <a:prstGeom prst="rect">
            <a:avLst/>
          </a:prstGeom>
          <a:noFill/>
          <a:ln/>
        </p:spPr>
        <p:txBody>
          <a:bodyPr wrap="square" lIns="0" tIns="0" rIns="0" bIns="0" rtlCol="0" anchor="ctr"/>
          <a:lstStyle/>
          <a:p>
            <a:pPr marL="0" indent="0" algn="r">
              <a:buNone/>
            </a:pPr>
            <a:r>
              <a:rPr lang="en-US" sz="850" dirty="0">
                <a:solidFill>
                  <a:srgbClr val="6C6E76"/>
                </a:solidFill>
                <a:latin typeface="Calibri" pitchFamily="34" charset="0"/>
                <a:ea typeface="Calibri" pitchFamily="34" charset="-122"/>
                <a:cs typeface="Calibri" pitchFamily="34" charset="-120"/>
              </a:rPr>
              <a:t>Government of Odisha  ×  University of Chicago Trust</a:t>
            </a:r>
            <a:endParaRPr lang="en-US" sz="850" dirty="0"/>
          </a:p>
        </p:txBody>
      </p:sp>
      <p:sp>
        <p:nvSpPr>
          <p:cNvPr id="27" name="Shape 3">
            <a:extLst>
              <a:ext uri="{FF2B5EF4-FFF2-40B4-BE49-F238E27FC236}">
                <a16:creationId xmlns:a16="http://schemas.microsoft.com/office/drawing/2014/main" id="{8EA7243F-3A2E-791F-90D8-11B33EB858C8}"/>
              </a:ext>
            </a:extLst>
          </p:cNvPr>
          <p:cNvSpPr/>
          <p:nvPr/>
        </p:nvSpPr>
        <p:spPr>
          <a:xfrm>
            <a:off x="632059" y="3571929"/>
            <a:ext cx="91440" cy="91440"/>
          </a:xfrm>
          <a:prstGeom prst="rect">
            <a:avLst/>
          </a:prstGeom>
          <a:solidFill>
            <a:srgbClr val="7A1F2B"/>
          </a:solidFill>
          <a:ln/>
        </p:spPr>
        <p:txBody>
          <a:bodyPr/>
          <a:lstStyle/>
          <a:p>
            <a:endParaRPr lang="en-IN" dirty="0"/>
          </a:p>
        </p:txBody>
      </p:sp>
      <p:sp>
        <p:nvSpPr>
          <p:cNvPr id="29" name="Text 4">
            <a:extLst>
              <a:ext uri="{FF2B5EF4-FFF2-40B4-BE49-F238E27FC236}">
                <a16:creationId xmlns:a16="http://schemas.microsoft.com/office/drawing/2014/main" id="{9F020A29-8C39-EAFD-C8B8-DBAB2A5F634C}"/>
              </a:ext>
            </a:extLst>
          </p:cNvPr>
          <p:cNvSpPr/>
          <p:nvPr/>
        </p:nvSpPr>
        <p:spPr>
          <a:xfrm>
            <a:off x="924667" y="3453057"/>
            <a:ext cx="10607040" cy="411480"/>
          </a:xfrm>
          <a:prstGeom prst="rect">
            <a:avLst/>
          </a:prstGeom>
          <a:noFill/>
          <a:ln/>
        </p:spPr>
        <p:txBody>
          <a:bodyPr wrap="square" lIns="0" tIns="0" rIns="0" bIns="0" rtlCol="0" anchor="t"/>
          <a:lstStyle/>
          <a:p>
            <a:pPr marL="0" indent="0" algn="l">
              <a:buNone/>
            </a:pPr>
            <a:r>
              <a:rPr lang="en-US" sz="1800" dirty="0">
                <a:solidFill>
                  <a:srgbClr val="1E1F24"/>
                </a:solidFill>
                <a:latin typeface="Calibri" pitchFamily="34" charset="0"/>
                <a:ea typeface="Calibri" pitchFamily="34" charset="-122"/>
                <a:cs typeface="Calibri" pitchFamily="34" charset="-120"/>
              </a:rPr>
              <a:t>It reads handwriting. Ours does not.</a:t>
            </a:r>
            <a:endParaRPr lang="en-US" sz="1800" dirty="0"/>
          </a:p>
        </p:txBody>
      </p:sp>
      <p:sp>
        <p:nvSpPr>
          <p:cNvPr id="31" name="Shape 8">
            <a:extLst>
              <a:ext uri="{FF2B5EF4-FFF2-40B4-BE49-F238E27FC236}">
                <a16:creationId xmlns:a16="http://schemas.microsoft.com/office/drawing/2014/main" id="{25210A73-5BE3-463C-04D8-421B6ACD8FD7}"/>
              </a:ext>
            </a:extLst>
          </p:cNvPr>
          <p:cNvSpPr/>
          <p:nvPr/>
        </p:nvSpPr>
        <p:spPr>
          <a:xfrm>
            <a:off x="632059" y="4458260"/>
            <a:ext cx="91440" cy="91440"/>
          </a:xfrm>
          <a:prstGeom prst="rect">
            <a:avLst/>
          </a:prstGeom>
          <a:solidFill>
            <a:srgbClr val="7A1F2B"/>
          </a:solidFill>
          <a:ln/>
        </p:spPr>
        <p:txBody>
          <a:bodyPr/>
          <a:lstStyle/>
          <a:p>
            <a:endParaRPr lang="en-IN"/>
          </a:p>
        </p:txBody>
      </p:sp>
      <p:sp>
        <p:nvSpPr>
          <p:cNvPr id="33" name="Text 9">
            <a:extLst>
              <a:ext uri="{FF2B5EF4-FFF2-40B4-BE49-F238E27FC236}">
                <a16:creationId xmlns:a16="http://schemas.microsoft.com/office/drawing/2014/main" id="{A6157D09-2797-0B89-7747-CE5934045003}"/>
              </a:ext>
            </a:extLst>
          </p:cNvPr>
          <p:cNvSpPr/>
          <p:nvPr/>
        </p:nvSpPr>
        <p:spPr>
          <a:xfrm>
            <a:off x="924667" y="4339388"/>
            <a:ext cx="10607040" cy="411480"/>
          </a:xfrm>
          <a:prstGeom prst="rect">
            <a:avLst/>
          </a:prstGeom>
          <a:noFill/>
          <a:ln/>
        </p:spPr>
        <p:txBody>
          <a:bodyPr wrap="square" lIns="0" tIns="0" rIns="0" bIns="0" rtlCol="0" anchor="t"/>
          <a:lstStyle/>
          <a:p>
            <a:pPr marL="0" indent="0" algn="l">
              <a:buNone/>
            </a:pPr>
            <a:r>
              <a:rPr lang="en-US" sz="1800" dirty="0">
                <a:solidFill>
                  <a:srgbClr val="1E1F24"/>
                </a:solidFill>
                <a:latin typeface="Calibri" pitchFamily="34" charset="0"/>
                <a:ea typeface="Calibri" pitchFamily="34" charset="-122"/>
                <a:cs typeface="Calibri" pitchFamily="34" charset="-120"/>
              </a:rPr>
              <a:t>6 s to read a page, 11 s to extract the fields. Ours reads a page in 5.8 s.</a:t>
            </a:r>
            <a:endParaRPr lang="en-US" sz="1800" dirty="0"/>
          </a:p>
        </p:txBody>
      </p:sp>
      <p:sp>
        <p:nvSpPr>
          <p:cNvPr id="35" name="Shape 10">
            <a:extLst>
              <a:ext uri="{FF2B5EF4-FFF2-40B4-BE49-F238E27FC236}">
                <a16:creationId xmlns:a16="http://schemas.microsoft.com/office/drawing/2014/main" id="{16BEB2B2-75AE-B017-BEB6-8D7DF2D87DD6}"/>
              </a:ext>
            </a:extLst>
          </p:cNvPr>
          <p:cNvSpPr/>
          <p:nvPr/>
        </p:nvSpPr>
        <p:spPr>
          <a:xfrm>
            <a:off x="632059" y="4961180"/>
            <a:ext cx="91440" cy="91440"/>
          </a:xfrm>
          <a:prstGeom prst="rect">
            <a:avLst/>
          </a:prstGeom>
          <a:solidFill>
            <a:srgbClr val="7A1F2B"/>
          </a:solidFill>
          <a:ln/>
        </p:spPr>
        <p:txBody>
          <a:bodyPr/>
          <a:lstStyle/>
          <a:p>
            <a:endParaRPr lang="en-IN"/>
          </a:p>
        </p:txBody>
      </p:sp>
      <p:sp>
        <p:nvSpPr>
          <p:cNvPr id="37" name="Text 11">
            <a:extLst>
              <a:ext uri="{FF2B5EF4-FFF2-40B4-BE49-F238E27FC236}">
                <a16:creationId xmlns:a16="http://schemas.microsoft.com/office/drawing/2014/main" id="{E4B7C2E5-1571-8403-3E23-54FAD9D0D9A0}"/>
              </a:ext>
            </a:extLst>
          </p:cNvPr>
          <p:cNvSpPr/>
          <p:nvPr/>
        </p:nvSpPr>
        <p:spPr>
          <a:xfrm>
            <a:off x="924667" y="4842308"/>
            <a:ext cx="10607040" cy="411480"/>
          </a:xfrm>
          <a:prstGeom prst="rect">
            <a:avLst/>
          </a:prstGeom>
          <a:noFill/>
          <a:ln/>
        </p:spPr>
        <p:txBody>
          <a:bodyPr wrap="square" lIns="0" tIns="0" rIns="0" bIns="0" rtlCol="0" anchor="t"/>
          <a:lstStyle/>
          <a:p>
            <a:pPr marL="0" indent="0" algn="l">
              <a:buNone/>
            </a:pPr>
            <a:r>
              <a:rPr lang="en-US" sz="1800" dirty="0">
                <a:solidFill>
                  <a:srgbClr val="1E1F24"/>
                </a:solidFill>
                <a:latin typeface="Calibri" pitchFamily="34" charset="0"/>
                <a:ea typeface="Calibri" pitchFamily="34" charset="-122"/>
                <a:cs typeface="Calibri" pitchFamily="34" charset="-120"/>
              </a:rPr>
              <a:t>The two systems differed on 197 of 198 pages. Sarvam returns 1.6 times the characters.</a:t>
            </a:r>
          </a:p>
        </p:txBody>
      </p:sp>
      <p:sp>
        <p:nvSpPr>
          <p:cNvPr id="38" name="TextBox 37"/>
          <p:cNvSpPr txBox="1"/>
          <p:nvPr/>
        </p:nvSpPr>
        <p:spPr>
          <a:xfrm>
            <a:off x="640080" y="6053328"/>
            <a:ext cx="10881360" cy="329184"/>
          </a:xfrm>
          <a:prstGeom prst="rect">
            <a:avLst/>
          </a:prstGeom>
          <a:noFill/>
        </p:spPr>
        <p:txBody>
          <a:bodyPr wrap="square" lIns="0" rIns="0" tIns="0" bIns="0">
            <a:spAutoFit/>
          </a:bodyPr>
          <a:lstStyle/>
          <a:p>
            <a:pPr algn="l"/>
            <a:r>
              <a:rPr sz="1100" b="0" i="1">
                <a:solidFill>
                  <a:srgbClr val="6C6E76"/>
                </a:solidFill>
                <a:latin typeface="Calibri"/>
              </a:rPr>
              <a:t>Capped at ten requests a minute: this run took 166 minutes and the English corpus would take about ten days. It returned a category on 11 of 87 grievances and matched none, because our v1 schema never listed the categories.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640080" y="2651760"/>
            <a:ext cx="10881360" cy="1005840"/>
          </a:xfrm>
          <a:prstGeom prst="rect">
            <a:avLst/>
          </a:prstGeom>
          <a:noFill/>
          <a:ln/>
        </p:spPr>
        <p:txBody>
          <a:bodyPr wrap="square" lIns="0" tIns="0" rIns="0" bIns="0" rtlCol="0" anchor="ctr"/>
          <a:lstStyle/>
          <a:p>
            <a:pPr marL="0" indent="0" algn="l">
              <a:buNone/>
            </a:pPr>
            <a:r>
              <a:rPr lang="en-US" sz="4600" b="1" dirty="0">
                <a:solidFill>
                  <a:srgbClr val="7A1F2B"/>
                </a:solidFill>
                <a:latin typeface="Cambria" pitchFamily="34" charset="0"/>
                <a:ea typeface="Cambria" pitchFamily="34" charset="-122"/>
                <a:cs typeface="Cambria" pitchFamily="34" charset="-120"/>
              </a:rPr>
              <a:t>Thank you</a:t>
            </a:r>
            <a:endParaRPr lang="en-US" sz="4600" dirty="0"/>
          </a:p>
        </p:txBody>
      </p:sp>
      <p:sp>
        <p:nvSpPr>
          <p:cNvPr id="3" name="Shape 1"/>
          <p:cNvSpPr/>
          <p:nvPr/>
        </p:nvSpPr>
        <p:spPr>
          <a:xfrm>
            <a:off x="640080" y="3794760"/>
            <a:ext cx="2926080" cy="0"/>
          </a:xfrm>
          <a:prstGeom prst="line">
            <a:avLst/>
          </a:prstGeom>
          <a:noFill/>
          <a:ln w="12700">
            <a:solidFill>
              <a:srgbClr val="D6D8DD"/>
            </a:solidFill>
            <a:prstDash val="solid"/>
          </a:ln>
        </p:spPr>
        <p:txBody>
          <a:bodyPr/>
          <a:lstStyle/>
          <a:p>
            <a:endParaRPr lang="en-IN"/>
          </a:p>
        </p:txBody>
      </p:sp>
      <p:sp>
        <p:nvSpPr>
          <p:cNvPr id="4" name="Text 2"/>
          <p:cNvSpPr/>
          <p:nvPr/>
        </p:nvSpPr>
        <p:spPr>
          <a:xfrm>
            <a:off x="640080" y="3931920"/>
            <a:ext cx="10881360" cy="365760"/>
          </a:xfrm>
          <a:prstGeom prst="rect">
            <a:avLst/>
          </a:prstGeom>
          <a:noFill/>
          <a:ln/>
        </p:spPr>
        <p:txBody>
          <a:bodyPr wrap="square" lIns="0" tIns="0" rIns="0" bIns="0" rtlCol="0" anchor="ctr"/>
          <a:lstStyle/>
          <a:p>
            <a:pPr marL="0" indent="0" algn="l">
              <a:buNone/>
            </a:pPr>
            <a:r>
              <a:rPr lang="en-US" sz="1700" b="1" dirty="0">
                <a:solidFill>
                  <a:srgbClr val="1E1F24"/>
                </a:solidFill>
                <a:latin typeface="Calibri" pitchFamily="34" charset="0"/>
                <a:ea typeface="Calibri" pitchFamily="34" charset="-122"/>
                <a:cs typeface="Calibri" pitchFamily="34" charset="-120"/>
              </a:rPr>
              <a:t>Data, Policy and Innovation Centre</a:t>
            </a:r>
            <a:endParaRPr lang="en-US" sz="1700" dirty="0"/>
          </a:p>
        </p:txBody>
      </p:sp>
      <p:sp>
        <p:nvSpPr>
          <p:cNvPr id="5" name="Text 3"/>
          <p:cNvSpPr/>
          <p:nvPr/>
        </p:nvSpPr>
        <p:spPr>
          <a:xfrm>
            <a:off x="640080" y="4279392"/>
            <a:ext cx="10881360" cy="365760"/>
          </a:xfrm>
          <a:prstGeom prst="rect">
            <a:avLst/>
          </a:prstGeom>
          <a:noFill/>
          <a:ln/>
        </p:spPr>
        <p:txBody>
          <a:bodyPr wrap="square" lIns="0" tIns="0" rIns="0" bIns="0" rtlCol="0" anchor="ctr"/>
          <a:lstStyle/>
          <a:p>
            <a:pPr marL="0" indent="0" algn="l">
              <a:buNone/>
            </a:pPr>
            <a:r>
              <a:rPr lang="en-US" sz="1500" dirty="0">
                <a:solidFill>
                  <a:srgbClr val="44464D"/>
                </a:solidFill>
                <a:latin typeface="Calibri" pitchFamily="34" charset="0"/>
                <a:ea typeface="Calibri" pitchFamily="34" charset="-122"/>
                <a:cs typeface="Calibri" pitchFamily="34" charset="-120"/>
              </a:rPr>
              <a:t>datapolicyinnovationcentre.org</a:t>
            </a:r>
            <a:endParaRPr lang="en-US" sz="1500" dirty="0"/>
          </a:p>
        </p:txBody>
      </p:sp>
      <p:sp>
        <p:nvSpPr>
          <p:cNvPr id="6" name="Text 4"/>
          <p:cNvSpPr/>
          <p:nvPr/>
        </p:nvSpPr>
        <p:spPr>
          <a:xfrm>
            <a:off x="640080" y="6419088"/>
            <a:ext cx="5486400" cy="274320"/>
          </a:xfrm>
          <a:prstGeom prst="rect">
            <a:avLst/>
          </a:prstGeom>
          <a:noFill/>
          <a:ln/>
        </p:spPr>
        <p:txBody>
          <a:bodyPr wrap="square" lIns="0" tIns="0" rIns="0" bIns="0" rtlCol="0" anchor="ctr"/>
          <a:lstStyle/>
          <a:p>
            <a:pPr marL="0" indent="0" algn="l">
              <a:buNone/>
            </a:pPr>
            <a:r>
              <a:rPr lang="en-US" sz="850" dirty="0">
                <a:solidFill>
                  <a:srgbClr val="6C6E76"/>
                </a:solidFill>
                <a:latin typeface="Calibri" pitchFamily="34" charset="0"/>
                <a:ea typeface="Calibri" pitchFamily="34" charset="-122"/>
                <a:cs typeface="Calibri" pitchFamily="34" charset="-120"/>
              </a:rPr>
              <a:t>Data, Policy and Innovation Centre</a:t>
            </a:r>
            <a:endParaRPr lang="en-US" sz="850" dirty="0"/>
          </a:p>
        </p:txBody>
      </p:sp>
      <p:sp>
        <p:nvSpPr>
          <p:cNvPr id="7" name="Text 5"/>
          <p:cNvSpPr/>
          <p:nvPr/>
        </p:nvSpPr>
        <p:spPr>
          <a:xfrm>
            <a:off x="6035040" y="6419088"/>
            <a:ext cx="5486400" cy="274320"/>
          </a:xfrm>
          <a:prstGeom prst="rect">
            <a:avLst/>
          </a:prstGeom>
          <a:noFill/>
          <a:ln/>
        </p:spPr>
        <p:txBody>
          <a:bodyPr wrap="square" lIns="0" tIns="0" rIns="0" bIns="0" rtlCol="0" anchor="ctr"/>
          <a:lstStyle/>
          <a:p>
            <a:pPr marL="0" indent="0" algn="r">
              <a:buNone/>
            </a:pPr>
            <a:r>
              <a:rPr lang="en-US" sz="850" dirty="0">
                <a:solidFill>
                  <a:srgbClr val="6C6E76"/>
                </a:solidFill>
                <a:latin typeface="Calibri" pitchFamily="34" charset="0"/>
                <a:ea typeface="Calibri" pitchFamily="34" charset="-122"/>
                <a:cs typeface="Calibri" pitchFamily="34" charset="-120"/>
              </a:rPr>
              <a:t>Government of Odisha  ×  University of Chicago Trust</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TotalTime>
  <Words>876</Words>
  <Application>Microsoft Office PowerPoint</Application>
  <PresentationFormat>Widescreen</PresentationFormat>
  <Paragraphs>133</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Janasunani 2.0 — technical briefing</dc:title>
  <dc:subject>PptxGenJS Presentation</dc:subject>
  <dc:creator>Data, Policy and Innovation Centre</dc:creator>
  <cp:lastModifiedBy>Urmila Chatterjee</cp:lastModifiedBy>
  <cp:revision>27</cp:revision>
  <dcterms:created xsi:type="dcterms:W3CDTF">2026-08-18T10:00:33Z</dcterms:created>
  <dcterms:modified xsi:type="dcterms:W3CDTF">2026-08-18T10:55:31Z</dcterms:modified>
</cp:coreProperties>
</file>